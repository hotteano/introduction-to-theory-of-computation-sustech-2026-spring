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32"/>
  </p:notesMasterIdLst>
  <p:sldIdLst>
    <p:sldId id="321" r:id="rId5"/>
    <p:sldId id="259" r:id="rId6"/>
    <p:sldId id="365" r:id="rId7"/>
    <p:sldId id="364" r:id="rId8"/>
    <p:sldId id="306" r:id="rId9"/>
    <p:sldId id="326" r:id="rId10"/>
    <p:sldId id="372" r:id="rId11"/>
    <p:sldId id="373" r:id="rId12"/>
    <p:sldId id="374" r:id="rId13"/>
    <p:sldId id="328" r:id="rId14"/>
    <p:sldId id="366" r:id="rId15"/>
    <p:sldId id="330" r:id="rId16"/>
    <p:sldId id="368" r:id="rId17"/>
    <p:sldId id="331" r:id="rId18"/>
    <p:sldId id="369" r:id="rId19"/>
    <p:sldId id="370" r:id="rId20"/>
    <p:sldId id="323" r:id="rId21"/>
    <p:sldId id="332" r:id="rId22"/>
    <p:sldId id="371" r:id="rId23"/>
    <p:sldId id="336" r:id="rId24"/>
    <p:sldId id="375" r:id="rId25"/>
    <p:sldId id="338" r:id="rId26"/>
    <p:sldId id="376" r:id="rId27"/>
    <p:sldId id="377" r:id="rId28"/>
    <p:sldId id="378" r:id="rId29"/>
    <p:sldId id="379" r:id="rId30"/>
    <p:sldId id="282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00CC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74" autoAdjust="0"/>
    <p:restoredTop sz="96327" autoAdjust="0"/>
  </p:normalViewPr>
  <p:slideViewPr>
    <p:cSldViewPr snapToGrid="0">
      <p:cViewPr varScale="1">
        <p:scale>
          <a:sx n="123" d="100"/>
          <a:sy n="123" d="100"/>
        </p:scale>
        <p:origin x="688" y="19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200" d="100"/>
        <a:sy n="2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theme" Target="theme/theme1.xml"/><Relationship Id="rId8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54BE19-BB89-43A8-85E8-06B3C9EBBF22}" type="datetimeFigureOut">
              <a:rPr lang="en-US" smtClean="0"/>
              <a:t>4/28/26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16D66E-EB54-4813-B230-A061E63C47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15662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6D66E-EB54-4813-B230-A061E63C474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05525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a:fld id="{825F15A7-03F4-43D7-82C5-3E23DA2F108C}" type="mathplaceholder">
                        <a:rPr lang="en-US" i="1" smtClean="0">
                          <a:latin typeface="Cambria Math" panose="02040503050406030204" pitchFamily="18" charset="0"/>
                        </a:rPr>
                        <a:t>Type equation here.</a:t>
                      </a:fl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i="0" smtClean="0">
                    <a:latin typeface="Cambria Math" panose="02040503050406030204" pitchFamily="18" charset="0"/>
                  </a:rPr>
                  <a:t>"Type equation here."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16D66E-EB54-4813-B230-A061E63C474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81126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a:fld id="{825F15A7-03F4-43D7-82C5-3E23DA2F108C}" type="mathplaceholder">
                        <a:rPr lang="en-US" i="1" smtClean="0">
                          <a:latin typeface="Cambria Math" panose="02040503050406030204" pitchFamily="18" charset="0"/>
                        </a:rPr>
                        <a:t>Type equation here.</a:t>
                      </a:fl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i="0" smtClean="0">
                    <a:latin typeface="Cambria Math" panose="02040503050406030204" pitchFamily="18" charset="0"/>
                  </a:rPr>
                  <a:t>"Type equation here."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16D66E-EB54-4813-B230-A061E63C474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82710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a:fld id="{825F15A7-03F4-43D7-82C5-3E23DA2F108C}" type="mathplaceholder">
                        <a:rPr lang="en-US" i="1" smtClean="0">
                          <a:latin typeface="Cambria Math" panose="02040503050406030204" pitchFamily="18" charset="0"/>
                        </a:rPr>
                        <a:t>Type equation here.</a:t>
                      </a:fl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i="0" smtClean="0">
                    <a:latin typeface="Cambria Math" panose="02040503050406030204" pitchFamily="18" charset="0"/>
                  </a:rPr>
                  <a:t>"Type equation here."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16D66E-EB54-4813-B230-A061E63C474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16279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a:fld id="{825F15A7-03F4-43D7-82C5-3E23DA2F108C}" type="mathplaceholder">
                        <a:rPr lang="en-US" i="1" smtClean="0">
                          <a:latin typeface="Cambria Math" panose="02040503050406030204" pitchFamily="18" charset="0"/>
                        </a:rPr>
                        <a:t>Type equation here.</a:t>
                      </a:fl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i="0" smtClean="0">
                    <a:latin typeface="Cambria Math" panose="02040503050406030204" pitchFamily="18" charset="0"/>
                  </a:rPr>
                  <a:t>"Type equation here."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16D66E-EB54-4813-B230-A061E63C474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865410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a:fld id="{825F15A7-03F4-43D7-82C5-3E23DA2F108C}" type="mathplaceholder">
                        <a:rPr lang="en-US" i="1" smtClean="0">
                          <a:latin typeface="Cambria Math" panose="02040503050406030204" pitchFamily="18" charset="0"/>
                        </a:rPr>
                        <a:t>Type equation here.</a:t>
                      </a:fl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i="0" smtClean="0">
                    <a:latin typeface="Cambria Math" panose="02040503050406030204" pitchFamily="18" charset="0"/>
                  </a:rPr>
                  <a:t>"Type equation here."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16D66E-EB54-4813-B230-A061E63C474B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918581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a:fld id="{825F15A7-03F4-43D7-82C5-3E23DA2F108C}" type="mathplaceholder">
                        <a:rPr lang="en-US" i="1" smtClean="0">
                          <a:latin typeface="Cambria Math" panose="02040503050406030204" pitchFamily="18" charset="0"/>
                        </a:rPr>
                        <a:t>Type equation here.</a:t>
                      </a:fl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i="0" smtClean="0">
                    <a:latin typeface="Cambria Math" panose="02040503050406030204" pitchFamily="18" charset="0"/>
                  </a:rPr>
                  <a:t>"Type equation here."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16D66E-EB54-4813-B230-A061E63C474B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091126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a:fld id="{825F15A7-03F4-43D7-82C5-3E23DA2F108C}" type="mathplaceholder">
                        <a:rPr lang="en-US" i="1" smtClean="0">
                          <a:latin typeface="Cambria Math" panose="02040503050406030204" pitchFamily="18" charset="0"/>
                        </a:rPr>
                        <a:t>Type equation here.</a:t>
                      </a:fl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i="0" smtClean="0">
                    <a:latin typeface="Cambria Math" panose="02040503050406030204" pitchFamily="18" charset="0"/>
                  </a:rPr>
                  <a:t>"Type equation here."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16D66E-EB54-4813-B230-A061E63C474B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66821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a:fld id="{825F15A7-03F4-43D7-82C5-3E23DA2F108C}" type="mathplaceholder">
                        <a:rPr lang="en-US" i="1" smtClean="0">
                          <a:latin typeface="Cambria Math" panose="02040503050406030204" pitchFamily="18" charset="0"/>
                        </a:rPr>
                        <a:t>Type equation here.</a:t>
                      </a:fl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i="0" smtClean="0">
                    <a:latin typeface="Cambria Math" panose="02040503050406030204" pitchFamily="18" charset="0"/>
                  </a:rPr>
                  <a:t>"Type equation here."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16D66E-EB54-4813-B230-A061E63C474B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689065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a:fld id="{825F15A7-03F4-43D7-82C5-3E23DA2F108C}" type="mathplaceholder">
                        <a:rPr lang="en-US" i="1" smtClean="0">
                          <a:latin typeface="Cambria Math" panose="02040503050406030204" pitchFamily="18" charset="0"/>
                        </a:rPr>
                        <a:t>Type equation here.</a:t>
                      </a:fl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i="0" smtClean="0">
                    <a:latin typeface="Cambria Math" panose="02040503050406030204" pitchFamily="18" charset="0"/>
                  </a:rPr>
                  <a:t>"Type equation here."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16D66E-EB54-4813-B230-A061E63C474B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655601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a:fld id="{825F15A7-03F4-43D7-82C5-3E23DA2F108C}" type="mathplaceholder">
                        <a:rPr lang="en-US" i="1" smtClean="0">
                          <a:latin typeface="Cambria Math" panose="02040503050406030204" pitchFamily="18" charset="0"/>
                        </a:rPr>
                        <a:t>Type equation here.</a:t>
                      </a:fl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i="0" smtClean="0">
                    <a:latin typeface="Cambria Math" panose="02040503050406030204" pitchFamily="18" charset="0"/>
                  </a:rPr>
                  <a:t>"Type equation here."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16D66E-EB54-4813-B230-A061E63C474B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540329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a:fld id="{825F15A7-03F4-43D7-82C5-3E23DA2F108C}" type="mathplaceholder">
                        <a:rPr lang="en-US" i="1" smtClean="0">
                          <a:latin typeface="Cambria Math" panose="02040503050406030204" pitchFamily="18" charset="0"/>
                        </a:rPr>
                        <a:t>Type equation here.</a:t>
                      </a:fl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i="0" smtClean="0">
                    <a:latin typeface="Cambria Math" panose="02040503050406030204" pitchFamily="18" charset="0"/>
                  </a:rPr>
                  <a:t>"Type equation here."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16D66E-EB54-4813-B230-A061E63C474B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900485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a:fld id="{825F15A7-03F4-43D7-82C5-3E23DA2F108C}" type="mathplaceholder">
                        <a:rPr lang="en-US" i="1" smtClean="0">
                          <a:latin typeface="Cambria Math" panose="02040503050406030204" pitchFamily="18" charset="0"/>
                        </a:rPr>
                        <a:t>Type equation here.</a:t>
                      </a:fl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i="0" smtClean="0">
                    <a:latin typeface="Cambria Math" panose="02040503050406030204" pitchFamily="18" charset="0"/>
                  </a:rPr>
                  <a:t>"Type equation here."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16D66E-EB54-4813-B230-A061E63C474B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44645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6075370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782117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299116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Custom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4E5879-5165-39B5-71CA-0543A49EA5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4B218D1-DF1F-44E4-1D9A-4D382D5EC1C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2915DD-17EC-714B-BF52-CA2EF4C542D6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66953270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6949500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4" r:id="rId3"/>
    <p:sldLayoutId id="2147483655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faculty.sustech.edu.cn/olivetop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6.png"/><Relationship Id="rId4" Type="http://schemas.openxmlformats.org/officeDocument/2006/relationships/image" Target="../media/image24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10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131.png"/><Relationship Id="rId10" Type="http://schemas.openxmlformats.org/officeDocument/2006/relationships/image" Target="../media/image18.png"/><Relationship Id="rId4" Type="http://schemas.openxmlformats.org/officeDocument/2006/relationships/image" Target="../media/image13.png"/><Relationship Id="rId9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2.png"/><Relationship Id="rId4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1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7.png"/><Relationship Id="rId4" Type="http://schemas.openxmlformats.org/officeDocument/2006/relationships/image" Target="../media/image26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0.png"/><Relationship Id="rId2" Type="http://schemas.openxmlformats.org/officeDocument/2006/relationships/image" Target="../media/image270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322.png"/><Relationship Id="rId7" Type="http://schemas.openxmlformats.org/officeDocument/2006/relationships/image" Target="../media/image34.png"/><Relationship Id="rId2" Type="http://schemas.openxmlformats.org/officeDocument/2006/relationships/image" Target="../media/image270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6.png"/><Relationship Id="rId10" Type="http://schemas.openxmlformats.org/officeDocument/2006/relationships/image" Target="../media/image35.png"/><Relationship Id="rId4" Type="http://schemas.openxmlformats.org/officeDocument/2006/relationships/image" Target="../media/image33.png"/><Relationship Id="rId9" Type="http://schemas.openxmlformats.org/officeDocument/2006/relationships/image" Target="../media/image39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0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21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30.png"/><Relationship Id="rId4" Type="http://schemas.openxmlformats.org/officeDocument/2006/relationships/image" Target="../media/image320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0.png"/><Relationship Id="rId5" Type="http://schemas.openxmlformats.org/officeDocument/2006/relationships/image" Target="../media/image70.png"/><Relationship Id="rId4" Type="http://schemas.openxmlformats.org/officeDocument/2006/relationships/image" Target="../media/image6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11.png"/><Relationship Id="rId4" Type="http://schemas.openxmlformats.org/officeDocument/2006/relationships/image" Target="../media/image10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50.png"/><Relationship Id="rId5" Type="http://schemas.openxmlformats.org/officeDocument/2006/relationships/image" Target="../media/image140.png"/><Relationship Id="rId4" Type="http://schemas.openxmlformats.org/officeDocument/2006/relationships/image" Target="../media/image13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90.png"/><Relationship Id="rId4" Type="http://schemas.openxmlformats.org/officeDocument/2006/relationships/image" Target="../media/image18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ocw.mit.edu/terms" TargetMode="External"/><Relationship Id="rId2" Type="http://schemas.openxmlformats.org/officeDocument/2006/relationships/hyperlink" Target="https://ocw.mit.edu/" TargetMode="Externa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8722" y="831273"/>
            <a:ext cx="1188027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>
                <a:solidFill>
                  <a:schemeClr val="accent1"/>
                </a:solidFill>
              </a:rPr>
              <a:t>CS-338</a:t>
            </a:r>
            <a:r>
              <a:rPr lang="en-US" sz="4000" baseline="0">
                <a:solidFill>
                  <a:schemeClr val="accent1"/>
                </a:solidFill>
              </a:rPr>
              <a:t>  </a:t>
            </a:r>
            <a:r>
              <a:rPr lang="en-US" sz="4000" baseline="0" dirty="0">
                <a:solidFill>
                  <a:schemeClr val="accent1"/>
                </a:solidFill>
              </a:rPr>
              <a:t>Intro to the Theory of Computation</a:t>
            </a:r>
            <a:endParaRPr lang="en-US" sz="4000" dirty="0">
              <a:solidFill>
                <a:schemeClr val="accent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CA3D9D8-E207-E842-A395-4E1C34E1BF92}"/>
              </a:ext>
            </a:extLst>
          </p:cNvPr>
          <p:cNvSpPr txBox="1"/>
          <p:nvPr/>
        </p:nvSpPr>
        <p:spPr>
          <a:xfrm>
            <a:off x="5719156" y="628442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244473C1-31F9-D0C7-DC6F-E3A8B5C3F357}"/>
              </a:ext>
            </a:extLst>
          </p:cNvPr>
          <p:cNvSpPr txBox="1">
            <a:spLocks/>
          </p:cNvSpPr>
          <p:nvPr/>
        </p:nvSpPr>
        <p:spPr>
          <a:xfrm>
            <a:off x="178722" y="2018548"/>
            <a:ext cx="9879678" cy="3786484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/>
              <a:t>Lecture #10</a:t>
            </a:r>
            <a:endParaRPr lang="en-GB" dirty="0"/>
          </a:p>
          <a:p>
            <a:pPr marL="457200" indent="-457200">
              <a:spcBef>
                <a:spcPts val="1600"/>
              </a:spcBef>
              <a:buClr>
                <a:srgbClr val="B85C00"/>
              </a:buClr>
              <a:buSzPct val="100000"/>
              <a:buFont typeface="Wingdings" pitchFamily="2" charset="2"/>
              <a:buChar char="Ø"/>
              <a:defRPr sz="2800" b="1"/>
            </a:pPr>
            <a:r>
              <a:rPr lang="en-GB" b="1" dirty="0"/>
              <a:t>Undecidability</a:t>
            </a:r>
          </a:p>
          <a:p>
            <a:pPr>
              <a:lnSpc>
                <a:spcPct val="110000"/>
              </a:lnSpc>
            </a:pPr>
            <a:r>
              <a:rPr lang="en-GB" dirty="0"/>
              <a:t>Prof Pietro S. Oliveto</a:t>
            </a:r>
            <a:br>
              <a:rPr lang="en-GB" dirty="0"/>
            </a:br>
            <a:r>
              <a:rPr lang="en-GB" dirty="0"/>
              <a:t>Department of Computer Science and Engineering</a:t>
            </a:r>
            <a:br>
              <a:rPr lang="en-GB" dirty="0"/>
            </a:br>
            <a:r>
              <a:rPr lang="en-GB" dirty="0"/>
              <a:t>Southern University of Science and Technology (</a:t>
            </a:r>
            <a:r>
              <a:rPr lang="en-GB" dirty="0" err="1"/>
              <a:t>SUSTech</a:t>
            </a:r>
            <a:r>
              <a:rPr lang="en-GB" dirty="0"/>
              <a:t>)</a:t>
            </a:r>
          </a:p>
          <a:p>
            <a:pPr>
              <a:lnSpc>
                <a:spcPct val="110000"/>
              </a:lnSpc>
              <a:defRPr sz="1800">
                <a:latin typeface="Courier"/>
                <a:ea typeface="Courier"/>
                <a:cs typeface="Courier"/>
                <a:sym typeface="Courier"/>
              </a:defRPr>
            </a:pPr>
            <a:r>
              <a:rPr lang="en-GB" sz="1800" dirty="0" err="1">
                <a:latin typeface="Courier"/>
                <a:ea typeface="Courier"/>
                <a:cs typeface="Courier"/>
                <a:sym typeface="Courier"/>
              </a:rPr>
              <a:t>olivetop@sustech.edu.cn</a:t>
            </a:r>
            <a:br>
              <a:rPr lang="en-GB" sz="1800" dirty="0">
                <a:latin typeface="Courier"/>
                <a:ea typeface="Courier"/>
                <a:cs typeface="Courier"/>
                <a:sym typeface="Courier"/>
              </a:rPr>
            </a:br>
            <a:r>
              <a:rPr lang="en-GB" sz="1400" dirty="0">
                <a:latin typeface="Courier"/>
                <a:ea typeface="Courier"/>
                <a:cs typeface="Courier"/>
                <a:sym typeface="Courier"/>
                <a:hlinkClick r:id="rId3"/>
              </a:rPr>
              <a:t>https://faculty.sustech.edu.cn/olivetop</a:t>
            </a:r>
            <a:br>
              <a:rPr lang="en-GB" sz="1400" dirty="0">
                <a:latin typeface="Courier"/>
                <a:ea typeface="Courier"/>
                <a:cs typeface="Courier"/>
                <a:sym typeface="Courier"/>
              </a:rPr>
            </a:br>
            <a:endParaRPr lang="en-GB" sz="1400" dirty="0">
              <a:ea typeface="Courier"/>
              <a:cs typeface="Courier"/>
              <a:sym typeface="Courier"/>
            </a:endParaRPr>
          </a:p>
          <a:p>
            <a:pPr>
              <a:lnSpc>
                <a:spcPct val="110000"/>
              </a:lnSpc>
              <a:defRPr sz="1800">
                <a:latin typeface="Courier"/>
                <a:ea typeface="Courier"/>
                <a:cs typeface="Courier"/>
                <a:sym typeface="Courier"/>
              </a:defRPr>
            </a:pPr>
            <a:r>
              <a:rPr lang="en-GB" sz="2000" dirty="0">
                <a:cs typeface="Calibri" panose="020F0502020204030204" pitchFamily="34" charset="0"/>
              </a:rPr>
              <a:t>Office: Room 113</a:t>
            </a:r>
          </a:p>
          <a:p>
            <a:pPr>
              <a:lnSpc>
                <a:spcPct val="110000"/>
              </a:lnSpc>
              <a:defRPr sz="1800">
                <a:latin typeface="Courier"/>
                <a:ea typeface="Courier"/>
                <a:cs typeface="Courier"/>
                <a:sym typeface="Courier"/>
              </a:defRPr>
            </a:pPr>
            <a:endParaRPr lang="en-GB" sz="1800" dirty="0">
              <a:latin typeface="Arial" panose="020B0604020202020204" pitchFamily="34" charset="0"/>
              <a:ea typeface="Courier"/>
              <a:cs typeface="Arial" panose="020B0604020202020204" pitchFamily="34" charset="0"/>
              <a:sym typeface="Courier"/>
            </a:endParaRP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8C32524-66B6-3506-9BCF-C2B613346CDB}"/>
              </a:ext>
            </a:extLst>
          </p:cNvPr>
          <p:cNvSpPr txBox="1"/>
          <p:nvPr/>
        </p:nvSpPr>
        <p:spPr>
          <a:xfrm>
            <a:off x="423086" y="6284421"/>
            <a:ext cx="6309361" cy="3073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l">
              <a:defRPr sz="1400" b="0"/>
            </a:lvl1pPr>
          </a:lstStyle>
          <a:p>
            <a:r>
              <a:rPr dirty="0"/>
              <a:t>C</a:t>
            </a:r>
            <a:r>
              <a:rPr lang="en-GB" dirty="0"/>
              <a:t>S338:</a:t>
            </a:r>
            <a:r>
              <a:rPr dirty="0"/>
              <a:t> </a:t>
            </a:r>
            <a:r>
              <a:rPr lang="en-GB" dirty="0"/>
              <a:t>Introduction to the Theory of Computation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621581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95754" y="0"/>
            <a:ext cx="5943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Overview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/>
              <p:cNvSpPr txBox="1"/>
              <p:nvPr/>
            </p:nvSpPr>
            <p:spPr>
              <a:xfrm>
                <a:off x="258618" y="1363579"/>
                <a:ext cx="6675582" cy="39703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Last time:  </a:t>
                </a:r>
                <a:br>
                  <a:rPr lang="en-US" sz="2400" baseline="0" dirty="0"/>
                </a:br>
                <a:r>
                  <a:rPr lang="en-US" sz="2000" dirty="0"/>
                  <a:t>- Decision procedures for automata and grammars</a:t>
                </a:r>
              </a:p>
              <a:p>
                <a:r>
                  <a:rPr lang="en-US" sz="2000" dirty="0"/>
                  <a:t>  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nor/>
                      </m:rPr>
                      <a:rPr lang="en-US" sz="2000" baseline="-25000" dirty="0">
                        <a:latin typeface="Cambria Math" panose="02040503050406030204" pitchFamily="18" charset="0"/>
                      </a:rPr>
                      <m:t>DFA</m:t>
                    </m:r>
                  </m:oMath>
                </a14:m>
                <a:r>
                  <a:rPr lang="en-US" sz="2000" dirty="0"/>
                  <a:t> ,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nor/>
                      </m:rPr>
                      <a:rPr lang="en-US" sz="2000" baseline="-25000" dirty="0">
                        <a:latin typeface="Cambria Math" panose="02040503050406030204" pitchFamily="18" charset="0"/>
                      </a:rPr>
                      <m:t>NFA</m:t>
                    </m:r>
                  </m:oMath>
                </a14:m>
                <a:r>
                  <a:rPr lang="en-US" sz="2000" dirty="0"/>
                  <a:t> ,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nor/>
                      </m:rPr>
                      <a:rPr lang="en-US" sz="2000" baseline="-25000" dirty="0">
                        <a:latin typeface="Cambria Math" panose="02040503050406030204" pitchFamily="18" charset="0"/>
                      </a:rPr>
                      <m:t>DFA</m:t>
                    </m:r>
                  </m:oMath>
                </a14:m>
                <a:r>
                  <a:rPr lang="en-US" sz="2000" dirty="0"/>
                  <a:t> ,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𝐸𝑄</m:t>
                    </m:r>
                    <m:r>
                      <m:rPr>
                        <m:nor/>
                      </m:rPr>
                      <a:rPr lang="en-US" sz="2000" baseline="-25000" dirty="0">
                        <a:latin typeface="Cambria Math" panose="02040503050406030204" pitchFamily="18" charset="0"/>
                      </a:rPr>
                      <m:t>DFA</m:t>
                    </m:r>
                  </m:oMath>
                </a14:m>
                <a:r>
                  <a:rPr lang="en-US" sz="2000" dirty="0"/>
                  <a:t> ,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nor/>
                      </m:rPr>
                      <a:rPr lang="en-US" sz="2000" baseline="-25000" dirty="0">
                        <a:latin typeface="Cambria Math" panose="02040503050406030204" pitchFamily="18" charset="0"/>
                      </a:rPr>
                      <m:t>CFG</m:t>
                    </m:r>
                  </m:oMath>
                </a14:m>
                <a:r>
                  <a:rPr lang="en-US" sz="2000" dirty="0"/>
                  <a:t> ,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nor/>
                      </m:rPr>
                      <a:rPr lang="en-US" sz="2000" b="0" i="0" baseline="-25000" dirty="0" smtClean="0">
                        <a:latin typeface="Cambria Math" panose="02040503050406030204" pitchFamily="18" charset="0"/>
                      </a:rPr>
                      <m:t>CFG</m:t>
                    </m:r>
                  </m:oMath>
                </a14:m>
                <a:r>
                  <a:rPr lang="en-US" sz="2000" dirty="0"/>
                  <a:t>  are decidable</a:t>
                </a:r>
              </a:p>
              <a:p>
                <a:r>
                  <a:rPr lang="en-US" sz="2000" dirty="0"/>
                  <a:t>  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nor/>
                      </m:rPr>
                      <a:rPr lang="en-US" sz="2000" baseline="-25000" dirty="0">
                        <a:latin typeface="Cambria Math" panose="02040503050406030204" pitchFamily="18" charset="0"/>
                      </a:rPr>
                      <m:t>TM</m:t>
                    </m:r>
                  </m:oMath>
                </a14:m>
                <a:r>
                  <a:rPr lang="en-US" sz="2000" dirty="0"/>
                  <a:t> is T-recognizable</a:t>
                </a:r>
              </a:p>
              <a:p>
                <a:endParaRPr lang="en-US" sz="2400" dirty="0"/>
              </a:p>
              <a:p>
                <a:r>
                  <a:rPr lang="en-US" sz="2400" b="1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Today:  </a:t>
                </a:r>
                <a:r>
                  <a:rPr lang="en-US" sz="20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(Sipser §4.2) </a:t>
                </a:r>
                <a:br>
                  <a:rPr lang="en-US" sz="2400" b="1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</a:br>
                <a:r>
                  <a:rPr lang="en-US" sz="20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- </a:t>
                </a:r>
                <a14:m>
                  <m:oMath xmlns:m="http://schemas.openxmlformats.org/officeDocument/2006/math">
                    <m:r>
                      <a:rPr lang="en-US" sz="2000" i="1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nor/>
                      </m:rPr>
                      <a:rPr lang="en-US" sz="2000" baseline="-2500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TM</m:t>
                    </m:r>
                  </m:oMath>
                </a14:m>
                <a:r>
                  <a:rPr lang="en-US" sz="20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 is undecidable </a:t>
                </a:r>
              </a:p>
              <a:p>
                <a:r>
                  <a:rPr lang="en-US" sz="20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- The diagonalization method</a:t>
                </a:r>
              </a:p>
              <a:p>
                <a:r>
                  <a:rPr lang="en-US" sz="20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- T-unrecognizable languages</a:t>
                </a:r>
              </a:p>
              <a:p>
                <a:r>
                  <a:rPr lang="en-US" sz="20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- The reducibility method</a:t>
                </a:r>
              </a:p>
              <a:p>
                <a:endParaRPr lang="en-US" sz="2000" dirty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  <a:p>
                <a:endParaRPr lang="en-US" sz="2000" dirty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618" y="1363579"/>
                <a:ext cx="6675582" cy="3970318"/>
              </a:xfrm>
              <a:prstGeom prst="rect">
                <a:avLst/>
              </a:prstGeom>
              <a:blipFill>
                <a:blip r:embed="rId2"/>
                <a:stretch>
                  <a:fillRect l="-1518" t="-1274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70AA6A97-2F1C-054E-B365-7277CD658EBC}"/>
              </a:ext>
            </a:extLst>
          </p:cNvPr>
          <p:cNvSpPr txBox="1"/>
          <p:nvPr/>
        </p:nvSpPr>
        <p:spPr>
          <a:xfrm>
            <a:off x="6483927" y="635923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2639052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4470" y="11152"/>
            <a:ext cx="645655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TMs and Encodings – review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236314" y="1010245"/>
                <a:ext cx="6710895" cy="553997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>
                  <a:spcBef>
                    <a:spcPts val="1800"/>
                  </a:spcBef>
                </a:pPr>
                <a:r>
                  <a:rPr lang="en-US" sz="2000" dirty="0">
                    <a:solidFill>
                      <a:schemeClr val="tx1"/>
                    </a:solidFill>
                  </a:rPr>
                  <a:t>A TM has 3 possible outcomes for each input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:</a:t>
                </a:r>
              </a:p>
              <a:p>
                <a:pPr marL="288925" lvl="0" indent="-288925">
                  <a:spcBef>
                    <a:spcPts val="300"/>
                  </a:spcBef>
                  <a:buFont typeface="+mj-lt"/>
                  <a:buAutoNum type="arabicPeriod"/>
                </a:pPr>
                <a:r>
                  <a:rPr lang="en-US" sz="2000" dirty="0">
                    <a:solidFill>
                      <a:schemeClr val="tx1"/>
                    </a:solidFill>
                  </a:rPr>
                  <a:t> </a:t>
                </a:r>
                <a:r>
                  <a:rPr lang="en-US" sz="2000" i="1" u="sng" dirty="0">
                    <a:solidFill>
                      <a:schemeClr val="tx1"/>
                    </a:solidFill>
                  </a:rPr>
                  <a:t>Accept</a:t>
                </a:r>
                <a:r>
                  <a:rPr lang="en-US" sz="20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 (enter </a:t>
                </a:r>
                <a14:m>
                  <m:oMath xmlns:m="http://schemas.openxmlformats.org/officeDocument/2006/math">
                    <m:r>
                      <a:rPr 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nor/>
                      </m:rPr>
                      <a:rPr lang="en-US" sz="2000" baseline="-250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acc</m:t>
                    </m:r>
                    <m:r>
                      <a:rPr lang="en-US" sz="2000" i="1" baseline="-250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)</a:t>
                </a:r>
              </a:p>
              <a:p>
                <a:pPr marL="288925" lvl="0" indent="-288925">
                  <a:spcBef>
                    <a:spcPts val="300"/>
                  </a:spcBef>
                  <a:buFont typeface="+mj-lt"/>
                  <a:buAutoNum type="arabicPeriod"/>
                </a:pPr>
                <a:r>
                  <a:rPr lang="en-US" sz="2000" dirty="0">
                    <a:solidFill>
                      <a:schemeClr val="tx1"/>
                    </a:solidFill>
                  </a:rPr>
                  <a:t> </a:t>
                </a:r>
                <a:r>
                  <a:rPr lang="en-US" sz="2000" i="1" u="sng" dirty="0">
                    <a:solidFill>
                      <a:schemeClr val="tx1"/>
                    </a:solidFill>
                  </a:rPr>
                  <a:t>Reject</a:t>
                </a:r>
                <a:r>
                  <a:rPr lang="en-US" sz="2000" i="1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by halting  (enter </a:t>
                </a:r>
                <a14:m>
                  <m:oMath xmlns:m="http://schemas.openxmlformats.org/officeDocument/2006/math">
                    <m:r>
                      <a:rPr 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nor/>
                      </m:rPr>
                      <a:rPr lang="en-US" sz="2000" baseline="-250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rej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 )</a:t>
                </a:r>
              </a:p>
              <a:p>
                <a:pPr marL="288925" lvl="0" indent="-288925">
                  <a:spcBef>
                    <a:spcPts val="300"/>
                  </a:spcBef>
                  <a:buFont typeface="+mj-lt"/>
                  <a:buAutoNum type="arabicPeriod"/>
                </a:pPr>
                <a:r>
                  <a:rPr lang="en-US" sz="2000" dirty="0">
                    <a:solidFill>
                      <a:schemeClr val="tx1"/>
                    </a:solidFill>
                  </a:rPr>
                  <a:t> </a:t>
                </a:r>
                <a:r>
                  <a:rPr lang="en-US" sz="2000" i="1" u="sng" dirty="0">
                    <a:solidFill>
                      <a:schemeClr val="tx1"/>
                    </a:solidFill>
                  </a:rPr>
                  <a:t>Reject</a:t>
                </a:r>
                <a:r>
                  <a:rPr lang="en-US" sz="2000" i="1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by looping  (running forever)</a:t>
                </a:r>
                <a:endParaRPr lang="en-US" sz="2400" dirty="0">
                  <a:solidFill>
                    <a:schemeClr val="tx1"/>
                  </a:solidFill>
                </a:endParaRPr>
              </a:p>
              <a:p>
                <a:pPr lvl="0">
                  <a:spcBef>
                    <a:spcPts val="600"/>
                  </a:spcBef>
                </a:pPr>
                <a:endParaRPr lang="en-US" sz="2400" i="1" dirty="0">
                  <a:solidFill>
                    <a:prstClr val="white"/>
                  </a:solidFill>
                </a:endParaRPr>
              </a:p>
              <a:p>
                <a:pPr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000" i="1" dirty="0"/>
                  <a:t> </a:t>
                </a:r>
                <a:r>
                  <a:rPr lang="en-US" sz="2000" dirty="0"/>
                  <a:t>is </a:t>
                </a:r>
                <a:r>
                  <a:rPr lang="en-US" sz="2000" u="sng" dirty="0"/>
                  <a:t>T-recognizable</a:t>
                </a:r>
                <a:r>
                  <a:rPr lang="en-US" sz="2000" dirty="0"/>
                  <a:t> if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 for some TM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000" dirty="0"/>
                  <a:t>.</a:t>
                </a:r>
              </a:p>
              <a:p>
                <a:pPr>
                  <a:spcBef>
                    <a:spcPts val="300"/>
                  </a:spcBef>
                </a:pP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000" i="1" dirty="0"/>
                  <a:t> </a:t>
                </a:r>
                <a:r>
                  <a:rPr lang="en-US" sz="2000" dirty="0"/>
                  <a:t>is </a:t>
                </a:r>
                <a:r>
                  <a:rPr lang="en-US" sz="2000" u="sng" dirty="0"/>
                  <a:t>T-decidable</a:t>
                </a:r>
                <a:r>
                  <a:rPr lang="en-US" sz="2000" dirty="0"/>
                  <a:t> if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 for some TM decider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000" dirty="0"/>
                  <a:t>.</a:t>
                </a:r>
              </a:p>
              <a:p>
                <a:pPr>
                  <a:spcBef>
                    <a:spcPts val="300"/>
                  </a:spcBef>
                </a:pPr>
                <a:r>
                  <a:rPr lang="en-US" sz="2000" dirty="0"/>
                  <a:t>		              halts on all inputs</a:t>
                </a:r>
              </a:p>
              <a:p>
                <a:pPr>
                  <a:spcBef>
                    <a:spcPts val="600"/>
                  </a:spcBef>
                </a:pPr>
                <a:endParaRPr lang="en-US" sz="2000" dirty="0"/>
              </a:p>
              <a:p>
                <a:pPr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〈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, …, 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〉</m:t>
                    </m:r>
                  </m:oMath>
                </a14:m>
                <a:r>
                  <a:rPr lang="en-US" sz="2000" dirty="0"/>
                  <a:t> encodes objects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, …, 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sz="2000" dirty="0"/>
                  <a:t> as a single string.</a:t>
                </a:r>
              </a:p>
              <a:p>
                <a:pPr>
                  <a:spcBef>
                    <a:spcPts val="600"/>
                  </a:spcBef>
                </a:pPr>
                <a:endParaRPr lang="en-US" sz="2000" dirty="0"/>
              </a:p>
              <a:p>
                <a:pPr>
                  <a:spcBef>
                    <a:spcPts val="300"/>
                  </a:spcBef>
                </a:pPr>
                <a:r>
                  <a:rPr lang="en-US" sz="2000" dirty="0"/>
                  <a:t>Notation for writing a TM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000" dirty="0"/>
                  <a:t> is</a:t>
                </a:r>
              </a:p>
              <a:p>
                <a:pPr>
                  <a:spcBef>
                    <a:spcPts val="300"/>
                  </a:spcBef>
                </a:pP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000" dirty="0"/>
                  <a:t> “On input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endParaRPr lang="en-US" sz="2000" dirty="0"/>
              </a:p>
              <a:p>
                <a:pPr>
                  <a:spcBef>
                    <a:spcPts val="300"/>
                  </a:spcBef>
                </a:pPr>
                <a:r>
                  <a:rPr lang="en-US" sz="2000" dirty="0"/>
                  <a:t>           [English description of the algorithm]”</a:t>
                </a:r>
              </a:p>
              <a:p>
                <a:pPr lvl="0">
                  <a:spcBef>
                    <a:spcPts val="600"/>
                  </a:spcBef>
                </a:pPr>
                <a:endParaRPr lang="en-US" sz="2000" i="1" dirty="0">
                  <a:solidFill>
                    <a:prstClr val="white"/>
                  </a:solidFill>
                </a:endParaRP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314" y="1010245"/>
                <a:ext cx="6710895" cy="5539978"/>
              </a:xfrm>
              <a:prstGeom prst="rect">
                <a:avLst/>
              </a:prstGeom>
              <a:blipFill>
                <a:blip r:embed="rId2"/>
                <a:stretch>
                  <a:fillRect l="-943" t="-686" r="-37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Arc 4"/>
          <p:cNvSpPr/>
          <p:nvPr/>
        </p:nvSpPr>
        <p:spPr>
          <a:xfrm flipV="1">
            <a:off x="4633519" y="3267843"/>
            <a:ext cx="511126" cy="512391"/>
          </a:xfrm>
          <a:prstGeom prst="arc">
            <a:avLst>
              <a:gd name="adj1" fmla="val 16200000"/>
              <a:gd name="adj2" fmla="val 21421404"/>
            </a:avLst>
          </a:prstGeom>
          <a:ln w="19050" cap="rnd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4DEAEB3-B688-372C-6E89-D68E340ED006}"/>
                  </a:ext>
                </a:extLst>
              </p:cNvPr>
              <p:cNvSpPr txBox="1"/>
              <p:nvPr/>
            </p:nvSpPr>
            <p:spPr>
              <a:xfrm>
                <a:off x="6802582" y="2877707"/>
                <a:ext cx="6096000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80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nor/>
                      </m:rPr>
                      <a:rPr lang="en-US" sz="1800" baseline="-25000" dirty="0">
                        <a:latin typeface="Cambria Math" panose="02040503050406030204" pitchFamily="18" charset="0"/>
                      </a:rPr>
                      <m:t>DFA</m:t>
                    </m:r>
                  </m:oMath>
                </a14:m>
                <a:r>
                  <a:rPr lang="en-US" sz="1800" dirty="0"/>
                  <a:t> , </a:t>
                </a:r>
                <a14:m>
                  <m:oMath xmlns:m="http://schemas.openxmlformats.org/officeDocument/2006/math">
                    <m:r>
                      <a:rPr lang="en-US" sz="1800" i="1" dirty="0"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nor/>
                      </m:rPr>
                      <a:rPr lang="en-US" sz="1800" baseline="-25000" dirty="0">
                        <a:latin typeface="Cambria Math" panose="02040503050406030204" pitchFamily="18" charset="0"/>
                      </a:rPr>
                      <m:t>NFA</m:t>
                    </m:r>
                  </m:oMath>
                </a14:m>
                <a:r>
                  <a:rPr lang="en-US" sz="1800" dirty="0"/>
                  <a:t> , </a:t>
                </a:r>
                <a14:m>
                  <m:oMath xmlns:m="http://schemas.openxmlformats.org/officeDocument/2006/math">
                    <m:r>
                      <a:rPr lang="en-US" sz="1800" i="1" dirty="0"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nor/>
                      </m:rPr>
                      <a:rPr lang="en-US" sz="1800" baseline="-25000" dirty="0">
                        <a:latin typeface="Cambria Math" panose="02040503050406030204" pitchFamily="18" charset="0"/>
                      </a:rPr>
                      <m:t>DFA</m:t>
                    </m:r>
                  </m:oMath>
                </a14:m>
                <a:r>
                  <a:rPr lang="en-US" sz="1800" dirty="0"/>
                  <a:t> , </a:t>
                </a:r>
                <a14:m>
                  <m:oMath xmlns:m="http://schemas.openxmlformats.org/officeDocument/2006/math">
                    <m:r>
                      <a:rPr lang="en-US" sz="1800" i="1" dirty="0">
                        <a:latin typeface="Cambria Math" panose="02040503050406030204" pitchFamily="18" charset="0"/>
                      </a:rPr>
                      <m:t>𝐸𝑄</m:t>
                    </m:r>
                    <m:r>
                      <m:rPr>
                        <m:nor/>
                      </m:rPr>
                      <a:rPr lang="en-US" sz="1800" baseline="-25000" dirty="0">
                        <a:latin typeface="Cambria Math" panose="02040503050406030204" pitchFamily="18" charset="0"/>
                      </a:rPr>
                      <m:t>DFA</m:t>
                    </m:r>
                  </m:oMath>
                </a14:m>
                <a:r>
                  <a:rPr lang="en-US" sz="1800" dirty="0"/>
                  <a:t> , </a:t>
                </a:r>
                <a14:m>
                  <m:oMath xmlns:m="http://schemas.openxmlformats.org/officeDocument/2006/math">
                    <m:r>
                      <a:rPr lang="en-US" sz="1800" i="1" dirty="0"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nor/>
                      </m:rPr>
                      <a:rPr lang="en-US" sz="1800" baseline="-25000" dirty="0">
                        <a:latin typeface="Cambria Math" panose="02040503050406030204" pitchFamily="18" charset="0"/>
                      </a:rPr>
                      <m:t>CFG</m:t>
                    </m:r>
                  </m:oMath>
                </a14:m>
                <a:r>
                  <a:rPr lang="en-US" sz="1800" dirty="0"/>
                  <a:t> , 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nor/>
                      </m:rPr>
                      <a:rPr lang="en-US" sz="1800" b="0" i="0" baseline="-25000" dirty="0" smtClean="0">
                        <a:latin typeface="Cambria Math" panose="02040503050406030204" pitchFamily="18" charset="0"/>
                      </a:rPr>
                      <m:t>CFG</m:t>
                    </m:r>
                  </m:oMath>
                </a14:m>
                <a:r>
                  <a:rPr lang="en-US" sz="1800" dirty="0"/>
                  <a:t>  are decidable</a:t>
                </a:r>
              </a:p>
              <a:p>
                <a:r>
                  <a:rPr lang="en-US" sz="1800" dirty="0"/>
                  <a:t>   </a:t>
                </a:r>
                <a14:m>
                  <m:oMath xmlns:m="http://schemas.openxmlformats.org/officeDocument/2006/math">
                    <m:r>
                      <a:rPr lang="en-US" sz="1800" i="1" dirty="0"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nor/>
                      </m:rPr>
                      <a:rPr lang="en-US" sz="1800" baseline="-25000" dirty="0">
                        <a:latin typeface="Cambria Math" panose="02040503050406030204" pitchFamily="18" charset="0"/>
                      </a:rPr>
                      <m:t>TM</m:t>
                    </m:r>
                  </m:oMath>
                </a14:m>
                <a:r>
                  <a:rPr lang="en-US" sz="1800" dirty="0"/>
                  <a:t> is T-recognizable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4DEAEB3-B688-372C-6E89-D68E340ED0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02582" y="2877707"/>
                <a:ext cx="6096000" cy="646331"/>
              </a:xfrm>
              <a:prstGeom prst="rect">
                <a:avLst/>
              </a:prstGeom>
              <a:blipFill>
                <a:blip r:embed="rId3"/>
                <a:stretch>
                  <a:fillRect t="-3846" b="-15385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107826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  <p:bldP spid="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" y="0"/>
            <a:ext cx="844692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Acceptance Problem for TMs</a:t>
            </a:r>
          </a:p>
        </p:txBody>
      </p:sp>
      <p:cxnSp>
        <p:nvCxnSpPr>
          <p:cNvPr id="15" name="Straight Connector 14"/>
          <p:cNvCxnSpPr/>
          <p:nvPr/>
        </p:nvCxnSpPr>
        <p:spPr>
          <a:xfrm>
            <a:off x="12226296" y="2747602"/>
            <a:ext cx="914400" cy="914400"/>
          </a:xfrm>
          <a:prstGeom prst="line">
            <a:avLst/>
          </a:prstGeom>
          <a:ln w="952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/>
              <p:cNvSpPr txBox="1"/>
              <p:nvPr/>
            </p:nvSpPr>
            <p:spPr>
              <a:xfrm>
                <a:off x="139065" y="953155"/>
                <a:ext cx="9814855" cy="58169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600"/>
                  </a:spcBef>
                </a:pPr>
                <a:r>
                  <a:rPr lang="en-US" sz="2400" b="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Let 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nor/>
                      </m:rPr>
                      <a:rPr lang="en-US" sz="2400" b="0" i="0" baseline="-25000" dirty="0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TM</m:t>
                    </m:r>
                    <m:r>
                      <m:rPr>
                        <m:nor/>
                      </m:rPr>
                      <a:rPr lang="en-US" sz="2400" b="0" i="0" baseline="-25000" dirty="0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={</m:t>
                    </m:r>
                    <m:d>
                      <m:dPr>
                        <m:begChr m:val="〈"/>
                        <m:endChr m:val="〉"/>
                        <m:ctrlPr>
                          <a:rPr lang="en-US" sz="2400" i="1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US" sz="2400" i="1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i="1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  <m:r>
                      <a:rPr lang="en-US" sz="2400" i="1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| </m:t>
                    </m:r>
                    <m:r>
                      <a:rPr lang="en-US" sz="2400" i="1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4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 is a TM and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4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 accepts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sz="2400" b="0" i="1" dirty="0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sz="2400" dirty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  <a:p>
                <a:pPr>
                  <a:spcBef>
                    <a:spcPts val="600"/>
                  </a:spcBef>
                </a:pPr>
                <a:r>
                  <a:rPr lang="en-US" sz="2400" dirty="0"/>
                  <a:t>Is this decidable?</a:t>
                </a:r>
              </a:p>
              <a:p>
                <a:pPr>
                  <a:spcBef>
                    <a:spcPts val="1800"/>
                  </a:spcBef>
                </a:pPr>
                <a:r>
                  <a:rPr lang="en-US" sz="20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Theorem:  </a:t>
                </a:r>
                <a14:m>
                  <m:oMath xmlns:m="http://schemas.openxmlformats.org/officeDocument/2006/math">
                    <m:r>
                      <a:rPr lang="en-US" sz="2000" i="1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nor/>
                      </m:rPr>
                      <a:rPr lang="en-US" sz="2000" b="0" i="0" baseline="-25000" dirty="0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TM</m:t>
                    </m:r>
                    <m:r>
                      <m:rPr>
                        <m:nor/>
                      </m:rPr>
                      <a:rPr lang="en-US" sz="2000" b="0" i="0" dirty="0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rPr>
                      <m:t> </m:t>
                    </m:r>
                  </m:oMath>
                </a14:m>
                <a:r>
                  <a:rPr lang="en-US" sz="2000" b="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is not decidable</a:t>
                </a:r>
              </a:p>
              <a:p>
                <a:r>
                  <a:rPr lang="en-US" sz="2000" dirty="0"/>
                  <a:t>Proof: Next lecture.</a:t>
                </a:r>
              </a:p>
              <a:p>
                <a:endParaRPr lang="en-US" sz="2000" dirty="0"/>
              </a:p>
              <a:p>
                <a:r>
                  <a:rPr lang="en-US" sz="2400" dirty="0"/>
                  <a:t>Is it recognizable?</a:t>
                </a:r>
              </a:p>
              <a:p>
                <a:pPr>
                  <a:spcBef>
                    <a:spcPts val="1800"/>
                  </a:spcBef>
                </a:pPr>
                <a:r>
                  <a:rPr lang="en-US" sz="20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Theorem:  </a:t>
                </a:r>
                <a14:m>
                  <m:oMath xmlns:m="http://schemas.openxmlformats.org/officeDocument/2006/math">
                    <m:r>
                      <a:rPr lang="en-US" sz="2000" i="1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nor/>
                      </m:rPr>
                      <a:rPr lang="en-US" sz="2000" baseline="-2500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TM</m:t>
                    </m:r>
                    <m:r>
                      <m:rPr>
                        <m:nor/>
                      </m:rPr>
                      <a:rPr lang="en-US" sz="200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rPr>
                      <m:t> </m:t>
                    </m:r>
                  </m:oMath>
                </a14:m>
                <a:r>
                  <a:rPr lang="en-US" sz="20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is T-recognizable</a:t>
                </a:r>
              </a:p>
              <a:p>
                <a:r>
                  <a:rPr lang="en-US" sz="2000" b="0" dirty="0"/>
                  <a:t>Proof:   The following TM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𝑈</m:t>
                    </m:r>
                  </m:oMath>
                </a14:m>
                <a:r>
                  <a:rPr lang="en-US" sz="2000" b="0" dirty="0"/>
                  <a:t> recognizes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nor/>
                      </m:rPr>
                      <a:rPr lang="en-US" sz="2000" baseline="-25000" dirty="0">
                        <a:latin typeface="Cambria Math" panose="02040503050406030204" pitchFamily="18" charset="0"/>
                      </a:rPr>
                      <m:t>TM</m:t>
                    </m:r>
                    <m:r>
                      <m:rPr>
                        <m:nor/>
                      </m:rPr>
                      <a:rPr lang="en-US" sz="2000" dirty="0"/>
                      <m:t> </m:t>
                    </m:r>
                  </m:oMath>
                </a14:m>
                <a:endParaRPr lang="en-US" sz="2000" b="0" dirty="0"/>
              </a:p>
              <a:p>
                <a:pPr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000" b="0" dirty="0"/>
                  <a:t> “On input </a:t>
                </a:r>
                <a14:m>
                  <m:oMath xmlns:m="http://schemas.openxmlformats.org/officeDocument/2006/math">
                    <m:d>
                      <m:dPr>
                        <m:begChr m:val="〈"/>
                        <m:endChr m:val="〉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</m:oMath>
                </a14:m>
                <a:endParaRPr lang="en-US" sz="2000" b="0" dirty="0"/>
              </a:p>
              <a:p>
                <a:pPr marL="914400" lvl="1" indent="-457200">
                  <a:spcBef>
                    <a:spcPts val="600"/>
                  </a:spcBef>
                  <a:buAutoNum type="arabicPeriod"/>
                </a:pPr>
                <a:r>
                  <a:rPr lang="en-US" sz="2000" dirty="0"/>
                  <a:t> Simulate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000" b="0" dirty="0"/>
                  <a:t> on input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sz="2000" b="0" dirty="0"/>
                  <a:t>. </a:t>
                </a:r>
              </a:p>
              <a:p>
                <a:pPr marL="914400" lvl="1" indent="-457200">
                  <a:spcBef>
                    <a:spcPts val="600"/>
                  </a:spcBef>
                  <a:buAutoNum type="arabicPeriod"/>
                </a:pPr>
                <a:r>
                  <a:rPr lang="en-US" sz="2000" dirty="0"/>
                  <a:t> </a:t>
                </a:r>
                <a:r>
                  <a:rPr lang="en-US" sz="2000" i="1" dirty="0"/>
                  <a:t>Accept</a:t>
                </a:r>
                <a:r>
                  <a:rPr lang="en-US" sz="2000" dirty="0"/>
                  <a:t> if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000" dirty="0"/>
                  <a:t> halts and accepts. </a:t>
                </a:r>
              </a:p>
              <a:p>
                <a:pPr marL="914400" lvl="1" indent="-457200">
                  <a:spcBef>
                    <a:spcPts val="600"/>
                  </a:spcBef>
                  <a:buAutoNum type="arabicPeriod"/>
                </a:pPr>
                <a:r>
                  <a:rPr lang="en-US" sz="2000" dirty="0"/>
                  <a:t> </a:t>
                </a:r>
                <a:r>
                  <a:rPr lang="en-US" sz="2000" i="1" dirty="0"/>
                  <a:t>Reject</a:t>
                </a:r>
                <a:r>
                  <a:rPr lang="en-US" sz="2000" dirty="0"/>
                  <a:t> if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000" dirty="0"/>
                  <a:t> halts and rejects.</a:t>
                </a:r>
              </a:p>
              <a:p>
                <a:pPr marL="914400" lvl="1" indent="-457200">
                  <a:spcBef>
                    <a:spcPts val="600"/>
                  </a:spcBef>
                  <a:buAutoNum type="arabicPeriod"/>
                </a:pPr>
                <a:r>
                  <a:rPr lang="en-US" sz="2000" dirty="0"/>
                  <a:t> </a:t>
                </a:r>
                <a:r>
                  <a:rPr lang="en-US" sz="2000" i="1" dirty="0"/>
                  <a:t>Reject</a:t>
                </a:r>
                <a:r>
                  <a:rPr lang="en-US" sz="2000" dirty="0"/>
                  <a:t> if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000" dirty="0"/>
                  <a:t> never halts.”</a:t>
                </a:r>
              </a:p>
              <a:p>
                <a:pPr>
                  <a:spcBef>
                    <a:spcPts val="2400"/>
                  </a:spcBef>
                </a:pPr>
                <a:r>
                  <a:rPr lang="en-US" sz="20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		Von Neumann said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sz="2000" b="0" i="1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inspired the concept of a stored program computer.</a:t>
                </a:r>
              </a:p>
            </p:txBody>
          </p:sp>
        </mc:Choice>
        <mc:Fallback xmlns="">
          <p:sp>
            <p:nvSpPr>
              <p:cNvPr id="34" name="TextBox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065" y="953155"/>
                <a:ext cx="9814855" cy="5816977"/>
              </a:xfrm>
              <a:prstGeom prst="rect">
                <a:avLst/>
              </a:prstGeom>
              <a:blipFill>
                <a:blip r:embed="rId3"/>
                <a:stretch>
                  <a:fillRect l="-1035" t="-435" b="-870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7" name="Group 36"/>
          <p:cNvGrpSpPr/>
          <p:nvPr/>
        </p:nvGrpSpPr>
        <p:grpSpPr>
          <a:xfrm>
            <a:off x="1386086" y="5752692"/>
            <a:ext cx="4967415" cy="369332"/>
            <a:chOff x="1325479" y="4739507"/>
            <a:chExt cx="4967415" cy="369332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1325479" y="4924173"/>
              <a:ext cx="2403559" cy="0"/>
            </a:xfrm>
            <a:prstGeom prst="line">
              <a:avLst/>
            </a:prstGeom>
            <a:ln w="25400">
              <a:solidFill>
                <a:schemeClr val="accent6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Rectangle 35"/>
            <p:cNvSpPr/>
            <p:nvPr/>
          </p:nvSpPr>
          <p:spPr>
            <a:xfrm>
              <a:off x="4052665" y="4739507"/>
              <a:ext cx="2240229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>
                  <a:solidFill>
                    <a:schemeClr val="accent6">
                      <a:lumMod val="75000"/>
                    </a:schemeClr>
                  </a:solidFill>
                </a:rPr>
                <a:t>Not a legal TM action.</a:t>
              </a:r>
            </a:p>
          </p:txBody>
        </p:sp>
      </p:grpSp>
      <p:grpSp>
        <p:nvGrpSpPr>
          <p:cNvPr id="91" name="Group 90"/>
          <p:cNvGrpSpPr/>
          <p:nvPr/>
        </p:nvGrpSpPr>
        <p:grpSpPr>
          <a:xfrm>
            <a:off x="6353501" y="2657836"/>
            <a:ext cx="5265910" cy="2356649"/>
            <a:chOff x="6353501" y="2657836"/>
            <a:chExt cx="5265910" cy="2356649"/>
          </a:xfrm>
        </p:grpSpPr>
        <p:sp>
          <p:nvSpPr>
            <p:cNvPr id="40" name="PDA box"/>
            <p:cNvSpPr/>
            <p:nvPr/>
          </p:nvSpPr>
          <p:spPr>
            <a:xfrm>
              <a:off x="7011633" y="4120728"/>
              <a:ext cx="934820" cy="89375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Finite Control"/>
                <p:cNvSpPr/>
                <p:nvPr/>
              </p:nvSpPr>
              <p:spPr>
                <a:xfrm>
                  <a:off x="7267430" y="4275323"/>
                  <a:ext cx="520271" cy="52322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41" name="Finite Control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67430" y="4275323"/>
                  <a:ext cx="520271" cy="52322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2" name="Rectangle 4"/>
            <p:cNvSpPr/>
            <p:nvPr/>
          </p:nvSpPr>
          <p:spPr>
            <a:xfrm>
              <a:off x="8371374" y="4119737"/>
              <a:ext cx="3248035" cy="317979"/>
            </a:xfrm>
            <a:custGeom>
              <a:avLst/>
              <a:gdLst>
                <a:gd name="connsiteX0" fmla="*/ 0 w 2742303"/>
                <a:gd name="connsiteY0" fmla="*/ 0 h 317979"/>
                <a:gd name="connsiteX1" fmla="*/ 2742303 w 2742303"/>
                <a:gd name="connsiteY1" fmla="*/ 0 h 317979"/>
                <a:gd name="connsiteX2" fmla="*/ 2742303 w 2742303"/>
                <a:gd name="connsiteY2" fmla="*/ 317979 h 317979"/>
                <a:gd name="connsiteX3" fmla="*/ 0 w 2742303"/>
                <a:gd name="connsiteY3" fmla="*/ 317979 h 317979"/>
                <a:gd name="connsiteX4" fmla="*/ 0 w 2742303"/>
                <a:gd name="connsiteY4" fmla="*/ 0 h 317979"/>
                <a:gd name="connsiteX0" fmla="*/ 2742303 w 2833743"/>
                <a:gd name="connsiteY0" fmla="*/ 317979 h 409419"/>
                <a:gd name="connsiteX1" fmla="*/ 0 w 2833743"/>
                <a:gd name="connsiteY1" fmla="*/ 317979 h 409419"/>
                <a:gd name="connsiteX2" fmla="*/ 0 w 2833743"/>
                <a:gd name="connsiteY2" fmla="*/ 0 h 409419"/>
                <a:gd name="connsiteX3" fmla="*/ 2742303 w 2833743"/>
                <a:gd name="connsiteY3" fmla="*/ 0 h 409419"/>
                <a:gd name="connsiteX4" fmla="*/ 2833743 w 2833743"/>
                <a:gd name="connsiteY4" fmla="*/ 409419 h 409419"/>
                <a:gd name="connsiteX0" fmla="*/ 2742303 w 2742303"/>
                <a:gd name="connsiteY0" fmla="*/ 317979 h 317979"/>
                <a:gd name="connsiteX1" fmla="*/ 0 w 2742303"/>
                <a:gd name="connsiteY1" fmla="*/ 317979 h 317979"/>
                <a:gd name="connsiteX2" fmla="*/ 0 w 2742303"/>
                <a:gd name="connsiteY2" fmla="*/ 0 h 317979"/>
                <a:gd name="connsiteX3" fmla="*/ 2742303 w 2742303"/>
                <a:gd name="connsiteY3" fmla="*/ 0 h 317979"/>
                <a:gd name="connsiteX0" fmla="*/ 2818503 w 2818503"/>
                <a:gd name="connsiteY0" fmla="*/ 317979 h 317979"/>
                <a:gd name="connsiteX1" fmla="*/ 0 w 2818503"/>
                <a:gd name="connsiteY1" fmla="*/ 317979 h 317979"/>
                <a:gd name="connsiteX2" fmla="*/ 0 w 2818503"/>
                <a:gd name="connsiteY2" fmla="*/ 0 h 317979"/>
                <a:gd name="connsiteX3" fmla="*/ 2742303 w 2818503"/>
                <a:gd name="connsiteY3" fmla="*/ 0 h 3179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18503" h="317979">
                  <a:moveTo>
                    <a:pt x="2818503" y="317979"/>
                  </a:moveTo>
                  <a:lnTo>
                    <a:pt x="0" y="317979"/>
                  </a:lnTo>
                  <a:lnTo>
                    <a:pt x="0" y="0"/>
                  </a:lnTo>
                  <a:lnTo>
                    <a:pt x="2742303" y="0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Freeform 55"/>
            <p:cNvSpPr/>
            <p:nvPr/>
          </p:nvSpPr>
          <p:spPr>
            <a:xfrm>
              <a:off x="7457663" y="3779871"/>
              <a:ext cx="1086487" cy="340025"/>
            </a:xfrm>
            <a:custGeom>
              <a:avLst/>
              <a:gdLst>
                <a:gd name="connsiteX0" fmla="*/ 319 w 1086487"/>
                <a:gd name="connsiteY0" fmla="*/ 340025 h 340025"/>
                <a:gd name="connsiteX1" fmla="*/ 152719 w 1086487"/>
                <a:gd name="connsiteY1" fmla="*/ 54275 h 340025"/>
                <a:gd name="connsiteX2" fmla="*/ 933769 w 1086487"/>
                <a:gd name="connsiteY2" fmla="*/ 25700 h 340025"/>
                <a:gd name="connsiteX3" fmla="*/ 1086169 w 1086487"/>
                <a:gd name="connsiteY3" fmla="*/ 340025 h 340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86487" h="340025">
                  <a:moveTo>
                    <a:pt x="319" y="340025"/>
                  </a:moveTo>
                  <a:cubicBezTo>
                    <a:pt x="-1269" y="223343"/>
                    <a:pt x="-2856" y="106662"/>
                    <a:pt x="152719" y="54275"/>
                  </a:cubicBezTo>
                  <a:cubicBezTo>
                    <a:pt x="308294" y="1888"/>
                    <a:pt x="778194" y="-21925"/>
                    <a:pt x="933769" y="25700"/>
                  </a:cubicBezTo>
                  <a:cubicBezTo>
                    <a:pt x="1089344" y="73325"/>
                    <a:pt x="1087756" y="206675"/>
                    <a:pt x="1086169" y="340025"/>
                  </a:cubicBezTo>
                </a:path>
              </a:pathLst>
            </a:custGeom>
            <a:noFill/>
            <a:ln>
              <a:solidFill>
                <a:schemeClr val="tx1"/>
              </a:solidFill>
              <a:tailEnd type="triangle"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Freeform 85"/>
            <p:cNvSpPr/>
            <p:nvPr/>
          </p:nvSpPr>
          <p:spPr>
            <a:xfrm rot="16200000">
              <a:off x="11406845" y="4225149"/>
              <a:ext cx="317979" cy="107153"/>
            </a:xfrm>
            <a:custGeom>
              <a:avLst/>
              <a:gdLst>
                <a:gd name="connsiteX0" fmla="*/ 0 w 369096"/>
                <a:gd name="connsiteY0" fmla="*/ 76200 h 171450"/>
                <a:gd name="connsiteX1" fmla="*/ 71438 w 369096"/>
                <a:gd name="connsiteY1" fmla="*/ 0 h 171450"/>
                <a:gd name="connsiteX2" fmla="*/ 107156 w 369096"/>
                <a:gd name="connsiteY2" fmla="*/ 78581 h 171450"/>
                <a:gd name="connsiteX3" fmla="*/ 178594 w 369096"/>
                <a:gd name="connsiteY3" fmla="*/ 4762 h 171450"/>
                <a:gd name="connsiteX4" fmla="*/ 219075 w 369096"/>
                <a:gd name="connsiteY4" fmla="*/ 80962 h 171450"/>
                <a:gd name="connsiteX5" fmla="*/ 309563 w 369096"/>
                <a:gd name="connsiteY5" fmla="*/ 14287 h 171450"/>
                <a:gd name="connsiteX6" fmla="*/ 369094 w 369096"/>
                <a:gd name="connsiteY6" fmla="*/ 111918 h 171450"/>
                <a:gd name="connsiteX7" fmla="*/ 307181 w 369096"/>
                <a:gd name="connsiteY7" fmla="*/ 171450 h 171450"/>
                <a:gd name="connsiteX0" fmla="*/ 0 w 369096"/>
                <a:gd name="connsiteY0" fmla="*/ 76200 h 111918"/>
                <a:gd name="connsiteX1" fmla="*/ 71438 w 369096"/>
                <a:gd name="connsiteY1" fmla="*/ 0 h 111918"/>
                <a:gd name="connsiteX2" fmla="*/ 107156 w 369096"/>
                <a:gd name="connsiteY2" fmla="*/ 78581 h 111918"/>
                <a:gd name="connsiteX3" fmla="*/ 178594 w 369096"/>
                <a:gd name="connsiteY3" fmla="*/ 4762 h 111918"/>
                <a:gd name="connsiteX4" fmla="*/ 219075 w 369096"/>
                <a:gd name="connsiteY4" fmla="*/ 80962 h 111918"/>
                <a:gd name="connsiteX5" fmla="*/ 309563 w 369096"/>
                <a:gd name="connsiteY5" fmla="*/ 14287 h 111918"/>
                <a:gd name="connsiteX6" fmla="*/ 369094 w 369096"/>
                <a:gd name="connsiteY6" fmla="*/ 111918 h 111918"/>
                <a:gd name="connsiteX0" fmla="*/ 0 w 361953"/>
                <a:gd name="connsiteY0" fmla="*/ 76200 h 107155"/>
                <a:gd name="connsiteX1" fmla="*/ 71438 w 361953"/>
                <a:gd name="connsiteY1" fmla="*/ 0 h 107155"/>
                <a:gd name="connsiteX2" fmla="*/ 107156 w 361953"/>
                <a:gd name="connsiteY2" fmla="*/ 78581 h 107155"/>
                <a:gd name="connsiteX3" fmla="*/ 178594 w 361953"/>
                <a:gd name="connsiteY3" fmla="*/ 4762 h 107155"/>
                <a:gd name="connsiteX4" fmla="*/ 219075 w 361953"/>
                <a:gd name="connsiteY4" fmla="*/ 80962 h 107155"/>
                <a:gd name="connsiteX5" fmla="*/ 309563 w 361953"/>
                <a:gd name="connsiteY5" fmla="*/ 14287 h 107155"/>
                <a:gd name="connsiteX6" fmla="*/ 361950 w 361953"/>
                <a:gd name="connsiteY6" fmla="*/ 107155 h 107155"/>
                <a:gd name="connsiteX0" fmla="*/ 0 w 361950"/>
                <a:gd name="connsiteY0" fmla="*/ 76200 h 107155"/>
                <a:gd name="connsiteX1" fmla="*/ 71438 w 361950"/>
                <a:gd name="connsiteY1" fmla="*/ 0 h 107155"/>
                <a:gd name="connsiteX2" fmla="*/ 107156 w 361950"/>
                <a:gd name="connsiteY2" fmla="*/ 78581 h 107155"/>
                <a:gd name="connsiteX3" fmla="*/ 178594 w 361950"/>
                <a:gd name="connsiteY3" fmla="*/ 4762 h 107155"/>
                <a:gd name="connsiteX4" fmla="*/ 219075 w 361950"/>
                <a:gd name="connsiteY4" fmla="*/ 80962 h 107155"/>
                <a:gd name="connsiteX5" fmla="*/ 309563 w 361950"/>
                <a:gd name="connsiteY5" fmla="*/ 14287 h 107155"/>
                <a:gd name="connsiteX6" fmla="*/ 361950 w 361950"/>
                <a:gd name="connsiteY6" fmla="*/ 107155 h 107155"/>
                <a:gd name="connsiteX0" fmla="*/ 0 w 309563"/>
                <a:gd name="connsiteY0" fmla="*/ 76200 h 80962"/>
                <a:gd name="connsiteX1" fmla="*/ 71438 w 309563"/>
                <a:gd name="connsiteY1" fmla="*/ 0 h 80962"/>
                <a:gd name="connsiteX2" fmla="*/ 107156 w 309563"/>
                <a:gd name="connsiteY2" fmla="*/ 78581 h 80962"/>
                <a:gd name="connsiteX3" fmla="*/ 178594 w 309563"/>
                <a:gd name="connsiteY3" fmla="*/ 4762 h 80962"/>
                <a:gd name="connsiteX4" fmla="*/ 219075 w 309563"/>
                <a:gd name="connsiteY4" fmla="*/ 80962 h 80962"/>
                <a:gd name="connsiteX5" fmla="*/ 309563 w 309563"/>
                <a:gd name="connsiteY5" fmla="*/ 14287 h 80962"/>
                <a:gd name="connsiteX0" fmla="*/ 0 w 316992"/>
                <a:gd name="connsiteY0" fmla="*/ 76200 h 80962"/>
                <a:gd name="connsiteX1" fmla="*/ 71438 w 316992"/>
                <a:gd name="connsiteY1" fmla="*/ 0 h 80962"/>
                <a:gd name="connsiteX2" fmla="*/ 107156 w 316992"/>
                <a:gd name="connsiteY2" fmla="*/ 78581 h 80962"/>
                <a:gd name="connsiteX3" fmla="*/ 178594 w 316992"/>
                <a:gd name="connsiteY3" fmla="*/ 4762 h 80962"/>
                <a:gd name="connsiteX4" fmla="*/ 219075 w 316992"/>
                <a:gd name="connsiteY4" fmla="*/ 80962 h 80962"/>
                <a:gd name="connsiteX5" fmla="*/ 309563 w 316992"/>
                <a:gd name="connsiteY5" fmla="*/ 14287 h 80962"/>
                <a:gd name="connsiteX6" fmla="*/ 311946 w 316992"/>
                <a:gd name="connsiteY6" fmla="*/ 21432 h 80962"/>
                <a:gd name="connsiteX0" fmla="*/ 0 w 364333"/>
                <a:gd name="connsiteY0" fmla="*/ 76200 h 80962"/>
                <a:gd name="connsiteX1" fmla="*/ 71438 w 364333"/>
                <a:gd name="connsiteY1" fmla="*/ 0 h 80962"/>
                <a:gd name="connsiteX2" fmla="*/ 107156 w 364333"/>
                <a:gd name="connsiteY2" fmla="*/ 78581 h 80962"/>
                <a:gd name="connsiteX3" fmla="*/ 178594 w 364333"/>
                <a:gd name="connsiteY3" fmla="*/ 4762 h 80962"/>
                <a:gd name="connsiteX4" fmla="*/ 219075 w 364333"/>
                <a:gd name="connsiteY4" fmla="*/ 80962 h 80962"/>
                <a:gd name="connsiteX5" fmla="*/ 309563 w 364333"/>
                <a:gd name="connsiteY5" fmla="*/ 14287 h 80962"/>
                <a:gd name="connsiteX6" fmla="*/ 364333 w 364333"/>
                <a:gd name="connsiteY6" fmla="*/ 76201 h 80962"/>
                <a:gd name="connsiteX0" fmla="*/ 0 w 364333"/>
                <a:gd name="connsiteY0" fmla="*/ 76200 h 78581"/>
                <a:gd name="connsiteX1" fmla="*/ 71438 w 364333"/>
                <a:gd name="connsiteY1" fmla="*/ 0 h 78581"/>
                <a:gd name="connsiteX2" fmla="*/ 107156 w 364333"/>
                <a:gd name="connsiteY2" fmla="*/ 78581 h 78581"/>
                <a:gd name="connsiteX3" fmla="*/ 178594 w 364333"/>
                <a:gd name="connsiteY3" fmla="*/ 4762 h 78581"/>
                <a:gd name="connsiteX4" fmla="*/ 226219 w 364333"/>
                <a:gd name="connsiteY4" fmla="*/ 76200 h 78581"/>
                <a:gd name="connsiteX5" fmla="*/ 309563 w 364333"/>
                <a:gd name="connsiteY5" fmla="*/ 14287 h 78581"/>
                <a:gd name="connsiteX6" fmla="*/ 364333 w 364333"/>
                <a:gd name="connsiteY6" fmla="*/ 76201 h 78581"/>
                <a:gd name="connsiteX0" fmla="*/ 0 w 364333"/>
                <a:gd name="connsiteY0" fmla="*/ 76200 h 76201"/>
                <a:gd name="connsiteX1" fmla="*/ 71438 w 364333"/>
                <a:gd name="connsiteY1" fmla="*/ 0 h 76201"/>
                <a:gd name="connsiteX2" fmla="*/ 121444 w 364333"/>
                <a:gd name="connsiteY2" fmla="*/ 76199 h 76201"/>
                <a:gd name="connsiteX3" fmla="*/ 178594 w 364333"/>
                <a:gd name="connsiteY3" fmla="*/ 4762 h 76201"/>
                <a:gd name="connsiteX4" fmla="*/ 226219 w 364333"/>
                <a:gd name="connsiteY4" fmla="*/ 76200 h 76201"/>
                <a:gd name="connsiteX5" fmla="*/ 309563 w 364333"/>
                <a:gd name="connsiteY5" fmla="*/ 14287 h 76201"/>
                <a:gd name="connsiteX6" fmla="*/ 364333 w 364333"/>
                <a:gd name="connsiteY6" fmla="*/ 76201 h 76201"/>
                <a:gd name="connsiteX0" fmla="*/ 0 w 364333"/>
                <a:gd name="connsiteY0" fmla="*/ 76200 h 76201"/>
                <a:gd name="connsiteX1" fmla="*/ 71438 w 364333"/>
                <a:gd name="connsiteY1" fmla="*/ 0 h 76201"/>
                <a:gd name="connsiteX2" fmla="*/ 121444 w 364333"/>
                <a:gd name="connsiteY2" fmla="*/ 76199 h 76201"/>
                <a:gd name="connsiteX3" fmla="*/ 178594 w 364333"/>
                <a:gd name="connsiteY3" fmla="*/ 4762 h 76201"/>
                <a:gd name="connsiteX4" fmla="*/ 242888 w 364333"/>
                <a:gd name="connsiteY4" fmla="*/ 76200 h 76201"/>
                <a:gd name="connsiteX5" fmla="*/ 309563 w 364333"/>
                <a:gd name="connsiteY5" fmla="*/ 14287 h 76201"/>
                <a:gd name="connsiteX6" fmla="*/ 364333 w 364333"/>
                <a:gd name="connsiteY6" fmla="*/ 76201 h 76201"/>
                <a:gd name="connsiteX0" fmla="*/ 0 w 364333"/>
                <a:gd name="connsiteY0" fmla="*/ 76200 h 76201"/>
                <a:gd name="connsiteX1" fmla="*/ 71438 w 364333"/>
                <a:gd name="connsiteY1" fmla="*/ 0 h 76201"/>
                <a:gd name="connsiteX2" fmla="*/ 121444 w 364333"/>
                <a:gd name="connsiteY2" fmla="*/ 76199 h 76201"/>
                <a:gd name="connsiteX3" fmla="*/ 178594 w 364333"/>
                <a:gd name="connsiteY3" fmla="*/ 4762 h 76201"/>
                <a:gd name="connsiteX4" fmla="*/ 242888 w 364333"/>
                <a:gd name="connsiteY4" fmla="*/ 76200 h 76201"/>
                <a:gd name="connsiteX5" fmla="*/ 311944 w 364333"/>
                <a:gd name="connsiteY5" fmla="*/ 7143 h 76201"/>
                <a:gd name="connsiteX6" fmla="*/ 364333 w 364333"/>
                <a:gd name="connsiteY6" fmla="*/ 76201 h 76201"/>
                <a:gd name="connsiteX0" fmla="*/ 0 w 311944"/>
                <a:gd name="connsiteY0" fmla="*/ 76200 h 76200"/>
                <a:gd name="connsiteX1" fmla="*/ 71438 w 311944"/>
                <a:gd name="connsiteY1" fmla="*/ 0 h 76200"/>
                <a:gd name="connsiteX2" fmla="*/ 121444 w 311944"/>
                <a:gd name="connsiteY2" fmla="*/ 76199 h 76200"/>
                <a:gd name="connsiteX3" fmla="*/ 178594 w 311944"/>
                <a:gd name="connsiteY3" fmla="*/ 4762 h 76200"/>
                <a:gd name="connsiteX4" fmla="*/ 242888 w 311944"/>
                <a:gd name="connsiteY4" fmla="*/ 76200 h 76200"/>
                <a:gd name="connsiteX5" fmla="*/ 311944 w 311944"/>
                <a:gd name="connsiteY5" fmla="*/ 7143 h 76200"/>
                <a:gd name="connsiteX0" fmla="*/ 0 w 321469"/>
                <a:gd name="connsiteY0" fmla="*/ 78582 h 78582"/>
                <a:gd name="connsiteX1" fmla="*/ 71438 w 321469"/>
                <a:gd name="connsiteY1" fmla="*/ 2382 h 78582"/>
                <a:gd name="connsiteX2" fmla="*/ 121444 w 321469"/>
                <a:gd name="connsiteY2" fmla="*/ 78581 h 78582"/>
                <a:gd name="connsiteX3" fmla="*/ 178594 w 321469"/>
                <a:gd name="connsiteY3" fmla="*/ 7144 h 78582"/>
                <a:gd name="connsiteX4" fmla="*/ 242888 w 321469"/>
                <a:gd name="connsiteY4" fmla="*/ 78582 h 78582"/>
                <a:gd name="connsiteX5" fmla="*/ 321469 w 321469"/>
                <a:gd name="connsiteY5" fmla="*/ 0 h 785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21469" h="78582">
                  <a:moveTo>
                    <a:pt x="0" y="78582"/>
                  </a:moveTo>
                  <a:lnTo>
                    <a:pt x="71438" y="2382"/>
                  </a:lnTo>
                  <a:lnTo>
                    <a:pt x="121444" y="78581"/>
                  </a:lnTo>
                  <a:lnTo>
                    <a:pt x="178594" y="7144"/>
                  </a:lnTo>
                  <a:lnTo>
                    <a:pt x="242888" y="78582"/>
                  </a:lnTo>
                  <a:lnTo>
                    <a:pt x="321469" y="0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9" name="Rectangle 88"/>
                <p:cNvSpPr/>
                <p:nvPr/>
              </p:nvSpPr>
              <p:spPr>
                <a:xfrm>
                  <a:off x="8392483" y="4090656"/>
                  <a:ext cx="2647007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n-US" dirty="0"/>
                    <a:t>Description of </a:t>
                  </a:r>
                  <a14:m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</m:t>
                      </m:r>
                    </m:oMath>
                  </a14:m>
                  <a:r>
                    <a:rPr lang="en-US" dirty="0"/>
                    <a:t>,  input </a:t>
                  </a:r>
                  <a14:m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𝑤</m:t>
                      </m:r>
                    </m:oMath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89" name="Rectangle 88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92483" y="4090656"/>
                  <a:ext cx="2647007" cy="369332"/>
                </a:xfrm>
                <a:prstGeom prst="rect">
                  <a:avLst/>
                </a:prstGeom>
                <a:blipFill>
                  <a:blip r:embed="rId6"/>
                  <a:stretch>
                    <a:fillRect l="-2074" t="-8197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0" name="Rectangle 89"/>
            <p:cNvSpPr/>
            <p:nvPr/>
          </p:nvSpPr>
          <p:spPr>
            <a:xfrm>
              <a:off x="6353501" y="2657836"/>
              <a:ext cx="5242974" cy="101566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000" dirty="0">
                  <a:solidFill>
                    <a:schemeClr val="accent1">
                      <a:lumMod val="60000"/>
                      <a:lumOff val="40000"/>
                    </a:schemeClr>
                  </a:solidFill>
                </a:rPr>
                <a:t>Turing’s original “Universal Computing Machine”</a:t>
              </a:r>
            </a:p>
            <a:p>
              <a:r>
                <a:rPr lang="en-US" sz="2000" dirty="0"/>
                <a:t>(capable of simulating another TM from the </a:t>
              </a:r>
              <a:br>
                <a:rPr lang="en-US" sz="2000" dirty="0"/>
              </a:br>
              <a:r>
                <a:rPr lang="en-US" sz="2000" dirty="0"/>
                <a:t>description of that machine)</a:t>
              </a:r>
              <a:r>
                <a:rPr lang="en-US" sz="2000" dirty="0">
                  <a:solidFill>
                    <a:schemeClr val="accent1">
                      <a:lumMod val="60000"/>
                      <a:lumOff val="40000"/>
                    </a:schemeClr>
                  </a:solidFill>
                </a:rPr>
                <a:t> </a:t>
              </a: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1454D0A3-173C-B647-ABE4-C114F990DBC4}"/>
              </a:ext>
            </a:extLst>
          </p:cNvPr>
          <p:cNvSpPr txBox="1"/>
          <p:nvPr/>
        </p:nvSpPr>
        <p:spPr>
          <a:xfrm>
            <a:off x="11302906" y="629478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14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8566F56-4847-1346-8E88-B2FC243F5408}"/>
              </a:ext>
            </a:extLst>
          </p:cNvPr>
          <p:cNvSpPr txBox="1"/>
          <p:nvPr/>
        </p:nvSpPr>
        <p:spPr>
          <a:xfrm>
            <a:off x="172278" y="594560"/>
            <a:ext cx="118256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N" dirty="0"/>
              <a:t>The </a:t>
            </a:r>
            <a:r>
              <a:rPr lang="en-CN" b="1" dirty="0">
                <a:solidFill>
                  <a:schemeClr val="accent1"/>
                </a:solidFill>
              </a:rPr>
              <a:t>acceptance problem </a:t>
            </a:r>
            <a:r>
              <a:rPr lang="en-CN" dirty="0"/>
              <a:t>for a TM is that of determining whether a Turing machine accepts a given string.</a:t>
            </a:r>
          </a:p>
        </p:txBody>
      </p:sp>
    </p:spTree>
    <p:extLst>
      <p:ext uri="{BB962C8B-B14F-4D97-AF65-F5344CB8AC3E}">
        <p14:creationId xmlns:p14="http://schemas.microsoft.com/office/powerpoint/2010/main" val="33139505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" y="0"/>
            <a:ext cx="844692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Recall:  Acceptance Problem for TMs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334600" y="1131801"/>
                <a:ext cx="8301400" cy="59400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600"/>
                  </a:spcBef>
                </a:pPr>
                <a:r>
                  <a:rPr lang="en-US" sz="24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Let 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nor/>
                      </m:rPr>
                      <a:rPr lang="en-US" sz="2400" baseline="-2500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TM</m:t>
                    </m:r>
                    <m:r>
                      <m:rPr>
                        <m:nor/>
                      </m:rPr>
                      <a:rPr lang="en-US" sz="2400" baseline="-2500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={</m:t>
                    </m:r>
                    <m:d>
                      <m:dPr>
                        <m:begChr m:val="〈"/>
                        <m:endChr m:val="〉"/>
                        <m:ctrlPr>
                          <a:rPr lang="en-US" sz="2400" i="1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US" sz="2400" i="1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i="1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  <m:r>
                      <a:rPr lang="en-US" sz="2400" i="1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| </m:t>
                    </m:r>
                    <m:r>
                      <a:rPr lang="en-US" sz="2400" i="1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4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 is a TM and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4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 accepts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sz="2400" i="1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sz="2400" dirty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  <a:p>
                <a:pPr>
                  <a:spcBef>
                    <a:spcPts val="1200"/>
                  </a:spcBef>
                </a:pPr>
                <a:r>
                  <a:rPr lang="en-US" sz="2400" b="1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Today’s Theorem: 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nor/>
                      </m:rPr>
                      <a:rPr lang="en-US" sz="2400" baseline="-2500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TM</m:t>
                    </m:r>
                    <m:r>
                      <m:rPr>
                        <m:nor/>
                      </m:rPr>
                      <a:rPr lang="en-US" sz="240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rPr>
                      <m:t> </m:t>
                    </m:r>
                  </m:oMath>
                </a14:m>
                <a:r>
                  <a:rPr lang="en-US" sz="24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is not decidable</a:t>
                </a:r>
              </a:p>
              <a:p>
                <a:pPr marL="342900" indent="-342900">
                  <a:spcBef>
                    <a:spcPts val="1200"/>
                  </a:spcBef>
                  <a:buFont typeface="Arial" panose="020B0604020202020204" pitchFamily="34" charset="0"/>
                  <a:buChar char="•"/>
                </a:pPr>
                <a:r>
                  <a:rPr lang="en-US" sz="2000" dirty="0"/>
                  <a:t>One of the most philosophically important theorems of the theory of computation</a:t>
                </a:r>
              </a:p>
              <a:p>
                <a:pPr marL="342900" indent="-342900">
                  <a:spcBef>
                    <a:spcPts val="1200"/>
                  </a:spcBef>
                  <a:buFont typeface="Arial" panose="020B0604020202020204" pitchFamily="34" charset="0"/>
                  <a:buChar char="•"/>
                </a:pPr>
                <a:r>
                  <a:rPr lang="en-US" sz="2000" dirty="0"/>
                  <a:t>What sorts of problems are </a:t>
                </a:r>
                <a:r>
                  <a:rPr lang="en-US" sz="2000" b="1" dirty="0">
                    <a:solidFill>
                      <a:schemeClr val="accent1"/>
                    </a:solidFill>
                  </a:rPr>
                  <a:t>unsolvable</a:t>
                </a:r>
                <a:r>
                  <a:rPr lang="en-US" sz="2000" dirty="0"/>
                  <a:t> by computers?</a:t>
                </a:r>
              </a:p>
              <a:p>
                <a:pPr marL="800100" lvl="1" indent="-342900">
                  <a:spcBef>
                    <a:spcPts val="1200"/>
                  </a:spcBef>
                  <a:buFont typeface="Arial" panose="020B0604020202020204" pitchFamily="34" charset="0"/>
                  <a:buChar char="•"/>
                </a:pPr>
                <a:r>
                  <a:rPr lang="en-US" sz="2000" dirty="0"/>
                  <a:t>Esoteric ones? (i.e., only theoreticians would care?)</a:t>
                </a:r>
              </a:p>
              <a:p>
                <a:pPr marL="800100" lvl="1" indent="-342900">
                  <a:spcBef>
                    <a:spcPts val="1200"/>
                  </a:spcBef>
                  <a:buFont typeface="Arial" panose="020B0604020202020204" pitchFamily="34" charset="0"/>
                  <a:buChar char="•"/>
                </a:pPr>
                <a:r>
                  <a:rPr lang="en-US" sz="2000" dirty="0"/>
                  <a:t>No </a:t>
                </a:r>
              </a:p>
              <a:p>
                <a:pPr marL="342900" indent="-342900">
                  <a:spcBef>
                    <a:spcPts val="1200"/>
                  </a:spcBef>
                  <a:buFont typeface="Arial" panose="020B0604020202020204" pitchFamily="34" charset="0"/>
                  <a:buChar char="•"/>
                </a:pPr>
                <a:r>
                  <a:rPr lang="en-US" sz="2000" dirty="0" err="1"/>
                  <a:t>Eg.</a:t>
                </a:r>
                <a:r>
                  <a:rPr lang="en-US" sz="2000" dirty="0"/>
                  <a:t>,: You are given a computer program and a precise specification of what the program has to do (</a:t>
                </a:r>
                <a:r>
                  <a:rPr lang="en-US" sz="2000" dirty="0" err="1"/>
                  <a:t>eg.</a:t>
                </a:r>
                <a:r>
                  <a:rPr lang="en-US" sz="2000" dirty="0"/>
                  <a:t>, sort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000" dirty="0"/>
                  <a:t> numbers). You need to verify that the program is correct</a:t>
                </a:r>
              </a:p>
              <a:p>
                <a:pPr marL="342900" indent="-342900">
                  <a:spcBef>
                    <a:spcPts val="1200"/>
                  </a:spcBef>
                  <a:buFont typeface="Arial" panose="020B0604020202020204" pitchFamily="34" charset="0"/>
                  <a:buChar char="•"/>
                </a:pPr>
                <a:r>
                  <a:rPr lang="en-US" sz="2000" dirty="0"/>
                  <a:t>general </a:t>
                </a:r>
                <a:r>
                  <a:rPr lang="en-US" sz="2000" b="1" dirty="0">
                    <a:solidFill>
                      <a:schemeClr val="accent1"/>
                    </a:solidFill>
                  </a:rPr>
                  <a:t>software verification </a:t>
                </a:r>
                <a:r>
                  <a:rPr lang="en-US" sz="2000" dirty="0"/>
                  <a:t>is unsolvable</a:t>
                </a:r>
                <a:endParaRPr lang="en-US" sz="2400" dirty="0"/>
              </a:p>
              <a:p>
                <a:pPr>
                  <a:spcBef>
                    <a:spcPts val="1200"/>
                  </a:spcBef>
                </a:pPr>
                <a:r>
                  <a:rPr lang="en-US" sz="2000" dirty="0"/>
                  <a:t>Proof of the theorem uses </a:t>
                </a:r>
                <a:r>
                  <a:rPr lang="en-US" sz="2000" u="sng" dirty="0"/>
                  <a:t>the diagonalization method</a:t>
                </a:r>
                <a:r>
                  <a:rPr lang="en-US" sz="2000" dirty="0"/>
                  <a:t>, so we will introduce that first.</a:t>
                </a:r>
              </a:p>
              <a:p>
                <a:endParaRPr lang="en-US" sz="2400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600" y="1131801"/>
                <a:ext cx="8301400" cy="5940088"/>
              </a:xfrm>
              <a:prstGeom prst="rect">
                <a:avLst/>
              </a:prstGeom>
              <a:blipFill>
                <a:blip r:embed="rId3"/>
                <a:stretch>
                  <a:fillRect l="-1221" t="-641" r="-153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A89B7FE8-F78B-974F-8F62-666C75B05222}"/>
              </a:ext>
            </a:extLst>
          </p:cNvPr>
          <p:cNvSpPr txBox="1"/>
          <p:nvPr/>
        </p:nvSpPr>
        <p:spPr>
          <a:xfrm>
            <a:off x="6303818" y="646290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5123682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" y="0"/>
            <a:ext cx="844692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The Size of Infinity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334600" y="1131801"/>
                <a:ext cx="8428399" cy="42319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600"/>
                  </a:spcBef>
                </a:pPr>
                <a:r>
                  <a:rPr lang="en-US" sz="24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How to compare the relative sizes of infinite sets?</a:t>
                </a:r>
              </a:p>
              <a:p>
                <a:pPr>
                  <a:spcBef>
                    <a:spcPts val="1200"/>
                  </a:spcBef>
                </a:pPr>
                <a:r>
                  <a:rPr lang="en-US" sz="2000" dirty="0"/>
                  <a:t>Cantor (~1890s) had the following idea.</a:t>
                </a:r>
              </a:p>
              <a:p>
                <a:pPr>
                  <a:spcBef>
                    <a:spcPts val="1200"/>
                  </a:spcBef>
                </a:pPr>
                <a:r>
                  <a:rPr lang="en-US" sz="2000" b="1" dirty="0" err="1"/>
                  <a:t>Defn</a:t>
                </a:r>
                <a:r>
                  <a:rPr lang="en-US" sz="2000" b="1" dirty="0"/>
                  <a:t>:</a:t>
                </a:r>
                <a:r>
                  <a:rPr lang="en-US" sz="2000" dirty="0"/>
                  <a:t>  Say that set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000" dirty="0"/>
                  <a:t> and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000" dirty="0"/>
                  <a:t> </a:t>
                </a:r>
                <a:r>
                  <a:rPr lang="en-US" sz="2000" u="sng" dirty="0"/>
                  <a:t>have the same size</a:t>
                </a:r>
                <a:r>
                  <a:rPr lang="en-US" sz="2000" dirty="0"/>
                  <a:t> if there is </a:t>
                </a:r>
                <a:br>
                  <a:rPr lang="en-US" sz="2000" dirty="0"/>
                </a:br>
                <a:r>
                  <a:rPr lang="en-US" sz="2000" dirty="0"/>
                  <a:t>a one-to-one and onto function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000" dirty="0"/>
                  <a:t> </a:t>
                </a:r>
              </a:p>
              <a:p>
                <a:pPr>
                  <a:spcBef>
                    <a:spcPts val="1200"/>
                  </a:spcBef>
                </a:pPr>
                <a:endParaRPr lang="en-US" sz="2000" dirty="0"/>
              </a:p>
              <a:p>
                <a:pPr>
                  <a:spcBef>
                    <a:spcPts val="3000"/>
                  </a:spcBef>
                </a:pPr>
                <a:r>
                  <a:rPr lang="en-US" sz="2000" dirty="0"/>
                  <a:t>Informally, two sets have the same size if we can pair up their members.</a:t>
                </a:r>
              </a:p>
              <a:p>
                <a:pPr>
                  <a:spcBef>
                    <a:spcPts val="1200"/>
                  </a:spcBef>
                </a:pPr>
                <a:r>
                  <a:rPr lang="en-US" sz="2000" dirty="0"/>
                  <a:t>This definition works for finite sets.</a:t>
                </a:r>
              </a:p>
              <a:p>
                <a:pPr>
                  <a:spcBef>
                    <a:spcPts val="1200"/>
                  </a:spcBef>
                </a:pPr>
                <a:r>
                  <a:rPr lang="en-US" sz="2000" dirty="0"/>
                  <a:t>Apply it to infinite sets too.</a:t>
                </a:r>
              </a:p>
              <a:p>
                <a:pPr>
                  <a:spcBef>
                    <a:spcPts val="1200"/>
                  </a:spcBef>
                </a:pPr>
                <a:endParaRPr lang="en-US" sz="2000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600" y="1131801"/>
                <a:ext cx="8428399" cy="4231928"/>
              </a:xfrm>
              <a:prstGeom prst="rect">
                <a:avLst/>
              </a:prstGeom>
              <a:blipFill>
                <a:blip r:embed="rId3"/>
                <a:stretch>
                  <a:fillRect l="-1158" t="-11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" name="Group 7"/>
          <p:cNvGrpSpPr/>
          <p:nvPr/>
        </p:nvGrpSpPr>
        <p:grpSpPr>
          <a:xfrm>
            <a:off x="633964" y="2733307"/>
            <a:ext cx="1172180" cy="788662"/>
            <a:chOff x="467263" y="2733307"/>
            <a:chExt cx="1172180" cy="788662"/>
          </a:xfrm>
        </p:grpSpPr>
        <p:sp>
          <p:nvSpPr>
            <p:cNvPr id="3" name="Left Bracket 2"/>
            <p:cNvSpPr/>
            <p:nvPr/>
          </p:nvSpPr>
          <p:spPr>
            <a:xfrm rot="16200000">
              <a:off x="969223" y="2238832"/>
              <a:ext cx="82532" cy="1071481"/>
            </a:xfrm>
            <a:prstGeom prst="leftBracket">
              <a:avLst>
                <a:gd name="adj" fmla="val 61826"/>
              </a:avLst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Rectangle 3"/>
                <p:cNvSpPr/>
                <p:nvPr/>
              </p:nvSpPr>
              <p:spPr>
                <a:xfrm>
                  <a:off x="467263" y="2783305"/>
                  <a:ext cx="1172180" cy="73866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≠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→</m:t>
                        </m:r>
                      </m:oMath>
                    </m:oMathPara>
                  </a14:m>
                  <a:endParaRPr lang="en-US" sz="1400" b="0" i="1" dirty="0">
                    <a:latin typeface="Cambria Math" panose="02040503050406030204" pitchFamily="18" charset="0"/>
                  </a:endParaRP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≠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</m:oMath>
                    </m:oMathPara>
                  </a14:m>
                  <a:endParaRPr lang="en-US" sz="1400" dirty="0"/>
                </a:p>
                <a:p>
                  <a:pPr algn="ctr"/>
                  <a:r>
                    <a:rPr lang="en-US" sz="1400" dirty="0"/>
                    <a:t>“injective”</a:t>
                  </a:r>
                </a:p>
              </p:txBody>
            </p:sp>
          </mc:Choice>
          <mc:Fallback xmlns="">
            <p:sp>
              <p:nvSpPr>
                <p:cNvPr id="4" name="Rectangle 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7263" y="2783305"/>
                  <a:ext cx="1172180" cy="738664"/>
                </a:xfrm>
                <a:prstGeom prst="rect">
                  <a:avLst/>
                </a:prstGeom>
                <a:blipFill>
                  <a:blip r:embed="rId4"/>
                  <a:stretch>
                    <a:fillRect b="-743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" name="Group 8"/>
          <p:cNvGrpSpPr/>
          <p:nvPr/>
        </p:nvGrpSpPr>
        <p:grpSpPr>
          <a:xfrm>
            <a:off x="1957856" y="2742040"/>
            <a:ext cx="1286891" cy="571241"/>
            <a:chOff x="1772105" y="2742040"/>
            <a:chExt cx="1286891" cy="571241"/>
          </a:xfrm>
        </p:grpSpPr>
        <p:sp>
          <p:nvSpPr>
            <p:cNvPr id="5" name="Left Bracket 4"/>
            <p:cNvSpPr/>
            <p:nvPr/>
          </p:nvSpPr>
          <p:spPr>
            <a:xfrm rot="16200000">
              <a:off x="2286408" y="2536848"/>
              <a:ext cx="82532" cy="492916"/>
            </a:xfrm>
            <a:prstGeom prst="leftBracket">
              <a:avLst>
                <a:gd name="adj" fmla="val 61826"/>
              </a:avLst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Rectangle 6"/>
                <p:cNvSpPr/>
                <p:nvPr/>
              </p:nvSpPr>
              <p:spPr>
                <a:xfrm>
                  <a:off x="1772105" y="2790061"/>
                  <a:ext cx="1286891" cy="52322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lang="en-US" sz="1400" dirty="0"/>
                    <a:t>Range </a:t>
                  </a:r>
                  <a14:m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a14:m>
                  <a:br>
                    <a:rPr lang="en-US" sz="1400" dirty="0"/>
                  </a:br>
                  <a:r>
                    <a:rPr lang="en-US" sz="1400" dirty="0"/>
                    <a:t>“surjective”</a:t>
                  </a:r>
                </a:p>
              </p:txBody>
            </p:sp>
          </mc:Choice>
          <mc:Fallback xmlns="">
            <p:sp>
              <p:nvSpPr>
                <p:cNvPr id="7" name="Rectangle 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72105" y="2790061"/>
                  <a:ext cx="1286891" cy="523220"/>
                </a:xfrm>
                <a:prstGeom prst="rect">
                  <a:avLst/>
                </a:prstGeom>
                <a:blipFill>
                  <a:blip r:embed="rId5"/>
                  <a:stretch>
                    <a:fillRect l="-948" t="-2326" b="-1046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/>
              <p:cNvSpPr/>
              <p:nvPr/>
            </p:nvSpPr>
            <p:spPr>
              <a:xfrm>
                <a:off x="3470594" y="3014540"/>
                <a:ext cx="4317336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2000" dirty="0"/>
                  <a:t>We call such an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sz="2000" dirty="0"/>
                  <a:t> a </a:t>
                </a:r>
                <a:r>
                  <a:rPr lang="en-US" sz="2000" u="sng" dirty="0"/>
                  <a:t>1-1 correspondence</a:t>
                </a:r>
              </a:p>
            </p:txBody>
          </p:sp>
        </mc:Choice>
        <mc:Fallback xmlns=""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70594" y="3014540"/>
                <a:ext cx="4317336" cy="400110"/>
              </a:xfrm>
              <a:prstGeom prst="rect">
                <a:avLst/>
              </a:prstGeom>
              <a:blipFill>
                <a:blip r:embed="rId6"/>
                <a:stretch>
                  <a:fillRect l="-1128" t="-9231" r="-987" b="-2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7" name="Group 16"/>
          <p:cNvGrpSpPr/>
          <p:nvPr/>
        </p:nvGrpSpPr>
        <p:grpSpPr>
          <a:xfrm>
            <a:off x="4919881" y="4931969"/>
            <a:ext cx="2471883" cy="503631"/>
            <a:chOff x="5291155" y="4449369"/>
            <a:chExt cx="2471883" cy="503631"/>
          </a:xfrm>
        </p:grpSpPr>
        <p:cxnSp>
          <p:nvCxnSpPr>
            <p:cNvPr id="15" name="Straight Arrow Connector 14"/>
            <p:cNvCxnSpPr/>
            <p:nvPr/>
          </p:nvCxnSpPr>
          <p:spPr>
            <a:xfrm flipH="1">
              <a:off x="5291155" y="4533900"/>
              <a:ext cx="252395" cy="323909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/>
            <p:cNvCxnSpPr/>
            <p:nvPr/>
          </p:nvCxnSpPr>
          <p:spPr>
            <a:xfrm flipH="1">
              <a:off x="5778810" y="4509276"/>
              <a:ext cx="144957" cy="443724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/>
            <p:cNvCxnSpPr/>
            <p:nvPr/>
          </p:nvCxnSpPr>
          <p:spPr>
            <a:xfrm flipH="1">
              <a:off x="6153399" y="4477987"/>
              <a:ext cx="117863" cy="443724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/>
            <p:cNvCxnSpPr/>
            <p:nvPr/>
          </p:nvCxnSpPr>
          <p:spPr>
            <a:xfrm flipH="1">
              <a:off x="6587750" y="4449369"/>
              <a:ext cx="58933" cy="453026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/>
            <p:cNvCxnSpPr/>
            <p:nvPr/>
          </p:nvCxnSpPr>
          <p:spPr>
            <a:xfrm flipH="1">
              <a:off x="7120163" y="4449369"/>
              <a:ext cx="30777" cy="472342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/>
            <p:cNvCxnSpPr/>
            <p:nvPr/>
          </p:nvCxnSpPr>
          <p:spPr>
            <a:xfrm>
              <a:off x="7457133" y="4477987"/>
              <a:ext cx="305905" cy="394131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Rectangle 27"/>
              <p:cNvSpPr/>
              <p:nvPr/>
            </p:nvSpPr>
            <p:spPr>
              <a:xfrm>
                <a:off x="4455821" y="4877788"/>
                <a:ext cx="380553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dirty="0"/>
                  <a:t>:</a:t>
                </a:r>
              </a:p>
            </p:txBody>
          </p:sp>
        </mc:Choice>
        <mc:Fallback xmlns="">
          <p:sp>
            <p:nvSpPr>
              <p:cNvPr id="28" name="Rectangle 2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5821" y="4877788"/>
                <a:ext cx="380553" cy="369332"/>
              </a:xfrm>
              <a:prstGeom prst="rect">
                <a:avLst/>
              </a:prstGeom>
              <a:blipFill>
                <a:blip r:embed="rId7"/>
                <a:stretch>
                  <a:fillRect l="-4839" t="-8197" r="-12903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6" name="Group 15"/>
          <p:cNvGrpSpPr/>
          <p:nvPr/>
        </p:nvGrpSpPr>
        <p:grpSpPr>
          <a:xfrm>
            <a:off x="4893026" y="4262083"/>
            <a:ext cx="2526542" cy="891706"/>
            <a:chOff x="5289073" y="3779525"/>
            <a:chExt cx="2526542" cy="891706"/>
          </a:xfrm>
        </p:grpSpPr>
        <p:pic>
          <p:nvPicPr>
            <p:cNvPr id="1026" name="Picture 2" descr="Puppies climbing transparent image Dog images"/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91154" y="3779525"/>
              <a:ext cx="2496776" cy="89170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9" name="Left Brace 28"/>
            <p:cNvSpPr/>
            <p:nvPr/>
          </p:nvSpPr>
          <p:spPr>
            <a:xfrm>
              <a:off x="5289073" y="4007644"/>
              <a:ext cx="57627" cy="456033"/>
            </a:xfrm>
            <a:prstGeom prst="leftBrace">
              <a:avLst>
                <a:gd name="adj1" fmla="val 103373"/>
                <a:gd name="adj2" fmla="val 49388"/>
              </a:avLst>
            </a:prstGeom>
            <a:ln w="127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Left Brace 33"/>
            <p:cNvSpPr/>
            <p:nvPr/>
          </p:nvSpPr>
          <p:spPr>
            <a:xfrm flipH="1">
              <a:off x="7763038" y="4007643"/>
              <a:ext cx="52577" cy="456033"/>
            </a:xfrm>
            <a:prstGeom prst="leftBrace">
              <a:avLst>
                <a:gd name="adj1" fmla="val 103373"/>
                <a:gd name="adj2" fmla="val 49388"/>
              </a:avLst>
            </a:prstGeom>
            <a:ln w="127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4571962" y="5211066"/>
            <a:ext cx="3215968" cy="1070680"/>
            <a:chOff x="4943236" y="4728466"/>
            <a:chExt cx="3215968" cy="1070680"/>
          </a:xfrm>
        </p:grpSpPr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972050" y="4728466"/>
              <a:ext cx="1903432" cy="1070680"/>
            </a:xfrm>
            <a:prstGeom prst="rect">
              <a:avLst/>
            </a:prstGeom>
          </p:spPr>
        </p:pic>
        <p:pic>
          <p:nvPicPr>
            <p:cNvPr id="12" name="Picture 11"/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46683" y="5001334"/>
              <a:ext cx="896456" cy="595880"/>
            </a:xfrm>
            <a:prstGeom prst="rect">
              <a:avLst/>
            </a:prstGeom>
          </p:spPr>
        </p:pic>
        <p:pic>
          <p:nvPicPr>
            <p:cNvPr id="13" name="Picture 12"/>
            <p:cNvPicPr>
              <a:picLocks noChangeAspect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98397" y="4857809"/>
              <a:ext cx="383227" cy="775338"/>
            </a:xfrm>
            <a:prstGeom prst="rect">
              <a:avLst/>
            </a:prstGeom>
          </p:spPr>
        </p:pic>
        <p:sp>
          <p:nvSpPr>
            <p:cNvPr id="35" name="Left Brace 34"/>
            <p:cNvSpPr/>
            <p:nvPr/>
          </p:nvSpPr>
          <p:spPr>
            <a:xfrm>
              <a:off x="4943236" y="4927179"/>
              <a:ext cx="57627" cy="693603"/>
            </a:xfrm>
            <a:prstGeom prst="leftBrace">
              <a:avLst>
                <a:gd name="adj1" fmla="val 103373"/>
                <a:gd name="adj2" fmla="val 49388"/>
              </a:avLst>
            </a:prstGeom>
            <a:ln w="127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Left Brace 35"/>
            <p:cNvSpPr/>
            <p:nvPr/>
          </p:nvSpPr>
          <p:spPr>
            <a:xfrm flipH="1">
              <a:off x="8095915" y="4918581"/>
              <a:ext cx="63289" cy="693603"/>
            </a:xfrm>
            <a:prstGeom prst="leftBrace">
              <a:avLst>
                <a:gd name="adj1" fmla="val 103373"/>
                <a:gd name="adj2" fmla="val 49388"/>
              </a:avLst>
            </a:prstGeom>
            <a:ln w="127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5BFD44AC-3913-C04D-87B7-82F97E09FADB}"/>
              </a:ext>
            </a:extLst>
          </p:cNvPr>
          <p:cNvSpPr txBox="1"/>
          <p:nvPr/>
        </p:nvSpPr>
        <p:spPr>
          <a:xfrm>
            <a:off x="5777345" y="64008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5883979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uiExpand="1" build="p"/>
      <p:bldP spid="10" grpId="0"/>
      <p:bldP spid="2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6" name="Table 15"/>
              <p:cNvGraphicFramePr>
                <a:graphicFrameLocks noGrp="1"/>
              </p:cNvGraphicFramePr>
              <p:nvPr/>
            </p:nvGraphicFramePr>
            <p:xfrm>
              <a:off x="1005566" y="3731807"/>
              <a:ext cx="3046350" cy="222504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507725">
                      <a:extLst>
                        <a:ext uri="{9D8B030D-6E8A-4147-A177-3AD203B41FA5}">
                          <a16:colId xmlns:a16="http://schemas.microsoft.com/office/drawing/2014/main" val="38887834"/>
                        </a:ext>
                      </a:extLst>
                    </a:gridCol>
                    <a:gridCol w="507725">
                      <a:extLst>
                        <a:ext uri="{9D8B030D-6E8A-4147-A177-3AD203B41FA5}">
                          <a16:colId xmlns:a16="http://schemas.microsoft.com/office/drawing/2014/main" val="1166528648"/>
                        </a:ext>
                      </a:extLst>
                    </a:gridCol>
                    <a:gridCol w="507725">
                      <a:extLst>
                        <a:ext uri="{9D8B030D-6E8A-4147-A177-3AD203B41FA5}">
                          <a16:colId xmlns:a16="http://schemas.microsoft.com/office/drawing/2014/main" val="3573745861"/>
                        </a:ext>
                      </a:extLst>
                    </a:gridCol>
                    <a:gridCol w="507725">
                      <a:extLst>
                        <a:ext uri="{9D8B030D-6E8A-4147-A177-3AD203B41FA5}">
                          <a16:colId xmlns:a16="http://schemas.microsoft.com/office/drawing/2014/main" val="1111035526"/>
                        </a:ext>
                      </a:extLst>
                    </a:gridCol>
                    <a:gridCol w="507725">
                      <a:extLst>
                        <a:ext uri="{9D8B030D-6E8A-4147-A177-3AD203B41FA5}">
                          <a16:colId xmlns:a16="http://schemas.microsoft.com/office/drawing/2014/main" val="2798566489"/>
                        </a:ext>
                      </a:extLst>
                    </a:gridCol>
                    <a:gridCol w="507725">
                      <a:extLst>
                        <a:ext uri="{9D8B030D-6E8A-4147-A177-3AD203B41FA5}">
                          <a16:colId xmlns:a16="http://schemas.microsoft.com/office/drawing/2014/main" val="381138514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ℚ</m:t>
                                    </m:r>
                                  </m:e>
                                  <m:sup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</a:t>
                          </a:r>
                        </a:p>
                      </a:txBody>
                      <a:tcP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3</a:t>
                          </a:r>
                        </a:p>
                      </a:txBody>
                      <a:tcP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4</a:t>
                          </a:r>
                        </a:p>
                      </a:txBody>
                      <a:tcP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…</a:t>
                          </a:r>
                        </a:p>
                      </a:txBody>
                      <a:tcP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59396842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1/1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1/2</a:t>
                          </a: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1/3</a:t>
                          </a: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1/4</a:t>
                          </a: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extLst>
                      <a:ext uri="{0D108BD9-81ED-4DB2-BD59-A6C34878D82A}">
                        <a16:rowId xmlns:a16="http://schemas.microsoft.com/office/drawing/2014/main" val="11418337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</a:t>
                          </a: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2/1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2/2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2/3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2/4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…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2433698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3</a:t>
                          </a: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3/1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3/2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3/3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3/4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3123685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4</a:t>
                          </a: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4/1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4/2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4/3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4/4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5895653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1800" dirty="0"/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1611106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6" name="Table 1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88676669"/>
                  </p:ext>
                </p:extLst>
              </p:nvPr>
            </p:nvGraphicFramePr>
            <p:xfrm>
              <a:off x="1005566" y="3731807"/>
              <a:ext cx="3046350" cy="222504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507725">
                      <a:extLst>
                        <a:ext uri="{9D8B030D-6E8A-4147-A177-3AD203B41FA5}">
                          <a16:colId xmlns:a16="http://schemas.microsoft.com/office/drawing/2014/main" val="38887834"/>
                        </a:ext>
                      </a:extLst>
                    </a:gridCol>
                    <a:gridCol w="507725">
                      <a:extLst>
                        <a:ext uri="{9D8B030D-6E8A-4147-A177-3AD203B41FA5}">
                          <a16:colId xmlns:a16="http://schemas.microsoft.com/office/drawing/2014/main" val="1166528648"/>
                        </a:ext>
                      </a:extLst>
                    </a:gridCol>
                    <a:gridCol w="507725">
                      <a:extLst>
                        <a:ext uri="{9D8B030D-6E8A-4147-A177-3AD203B41FA5}">
                          <a16:colId xmlns:a16="http://schemas.microsoft.com/office/drawing/2014/main" val="3573745861"/>
                        </a:ext>
                      </a:extLst>
                    </a:gridCol>
                    <a:gridCol w="507725">
                      <a:extLst>
                        <a:ext uri="{9D8B030D-6E8A-4147-A177-3AD203B41FA5}">
                          <a16:colId xmlns:a16="http://schemas.microsoft.com/office/drawing/2014/main" val="1111035526"/>
                        </a:ext>
                      </a:extLst>
                    </a:gridCol>
                    <a:gridCol w="507725">
                      <a:extLst>
                        <a:ext uri="{9D8B030D-6E8A-4147-A177-3AD203B41FA5}">
                          <a16:colId xmlns:a16="http://schemas.microsoft.com/office/drawing/2014/main" val="2798566489"/>
                        </a:ext>
                      </a:extLst>
                    </a:gridCol>
                    <a:gridCol w="507725">
                      <a:extLst>
                        <a:ext uri="{9D8B030D-6E8A-4147-A177-3AD203B41FA5}">
                          <a16:colId xmlns:a16="http://schemas.microsoft.com/office/drawing/2014/main" val="381138514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t="-8197" r="-497619" b="-5016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1</a:t>
                          </a:r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2</a:t>
                          </a:r>
                          <a:endParaRPr lang="en-US" dirty="0"/>
                        </a:p>
                      </a:txBody>
                      <a:tcP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3</a:t>
                          </a:r>
                          <a:endParaRPr lang="en-US" dirty="0"/>
                        </a:p>
                      </a:txBody>
                      <a:tcP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4</a:t>
                          </a:r>
                          <a:endParaRPr lang="en-US" dirty="0"/>
                        </a:p>
                      </a:txBody>
                      <a:tcP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…</a:t>
                          </a:r>
                          <a:endParaRPr lang="en-US" dirty="0"/>
                        </a:p>
                      </a:txBody>
                      <a:tcP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59396842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1</a:t>
                          </a:r>
                          <a:endParaRPr lang="en-US" dirty="0"/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1/1</a:t>
                          </a:r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1/2</a:t>
                          </a:r>
                          <a:endParaRPr lang="en-US" dirty="0"/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1/3</a:t>
                          </a:r>
                          <a:endParaRPr lang="en-US" dirty="0"/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1/4</a:t>
                          </a:r>
                          <a:endParaRPr lang="en-US" dirty="0"/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extLst>
                      <a:ext uri="{0D108BD9-81ED-4DB2-BD59-A6C34878D82A}">
                        <a16:rowId xmlns:a16="http://schemas.microsoft.com/office/drawing/2014/main" val="11418337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2</a:t>
                          </a:r>
                          <a:endParaRPr lang="en-US" dirty="0"/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2/1</a:t>
                          </a:r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2/2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2/3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2/4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…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2433698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3</a:t>
                          </a:r>
                          <a:endParaRPr lang="en-US" dirty="0"/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3/1</a:t>
                          </a:r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3/2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3/3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3/4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3123685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4</a:t>
                          </a:r>
                          <a:endParaRPr lang="en-US" dirty="0"/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4/1</a:t>
                          </a:r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4/2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4/3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4/4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5895653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3"/>
                          <a:stretch>
                            <a:fillRect t="-508197" r="-497619" b="-16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98810" t="-508197" r="-298810" b="-16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1611106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TextBox 1"/>
          <p:cNvSpPr txBox="1"/>
          <p:nvPr/>
        </p:nvSpPr>
        <p:spPr>
          <a:xfrm>
            <a:off x="2" y="0"/>
            <a:ext cx="844692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Countable Sets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334601" y="1131801"/>
                <a:ext cx="7455410" cy="23698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600"/>
                  </a:spcBef>
                </a:pPr>
                <a:r>
                  <a:rPr lang="en-US" sz="24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Let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ℕ</m:t>
                    </m:r>
                    <m:r>
                      <a:rPr lang="en-US" sz="2400" b="0" i="1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={1,2,3,…}</m:t>
                    </m:r>
                  </m:oMath>
                </a14:m>
                <a:r>
                  <a:rPr lang="en-US" sz="24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 and let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ℤ</m:t>
                    </m:r>
                    <m:r>
                      <a:rPr lang="en-US" sz="2400" b="0" i="1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={…,−2,−1,0,1,2,…}</m:t>
                    </m:r>
                  </m:oMath>
                </a14:m>
                <a:r>
                  <a:rPr lang="en-US" sz="24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  </a:t>
                </a:r>
              </a:p>
              <a:p>
                <a:pPr>
                  <a:spcBef>
                    <a:spcPts val="1200"/>
                  </a:spcBef>
                </a:pPr>
                <a:r>
                  <a:rPr lang="en-US" sz="2000" dirty="0"/>
                  <a:t>Show</a:t>
                </a:r>
                <a:r>
                  <a:rPr lang="en-US" sz="2000" b="1" dirty="0"/>
                  <a:t>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latin typeface="Cambria Math" panose="02040503050406030204" pitchFamily="18" charset="0"/>
                      </a:rPr>
                      <m:t>ℕ</m:t>
                    </m:r>
                    <m:r>
                      <a:rPr lang="en-US" sz="2000" b="1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/>
                  <a:t>and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ℤ</m:t>
                    </m:r>
                  </m:oMath>
                </a14:m>
                <a:r>
                  <a:rPr lang="en-US" sz="2000" dirty="0"/>
                  <a:t>  have the same size </a:t>
                </a:r>
              </a:p>
              <a:p>
                <a:pPr>
                  <a:spcBef>
                    <a:spcPts val="1200"/>
                  </a:spcBef>
                </a:pPr>
                <a:endParaRPr lang="en-US" sz="2000" dirty="0"/>
              </a:p>
              <a:p>
                <a:pPr>
                  <a:spcBef>
                    <a:spcPts val="1200"/>
                  </a:spcBef>
                </a:pPr>
                <a:r>
                  <a:rPr lang="en-US" sz="24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Let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0" i="1" smtClean="0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ℚ</m:t>
                        </m:r>
                      </m:e>
                      <m:sup>
                        <m:r>
                          <a:rPr lang="en-US" sz="2400" b="0" i="1" smtClean="0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  <m:r>
                      <a:rPr lang="en-US" sz="2400" i="1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|"/>
                        <m:ctrlPr>
                          <a:rPr lang="en-US" sz="2400" b="0" i="1" smtClean="0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f>
                          <m:fPr>
                            <m:type m:val="skw"/>
                            <m:ctrlPr>
                              <a:rPr lang="en-US" sz="2400" b="0" i="1" smtClean="0">
                                <a:solidFill>
                                  <a:schemeClr val="accent1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b="0" i="1" smtClean="0">
                                <a:solidFill>
                                  <a:schemeClr val="accent1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num>
                          <m:den>
                            <m:r>
                              <a:rPr lang="en-US" sz="2400" b="0" i="1" smtClean="0">
                                <a:solidFill>
                                  <a:schemeClr val="accent1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  <m:r>
                          <a:rPr lang="en-US" sz="2400" b="0" i="1" smtClean="0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sz="2400" b="0" i="1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1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400" b="0" i="1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0" i="1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b="0" i="1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400" b="0" i="1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ℕ</m:t>
                    </m:r>
                    <m:r>
                      <a:rPr lang="en-US" sz="2400" b="0" i="1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sz="2400" dirty="0"/>
              </a:p>
              <a:p>
                <a:pPr>
                  <a:spcBef>
                    <a:spcPts val="1200"/>
                  </a:spcBef>
                </a:pPr>
                <a:r>
                  <a:rPr lang="en-US" sz="2000" dirty="0"/>
                  <a:t>Show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ℕ</m:t>
                    </m:r>
                  </m:oMath>
                </a14:m>
                <a:r>
                  <a:rPr lang="en-US" sz="2000" dirty="0"/>
                  <a:t>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ℚ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sz="2000" dirty="0"/>
                  <a:t> have the same size</a:t>
                </a: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601" y="1131801"/>
                <a:ext cx="7455410" cy="2369880"/>
              </a:xfrm>
              <a:prstGeom prst="rect">
                <a:avLst/>
              </a:prstGeom>
              <a:blipFill>
                <a:blip r:embed="rId4"/>
                <a:stretch>
                  <a:fillRect l="-1308" t="-2062" b="-177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le 7"/>
              <p:cNvGraphicFramePr>
                <a:graphicFrameLocks noGrp="1"/>
              </p:cNvGraphicFramePr>
              <p:nvPr/>
            </p:nvGraphicFramePr>
            <p:xfrm>
              <a:off x="6236996" y="1702863"/>
              <a:ext cx="982980" cy="277368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449580">
                      <a:extLst>
                        <a:ext uri="{9D8B030D-6E8A-4147-A177-3AD203B41FA5}">
                          <a16:colId xmlns:a16="http://schemas.microsoft.com/office/drawing/2014/main" val="3843652384"/>
                        </a:ext>
                      </a:extLst>
                    </a:gridCol>
                    <a:gridCol w="533400">
                      <a:extLst>
                        <a:ext uri="{9D8B030D-6E8A-4147-A177-3AD203B41FA5}">
                          <a16:colId xmlns:a16="http://schemas.microsoft.com/office/drawing/2014/main" val="3089216751"/>
                        </a:ext>
                      </a:extLst>
                    </a:gridCol>
                  </a:tblGrid>
                  <a:tr h="312123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905524638"/>
                      </a:ext>
                    </a:extLst>
                  </a:tr>
                  <a:tr h="2867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1</a:t>
                          </a: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extLst>
                      <a:ext uri="{0D108BD9-81ED-4DB2-BD59-A6C34878D82A}">
                        <a16:rowId xmlns:a16="http://schemas.microsoft.com/office/drawing/2014/main" val="1164458187"/>
                      </a:ext>
                    </a:extLst>
                  </a:tr>
                  <a:tr h="2867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2</a:t>
                          </a: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-1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1409933935"/>
                      </a:ext>
                    </a:extLst>
                  </a:tr>
                  <a:tr h="2867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3</a:t>
                          </a: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1209745991"/>
                      </a:ext>
                    </a:extLst>
                  </a:tr>
                  <a:tr h="2867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4</a:t>
                          </a: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-2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216707360"/>
                      </a:ext>
                    </a:extLst>
                  </a:tr>
                  <a:tr h="2867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5</a:t>
                          </a: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2341548049"/>
                      </a:ext>
                    </a:extLst>
                  </a:tr>
                  <a:tr h="2867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6</a:t>
                          </a: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-3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1426743"/>
                      </a:ext>
                    </a:extLst>
                  </a:tr>
                  <a:tr h="2867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7</a:t>
                          </a: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3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2811960432"/>
                      </a:ext>
                    </a:extLst>
                  </a:tr>
                  <a:tr h="2867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0" dirty="0"/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oMath>
                          </a14:m>
                          <a:endParaRPr lang="en-US" sz="1400" dirty="0"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b="0" dirty="0"/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oMath>
                          </a14:m>
                          <a:endParaRPr lang="en-US" sz="1400" dirty="0"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61599802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le 7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8289227"/>
                  </p:ext>
                </p:extLst>
              </p:nvPr>
            </p:nvGraphicFramePr>
            <p:xfrm>
              <a:off x="6236996" y="1702863"/>
              <a:ext cx="982980" cy="277368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449580">
                      <a:extLst>
                        <a:ext uri="{9D8B030D-6E8A-4147-A177-3AD203B41FA5}">
                          <a16:colId xmlns:a16="http://schemas.microsoft.com/office/drawing/2014/main" val="3843652384"/>
                        </a:ext>
                      </a:extLst>
                    </a:gridCol>
                    <a:gridCol w="533400">
                      <a:extLst>
                        <a:ext uri="{9D8B030D-6E8A-4147-A177-3AD203B41FA5}">
                          <a16:colId xmlns:a16="http://schemas.microsoft.com/office/drawing/2014/main" val="3089216751"/>
                        </a:ext>
                      </a:extLst>
                    </a:gridCol>
                  </a:tblGrid>
                  <a:tr h="3352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r="-120270" b="-73090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84091" r="-1136" b="-73090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05524638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1</a:t>
                          </a:r>
                          <a:endParaRPr lang="en-US" sz="1400" dirty="0"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0</a:t>
                          </a:r>
                          <a:endParaRPr lang="en-US" sz="1400" dirty="0"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extLst>
                      <a:ext uri="{0D108BD9-81ED-4DB2-BD59-A6C34878D82A}">
                        <a16:rowId xmlns:a16="http://schemas.microsoft.com/office/drawing/2014/main" val="1164458187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2</a:t>
                          </a:r>
                          <a:endParaRPr lang="en-US" sz="1400" dirty="0"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-1</a:t>
                          </a:r>
                          <a:endParaRPr lang="en-US" sz="1400" dirty="0"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1409933935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3</a:t>
                          </a:r>
                          <a:endParaRPr lang="en-US" sz="1400" dirty="0"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1</a:t>
                          </a:r>
                          <a:endParaRPr lang="en-US" sz="1400" dirty="0"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1209745991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4</a:t>
                          </a:r>
                          <a:endParaRPr lang="en-US" sz="1400" dirty="0"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-2</a:t>
                          </a:r>
                          <a:endParaRPr lang="en-US" sz="1400" dirty="0"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216707360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5</a:t>
                          </a:r>
                          <a:endParaRPr lang="en-US" sz="1400" dirty="0"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2</a:t>
                          </a:r>
                          <a:endParaRPr lang="en-US" sz="1400" dirty="0"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234154804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6</a:t>
                          </a:r>
                          <a:endParaRPr lang="en-US" sz="1400" dirty="0"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-3</a:t>
                          </a:r>
                          <a:endParaRPr lang="en-US" sz="1400" dirty="0"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1426743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7</a:t>
                          </a:r>
                          <a:endParaRPr lang="en-US" sz="1400" dirty="0"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3</a:t>
                          </a:r>
                          <a:endParaRPr lang="en-US" sz="1400" dirty="0"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2811960432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5"/>
                          <a:stretch>
                            <a:fillRect t="-812000" r="-120270" b="-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blipFill>
                          <a:blip r:embed="rId5"/>
                          <a:stretch>
                            <a:fillRect l="-84091" t="-812000" r="-1136" b="-2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1599802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6034857" y="2042048"/>
                <a:ext cx="40427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>
                          <a:latin typeface="Cambria Math" panose="02040503050406030204" pitchFamily="18" charset="0"/>
                        </a:rPr>
                        <m:t>ℕ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34857" y="2042048"/>
                <a:ext cx="404278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/>
              <p:cNvSpPr/>
              <p:nvPr/>
            </p:nvSpPr>
            <p:spPr>
              <a:xfrm>
                <a:off x="6988431" y="2042048"/>
                <a:ext cx="37702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ℤ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Rectangle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8431" y="2042048"/>
                <a:ext cx="377026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1" name="Table 30"/>
              <p:cNvGraphicFramePr>
                <a:graphicFrameLocks noGrp="1"/>
              </p:cNvGraphicFramePr>
              <p:nvPr/>
            </p:nvGraphicFramePr>
            <p:xfrm>
              <a:off x="4733053" y="3457487"/>
              <a:ext cx="982980" cy="277368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449580">
                      <a:extLst>
                        <a:ext uri="{9D8B030D-6E8A-4147-A177-3AD203B41FA5}">
                          <a16:colId xmlns:a16="http://schemas.microsoft.com/office/drawing/2014/main" val="3843652384"/>
                        </a:ext>
                      </a:extLst>
                    </a:gridCol>
                    <a:gridCol w="533400">
                      <a:extLst>
                        <a:ext uri="{9D8B030D-6E8A-4147-A177-3AD203B41FA5}">
                          <a16:colId xmlns:a16="http://schemas.microsoft.com/office/drawing/2014/main" val="3089216751"/>
                        </a:ext>
                      </a:extLst>
                    </a:gridCol>
                  </a:tblGrid>
                  <a:tr h="312123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905524638"/>
                      </a:ext>
                    </a:extLst>
                  </a:tr>
                  <a:tr h="2867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1</a:t>
                          </a: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1/1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extLst>
                      <a:ext uri="{0D108BD9-81ED-4DB2-BD59-A6C34878D82A}">
                        <a16:rowId xmlns:a16="http://schemas.microsoft.com/office/drawing/2014/main" val="1164458187"/>
                      </a:ext>
                    </a:extLst>
                  </a:tr>
                  <a:tr h="2867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2</a:t>
                          </a: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2/1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1409933935"/>
                      </a:ext>
                    </a:extLst>
                  </a:tr>
                  <a:tr h="2867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3</a:t>
                          </a: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1/2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1209745991"/>
                      </a:ext>
                    </a:extLst>
                  </a:tr>
                  <a:tr h="2867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4</a:t>
                          </a: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3/1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216707360"/>
                      </a:ext>
                    </a:extLst>
                  </a:tr>
                  <a:tr h="2867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5</a:t>
                          </a: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3/2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2341548049"/>
                      </a:ext>
                    </a:extLst>
                  </a:tr>
                  <a:tr h="2867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6</a:t>
                          </a: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2/3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1426743"/>
                      </a:ext>
                    </a:extLst>
                  </a:tr>
                  <a:tr h="2867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7</a:t>
                          </a: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1/3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2811960432"/>
                      </a:ext>
                    </a:extLst>
                  </a:tr>
                  <a:tr h="2867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0" dirty="0"/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oMath>
                          </a14:m>
                          <a:endParaRPr lang="en-US" sz="1400" dirty="0"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b="0" dirty="0"/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oMath>
                          </a14:m>
                          <a:endParaRPr lang="en-US" sz="1400" dirty="0"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61599802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1" name="Table 30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88599418"/>
                  </p:ext>
                </p:extLst>
              </p:nvPr>
            </p:nvGraphicFramePr>
            <p:xfrm>
              <a:off x="4733053" y="3457487"/>
              <a:ext cx="982980" cy="277368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449580">
                      <a:extLst>
                        <a:ext uri="{9D8B030D-6E8A-4147-A177-3AD203B41FA5}">
                          <a16:colId xmlns:a16="http://schemas.microsoft.com/office/drawing/2014/main" val="3843652384"/>
                        </a:ext>
                      </a:extLst>
                    </a:gridCol>
                    <a:gridCol w="533400">
                      <a:extLst>
                        <a:ext uri="{9D8B030D-6E8A-4147-A177-3AD203B41FA5}">
                          <a16:colId xmlns:a16="http://schemas.microsoft.com/office/drawing/2014/main" val="3089216751"/>
                        </a:ext>
                      </a:extLst>
                    </a:gridCol>
                  </a:tblGrid>
                  <a:tr h="3352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8"/>
                          <a:stretch>
                            <a:fillRect r="-120270" b="-73090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8"/>
                          <a:stretch>
                            <a:fillRect l="-84091" r="-1136" b="-73090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05524638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1</a:t>
                          </a:r>
                          <a:endParaRPr lang="en-US" sz="1400" dirty="0"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1/1</a:t>
                          </a:r>
                          <a:endParaRPr lang="en-US" sz="1400" dirty="0"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extLst>
                      <a:ext uri="{0D108BD9-81ED-4DB2-BD59-A6C34878D82A}">
                        <a16:rowId xmlns:a16="http://schemas.microsoft.com/office/drawing/2014/main" val="1164458187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2</a:t>
                          </a:r>
                          <a:endParaRPr lang="en-US" sz="1400" dirty="0"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2/1</a:t>
                          </a:r>
                          <a:endParaRPr lang="en-US" sz="1400" dirty="0"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1409933935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3</a:t>
                          </a:r>
                          <a:endParaRPr lang="en-US" sz="1400" dirty="0"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1/2</a:t>
                          </a:r>
                          <a:endParaRPr lang="en-US" sz="1400" dirty="0"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1209745991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4</a:t>
                          </a:r>
                          <a:endParaRPr lang="en-US" sz="1400" dirty="0"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3/1</a:t>
                          </a:r>
                          <a:endParaRPr lang="en-US" sz="1400" dirty="0"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216707360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5</a:t>
                          </a:r>
                          <a:endParaRPr lang="en-US" sz="1400" dirty="0"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3/2</a:t>
                          </a:r>
                          <a:endParaRPr lang="en-US" sz="1400" dirty="0"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234154804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6</a:t>
                          </a:r>
                          <a:endParaRPr lang="en-US" sz="1400" dirty="0"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2/3</a:t>
                          </a:r>
                          <a:endParaRPr lang="en-US" sz="1400" dirty="0"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1426743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7</a:t>
                          </a:r>
                          <a:endParaRPr lang="en-US" sz="1400" dirty="0"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1/3</a:t>
                          </a:r>
                          <a:endParaRPr lang="en-US" sz="1400" dirty="0"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2811960432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8"/>
                          <a:stretch>
                            <a:fillRect t="-812000" r="-120270" b="-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blipFill>
                          <a:blip r:embed="rId8"/>
                          <a:stretch>
                            <a:fillRect l="-84091" t="-812000" r="-1136" b="-2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1599802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8" name="Rounded Rectangle 17"/>
          <p:cNvSpPr/>
          <p:nvPr/>
        </p:nvSpPr>
        <p:spPr>
          <a:xfrm>
            <a:off x="1549400" y="4152900"/>
            <a:ext cx="425450" cy="26670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ounded Rectangle 31"/>
          <p:cNvSpPr/>
          <p:nvPr/>
        </p:nvSpPr>
        <p:spPr>
          <a:xfrm>
            <a:off x="1549400" y="4528913"/>
            <a:ext cx="425450" cy="26670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ounded Rectangle 32"/>
          <p:cNvSpPr/>
          <p:nvPr/>
        </p:nvSpPr>
        <p:spPr>
          <a:xfrm>
            <a:off x="1549400" y="4911276"/>
            <a:ext cx="425450" cy="26670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ounded Rectangle 37"/>
          <p:cNvSpPr/>
          <p:nvPr/>
        </p:nvSpPr>
        <p:spPr>
          <a:xfrm>
            <a:off x="2070363" y="4152900"/>
            <a:ext cx="425450" cy="26670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ounded Rectangle 39"/>
          <p:cNvSpPr/>
          <p:nvPr/>
        </p:nvSpPr>
        <p:spPr>
          <a:xfrm>
            <a:off x="2070363" y="4911276"/>
            <a:ext cx="425450" cy="26670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ounded Rectangle 41"/>
          <p:cNvSpPr/>
          <p:nvPr/>
        </p:nvSpPr>
        <p:spPr>
          <a:xfrm>
            <a:off x="2578363" y="4152900"/>
            <a:ext cx="425450" cy="26670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ounded Rectangle 42"/>
          <p:cNvSpPr/>
          <p:nvPr/>
        </p:nvSpPr>
        <p:spPr>
          <a:xfrm>
            <a:off x="2578363" y="4528913"/>
            <a:ext cx="425450" cy="26670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Arrow Connector 20"/>
          <p:cNvCxnSpPr/>
          <p:nvPr/>
        </p:nvCxnSpPr>
        <p:spPr>
          <a:xfrm>
            <a:off x="1974850" y="4657518"/>
            <a:ext cx="92075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/>
          <p:nvPr/>
        </p:nvCxnSpPr>
        <p:spPr>
          <a:xfrm>
            <a:off x="1974850" y="5041693"/>
            <a:ext cx="92075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/>
          <p:cNvCxnSpPr/>
          <p:nvPr/>
        </p:nvCxnSpPr>
        <p:spPr>
          <a:xfrm>
            <a:off x="2489463" y="5041693"/>
            <a:ext cx="92075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/>
          <p:nvPr/>
        </p:nvCxnSpPr>
        <p:spPr>
          <a:xfrm flipV="1">
            <a:off x="2790179" y="4792437"/>
            <a:ext cx="909" cy="115664"/>
          </a:xfrm>
          <a:prstGeom prst="straightConnector1">
            <a:avLst/>
          </a:prstGeom>
          <a:ln w="9525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/>
          <p:cNvCxnSpPr/>
          <p:nvPr/>
        </p:nvCxnSpPr>
        <p:spPr>
          <a:xfrm flipV="1">
            <a:off x="2790179" y="4411797"/>
            <a:ext cx="909" cy="115664"/>
          </a:xfrm>
          <a:prstGeom prst="straightConnector1">
            <a:avLst/>
          </a:prstGeom>
          <a:ln w="9525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/>
          <p:cNvCxnSpPr/>
          <p:nvPr/>
        </p:nvCxnSpPr>
        <p:spPr>
          <a:xfrm flipV="1">
            <a:off x="2285617" y="4411797"/>
            <a:ext cx="909" cy="115664"/>
          </a:xfrm>
          <a:prstGeom prst="straightConnector1">
            <a:avLst/>
          </a:prstGeom>
          <a:ln w="9525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Rounded Rectangle 54"/>
          <p:cNvSpPr/>
          <p:nvPr/>
        </p:nvSpPr>
        <p:spPr>
          <a:xfrm>
            <a:off x="1549400" y="5284356"/>
            <a:ext cx="425450" cy="26670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8" name="Straight Arrow Connector 57"/>
          <p:cNvCxnSpPr/>
          <p:nvPr/>
        </p:nvCxnSpPr>
        <p:spPr>
          <a:xfrm>
            <a:off x="1974850" y="5414773"/>
            <a:ext cx="92075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/>
          <p:cNvCxnSpPr/>
          <p:nvPr/>
        </p:nvCxnSpPr>
        <p:spPr>
          <a:xfrm>
            <a:off x="2489463" y="5414773"/>
            <a:ext cx="92075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/>
          <p:cNvCxnSpPr/>
          <p:nvPr/>
        </p:nvCxnSpPr>
        <p:spPr>
          <a:xfrm flipV="1">
            <a:off x="3298179" y="5165517"/>
            <a:ext cx="909" cy="115664"/>
          </a:xfrm>
          <a:prstGeom prst="straightConnector1">
            <a:avLst/>
          </a:prstGeom>
          <a:ln w="9525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Rounded Rectangle 62"/>
          <p:cNvSpPr/>
          <p:nvPr/>
        </p:nvSpPr>
        <p:spPr>
          <a:xfrm>
            <a:off x="2580952" y="5284356"/>
            <a:ext cx="425450" cy="26670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4" name="Straight Arrow Connector 63"/>
          <p:cNvCxnSpPr/>
          <p:nvPr/>
        </p:nvCxnSpPr>
        <p:spPr>
          <a:xfrm>
            <a:off x="3000052" y="5414773"/>
            <a:ext cx="92075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5" name="Rectangle 64"/>
              <p:cNvSpPr/>
              <p:nvPr/>
            </p:nvSpPr>
            <p:spPr>
              <a:xfrm>
                <a:off x="4544540" y="3894017"/>
                <a:ext cx="40427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>
                          <a:latin typeface="Cambria Math" panose="02040503050406030204" pitchFamily="18" charset="0"/>
                        </a:rPr>
                        <m:t>ℕ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5" name="Rectangle 6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4540" y="3894017"/>
                <a:ext cx="404278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Rectangle 65"/>
              <p:cNvSpPr/>
              <p:nvPr/>
            </p:nvSpPr>
            <p:spPr>
              <a:xfrm>
                <a:off x="5564771" y="3894017"/>
                <a:ext cx="54527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ℚ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6" name="Rectangle 6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4771" y="3894017"/>
                <a:ext cx="545277" cy="369332"/>
              </a:xfrm>
              <a:prstGeom prst="rect">
                <a:avLst/>
              </a:prstGeom>
              <a:blipFill>
                <a:blip r:embed="rId10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extBox 66"/>
              <p:cNvSpPr txBox="1"/>
              <p:nvPr/>
            </p:nvSpPr>
            <p:spPr>
              <a:xfrm>
                <a:off x="7156685" y="4844327"/>
                <a:ext cx="4698885" cy="13542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1200"/>
                  </a:spcBef>
                </a:pPr>
                <a:r>
                  <a:rPr lang="en-US" sz="2400" b="1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Defn:  </a:t>
                </a:r>
                <a:r>
                  <a:rPr lang="en-US" sz="24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A set is </a:t>
                </a:r>
                <a:r>
                  <a:rPr lang="en-US" sz="2400" u="sng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countable</a:t>
                </a:r>
                <a:r>
                  <a:rPr lang="en-US" sz="24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 if it is finite or it has the same size as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ℕ</m:t>
                    </m:r>
                  </m:oMath>
                </a14:m>
                <a:r>
                  <a:rPr lang="en-US" sz="24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. </a:t>
                </a:r>
              </a:p>
              <a:p>
                <a:pPr>
                  <a:spcBef>
                    <a:spcPts val="1200"/>
                  </a:spcBef>
                </a:pPr>
                <a:r>
                  <a:rPr lang="en-US" sz="2400" dirty="0"/>
                  <a:t>Both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ℤ</m:t>
                    </m:r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ℚ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sz="2400" dirty="0"/>
                  <a:t> are countable.</a:t>
                </a:r>
              </a:p>
            </p:txBody>
          </p:sp>
        </mc:Choice>
        <mc:Fallback xmlns="">
          <p:sp>
            <p:nvSpPr>
              <p:cNvPr id="67" name="TextBox 6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56685" y="4844327"/>
                <a:ext cx="4698885" cy="1354217"/>
              </a:xfrm>
              <a:prstGeom prst="rect">
                <a:avLst/>
              </a:prstGeom>
              <a:blipFill>
                <a:blip r:embed="rId11"/>
                <a:stretch>
                  <a:fillRect l="-2075" t="-3604" r="-1686" b="-94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4" name="Rounded Rectangle 73"/>
          <p:cNvSpPr/>
          <p:nvPr/>
        </p:nvSpPr>
        <p:spPr>
          <a:xfrm>
            <a:off x="3068423" y="4911276"/>
            <a:ext cx="425450" cy="26670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Fill Rect 4/4"/>
          <p:cNvSpPr/>
          <p:nvPr/>
        </p:nvSpPr>
        <p:spPr>
          <a:xfrm>
            <a:off x="3086363" y="5281423"/>
            <a:ext cx="425450" cy="266700"/>
          </a:xfrm>
          <a:prstGeom prst="roundRect">
            <a:avLst/>
          </a:prstGeom>
          <a:solidFill>
            <a:srgbClr val="000000">
              <a:alpha val="67059"/>
            </a:srgbClr>
          </a:solidFill>
          <a:ln>
            <a:solidFill>
              <a:schemeClr val="tx1"/>
            </a:solidFill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 4/4"/>
          <p:cNvSpPr/>
          <p:nvPr/>
        </p:nvSpPr>
        <p:spPr>
          <a:xfrm>
            <a:off x="3086363" y="5284356"/>
            <a:ext cx="425450" cy="26670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Fill Rect 3/3"/>
          <p:cNvSpPr/>
          <p:nvPr/>
        </p:nvSpPr>
        <p:spPr>
          <a:xfrm>
            <a:off x="2578363" y="4910497"/>
            <a:ext cx="425450" cy="266700"/>
          </a:xfrm>
          <a:prstGeom prst="roundRect">
            <a:avLst/>
          </a:prstGeom>
          <a:solidFill>
            <a:srgbClr val="000000">
              <a:alpha val="67059"/>
            </a:srgbClr>
          </a:solidFill>
          <a:ln>
            <a:solidFill>
              <a:schemeClr val="tx1"/>
            </a:solidFill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 3/3"/>
          <p:cNvSpPr/>
          <p:nvPr/>
        </p:nvSpPr>
        <p:spPr>
          <a:xfrm>
            <a:off x="2578363" y="4911276"/>
            <a:ext cx="425450" cy="26670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Fill Rect 4/2"/>
          <p:cNvSpPr/>
          <p:nvPr/>
        </p:nvSpPr>
        <p:spPr>
          <a:xfrm>
            <a:off x="2070363" y="5281423"/>
            <a:ext cx="425450" cy="266700"/>
          </a:xfrm>
          <a:prstGeom prst="roundRect">
            <a:avLst/>
          </a:prstGeom>
          <a:solidFill>
            <a:srgbClr val="000000">
              <a:alpha val="67059"/>
            </a:srgbClr>
          </a:solidFill>
          <a:ln>
            <a:solidFill>
              <a:schemeClr val="tx1"/>
            </a:solidFill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 4/2"/>
          <p:cNvSpPr/>
          <p:nvPr/>
        </p:nvSpPr>
        <p:spPr>
          <a:xfrm>
            <a:off x="2070363" y="5284356"/>
            <a:ext cx="425450" cy="26670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Fill Rect 2/2"/>
          <p:cNvSpPr/>
          <p:nvPr/>
        </p:nvSpPr>
        <p:spPr>
          <a:xfrm>
            <a:off x="2070363" y="4527189"/>
            <a:ext cx="425450" cy="266700"/>
          </a:xfrm>
          <a:prstGeom prst="roundRect">
            <a:avLst/>
          </a:prstGeom>
          <a:solidFill>
            <a:srgbClr val="000000">
              <a:alpha val="67059"/>
            </a:srgbClr>
          </a:solidFill>
          <a:ln>
            <a:solidFill>
              <a:schemeClr val="tx1"/>
            </a:solidFill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 2/2"/>
          <p:cNvSpPr/>
          <p:nvPr/>
        </p:nvSpPr>
        <p:spPr>
          <a:xfrm>
            <a:off x="2070363" y="4528913"/>
            <a:ext cx="425450" cy="26670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B647D1A-2AF4-C141-B2EC-CE85DDA414FB}"/>
              </a:ext>
            </a:extLst>
          </p:cNvPr>
          <p:cNvSpPr txBox="1"/>
          <p:nvPr/>
        </p:nvSpPr>
        <p:spPr>
          <a:xfrm>
            <a:off x="5846618" y="648392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8474791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>
                      <p:stCondLst>
                        <p:cond delay="indefinite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0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>
                      <p:stCondLst>
                        <p:cond delay="indefinite"/>
                      </p:stCondLst>
                      <p:childTnLst>
                        <p:par>
                          <p:cTn id="175" fill="hold">
                            <p:stCondLst>
                              <p:cond delay="0"/>
                            </p:stCondLst>
                            <p:childTnLst>
                              <p:par>
                                <p:cTn id="17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8" dur="500"/>
                                        <p:tgtEl>
                                          <p:spTgt spid="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3" dur="500"/>
                                        <p:tgtEl>
                                          <p:spTgt spid="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uiExpand="1" build="p"/>
      <p:bldP spid="9" grpId="0"/>
      <p:bldP spid="14" grpId="0"/>
      <p:bldP spid="18" grpId="0" animBg="1"/>
      <p:bldP spid="32" grpId="0" animBg="1"/>
      <p:bldP spid="33" grpId="0" animBg="1"/>
      <p:bldP spid="38" grpId="0" animBg="1"/>
      <p:bldP spid="40" grpId="0" animBg="1"/>
      <p:bldP spid="42" grpId="0" animBg="1"/>
      <p:bldP spid="43" grpId="0" animBg="1"/>
      <p:bldP spid="55" grpId="0" animBg="1"/>
      <p:bldP spid="63" grpId="0" animBg="1"/>
      <p:bldP spid="65" grpId="0"/>
      <p:bldP spid="66" grpId="0"/>
      <p:bldP spid="67" grpId="0" uiExpand="1" build="allAtOnce"/>
      <p:bldP spid="74" grpId="0" animBg="1"/>
      <p:bldP spid="94" grpId="0" animBg="1"/>
      <p:bldP spid="57" grpId="0" animBg="1"/>
      <p:bldP spid="90" grpId="0" animBg="1"/>
      <p:bldP spid="44" grpId="0" animBg="1"/>
      <p:bldP spid="93" grpId="0" animBg="1"/>
      <p:bldP spid="56" grpId="0" animBg="1"/>
      <p:bldP spid="89" grpId="0" animBg="1"/>
      <p:bldP spid="3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2" y="0"/>
                <a:ext cx="8446926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sz="4000" b="0" i="1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n-US" sz="40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 is Uncountable – Diagonalization </a:t>
                </a: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" y="0"/>
                <a:ext cx="8446926" cy="707886"/>
              </a:xfrm>
              <a:prstGeom prst="rect">
                <a:avLst/>
              </a:prstGeom>
              <a:blipFill>
                <a:blip r:embed="rId2"/>
                <a:stretch>
                  <a:fillRect t="-15517" b="-362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2" y="1307040"/>
                <a:ext cx="8821274" cy="17543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600"/>
                  </a:spcBef>
                </a:pPr>
                <a:r>
                  <a:rPr lang="en-US" sz="24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Let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ℝ</m:t>
                    </m:r>
                    <m:r>
                      <a:rPr lang="en-US" sz="2400" b="0" i="1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r>
                  <a:rPr lang="en-US" sz="24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all real numbers (expressible by infinite decimal expansion)</a:t>
                </a:r>
              </a:p>
              <a:p>
                <a:pPr>
                  <a:spcBef>
                    <a:spcPts val="1200"/>
                  </a:spcBef>
                </a:pPr>
                <a:r>
                  <a:rPr lang="en-US" sz="2400" dirty="0"/>
                  <a:t>Theorem:</a:t>
                </a:r>
                <a:r>
                  <a:rPr lang="en-US" sz="2400" dirty="0">
                    <a:solidFill>
                      <a:schemeClr val="tx1"/>
                    </a:solidFill>
                  </a:rPr>
                  <a:t> 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is uncountable</a:t>
                </a:r>
              </a:p>
              <a:p>
                <a:r>
                  <a:rPr lang="en-US" sz="2000" dirty="0"/>
                  <a:t>Proof by contradiction via diagonalization:   Assume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n-US" sz="2000" dirty="0"/>
                  <a:t> is countable</a:t>
                </a:r>
              </a:p>
              <a:p>
                <a:pPr>
                  <a:spcBef>
                    <a:spcPts val="1200"/>
                  </a:spcBef>
                </a:pPr>
                <a:r>
                  <a:rPr lang="en-US" sz="2000" dirty="0"/>
                  <a:t>So there is a 1-1 correspondence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ℕ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ℝ</m:t>
                    </m:r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" y="1307040"/>
                <a:ext cx="8821274" cy="1754326"/>
              </a:xfrm>
              <a:prstGeom prst="rect">
                <a:avLst/>
              </a:prstGeom>
              <a:blipFill>
                <a:blip r:embed="rId3"/>
                <a:stretch>
                  <a:fillRect l="-1037" t="-2778" b="-52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/>
              <p:cNvGraphicFramePr>
                <a:graphicFrameLocks noGrp="1"/>
              </p:cNvGraphicFramePr>
              <p:nvPr/>
            </p:nvGraphicFramePr>
            <p:xfrm>
              <a:off x="1716721" y="3184354"/>
              <a:ext cx="2309014" cy="332232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449580">
                      <a:extLst>
                        <a:ext uri="{9D8B030D-6E8A-4147-A177-3AD203B41FA5}">
                          <a16:colId xmlns:a16="http://schemas.microsoft.com/office/drawing/2014/main" val="3843652384"/>
                        </a:ext>
                      </a:extLst>
                    </a:gridCol>
                    <a:gridCol w="1859434">
                      <a:extLst>
                        <a:ext uri="{9D8B030D-6E8A-4147-A177-3AD203B41FA5}">
                          <a16:colId xmlns:a16="http://schemas.microsoft.com/office/drawing/2014/main" val="3089216751"/>
                        </a:ext>
                      </a:extLst>
                    </a:gridCol>
                  </a:tblGrid>
                  <a:tr h="312123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905524638"/>
                      </a:ext>
                    </a:extLst>
                  </a:tr>
                  <a:tr h="2867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kern="120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+mn-ea"/>
                              <a:cs typeface="Courier New" panose="02070309020205020404" pitchFamily="49" charset="0"/>
                            </a:rPr>
                            <a:t>1</a:t>
                          </a: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2.718281828…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extLst>
                      <a:ext uri="{0D108BD9-81ED-4DB2-BD59-A6C34878D82A}">
                        <a16:rowId xmlns:a16="http://schemas.microsoft.com/office/drawing/2014/main" val="1164458187"/>
                      </a:ext>
                    </a:extLst>
                  </a:tr>
                  <a:tr h="2867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kern="120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+mn-ea"/>
                              <a:cs typeface="Courier New" panose="02070309020205020404" pitchFamily="49" charset="0"/>
                            </a:rPr>
                            <a:t>2</a:t>
                          </a: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3.141592653…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1409933935"/>
                      </a:ext>
                    </a:extLst>
                  </a:tr>
                  <a:tr h="2867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kern="120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+mn-ea"/>
                              <a:cs typeface="Courier New" panose="02070309020205020404" pitchFamily="49" charset="0"/>
                            </a:rPr>
                            <a:t>3</a:t>
                          </a: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0.000000000…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1209745991"/>
                      </a:ext>
                    </a:extLst>
                  </a:tr>
                  <a:tr h="2867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kern="120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+mn-ea"/>
                              <a:cs typeface="Courier New" panose="02070309020205020404" pitchFamily="49" charset="0"/>
                            </a:rPr>
                            <a:t>4</a:t>
                          </a: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1.414213562…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216707360"/>
                      </a:ext>
                    </a:extLst>
                  </a:tr>
                  <a:tr h="2867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kern="120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+mn-ea"/>
                              <a:cs typeface="Courier New" panose="02070309020205020404" pitchFamily="49" charset="0"/>
                            </a:rPr>
                            <a:t>5</a:t>
                          </a: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0.142857242…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2341548049"/>
                      </a:ext>
                    </a:extLst>
                  </a:tr>
                  <a:tr h="2867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kern="120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+mn-ea"/>
                              <a:cs typeface="Courier New" panose="02070309020205020404" pitchFamily="49" charset="0"/>
                            </a:rPr>
                            <a:t>6</a:t>
                          </a: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0.207879576…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1426743"/>
                      </a:ext>
                    </a:extLst>
                  </a:tr>
                  <a:tr h="2867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kern="120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+mn-ea"/>
                              <a:cs typeface="Courier New" panose="02070309020205020404" pitchFamily="49" charset="0"/>
                            </a:rPr>
                            <a:t>7</a:t>
                          </a: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1.234567890…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2811960432"/>
                      </a:ext>
                    </a:extLst>
                  </a:tr>
                  <a:tr h="2867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kern="1200" dirty="0">
                              <a:solidFill>
                                <a:schemeClr val="tx1"/>
                              </a:solidFill>
                              <a:ea typeface="+mn-ea"/>
                              <a:cs typeface="Courier New" panose="02070309020205020404" pitchFamily="49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1800" kern="120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Courier New" panose="02070309020205020404" pitchFamily="49" charset="0"/>
                                </a:rPr>
                                <m:t>⋮</m:t>
                              </m:r>
                            </m:oMath>
                          </a14:m>
                          <a:endParaRPr lang="en-US" sz="1800" kern="120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+mn-ea"/>
                            <a:cs typeface="Courier New" panose="02070309020205020404" pitchFamily="49" charset="0"/>
                          </a:endParaRP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1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61599802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4619627"/>
                  </p:ext>
                </p:extLst>
              </p:nvPr>
            </p:nvGraphicFramePr>
            <p:xfrm>
              <a:off x="1716721" y="3184354"/>
              <a:ext cx="2309014" cy="332232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449580">
                      <a:extLst>
                        <a:ext uri="{9D8B030D-6E8A-4147-A177-3AD203B41FA5}">
                          <a16:colId xmlns:a16="http://schemas.microsoft.com/office/drawing/2014/main" val="3843652384"/>
                        </a:ext>
                      </a:extLst>
                    </a:gridCol>
                    <a:gridCol w="1859434">
                      <a:extLst>
                        <a:ext uri="{9D8B030D-6E8A-4147-A177-3AD203B41FA5}">
                          <a16:colId xmlns:a16="http://schemas.microsoft.com/office/drawing/2014/main" val="3089216751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r="-414865" b="-7415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4183" r="-327" b="-74153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05524638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kern="1200" dirty="0" smtClean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+mn-ea"/>
                              <a:cs typeface="Courier New" panose="02070309020205020404" pitchFamily="49" charset="0"/>
                            </a:rPr>
                            <a:t>1</a:t>
                          </a:r>
                          <a:endParaRPr lang="en-US" sz="1800" kern="120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+mn-ea"/>
                            <a:cs typeface="Courier New" panose="02070309020205020404" pitchFamily="49" charset="0"/>
                          </a:endParaRP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2.718281828…</a:t>
                          </a:r>
                          <a:endParaRPr lang="en-US" dirty="0"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extLst>
                      <a:ext uri="{0D108BD9-81ED-4DB2-BD59-A6C34878D82A}">
                        <a16:rowId xmlns:a16="http://schemas.microsoft.com/office/drawing/2014/main" val="1164458187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kern="1200" dirty="0" smtClean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+mn-ea"/>
                              <a:cs typeface="Courier New" panose="02070309020205020404" pitchFamily="49" charset="0"/>
                            </a:rPr>
                            <a:t>2</a:t>
                          </a:r>
                          <a:endParaRPr lang="en-US" sz="1800" kern="120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+mn-ea"/>
                            <a:cs typeface="Courier New" panose="02070309020205020404" pitchFamily="49" charset="0"/>
                          </a:endParaRP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3.141592653…</a:t>
                          </a:r>
                          <a:endParaRPr lang="en-US" dirty="0"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1409933935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kern="1200" dirty="0" smtClean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+mn-ea"/>
                              <a:cs typeface="Courier New" panose="02070309020205020404" pitchFamily="49" charset="0"/>
                            </a:rPr>
                            <a:t>3</a:t>
                          </a:r>
                          <a:endParaRPr lang="en-US" sz="1800" kern="120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+mn-ea"/>
                            <a:cs typeface="Courier New" panose="02070309020205020404" pitchFamily="49" charset="0"/>
                          </a:endParaRP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0.000000000…</a:t>
                          </a:r>
                          <a:endParaRPr lang="en-US" dirty="0"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1209745991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kern="1200" dirty="0" smtClean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+mn-ea"/>
                              <a:cs typeface="Courier New" panose="02070309020205020404" pitchFamily="49" charset="0"/>
                            </a:rPr>
                            <a:t>4</a:t>
                          </a:r>
                          <a:endParaRPr lang="en-US" sz="1800" kern="120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+mn-ea"/>
                            <a:cs typeface="Courier New" panose="02070309020205020404" pitchFamily="49" charset="0"/>
                          </a:endParaRP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1.414213562…</a:t>
                          </a:r>
                          <a:endParaRPr lang="en-US" dirty="0"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216707360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kern="1200" dirty="0" smtClean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+mn-ea"/>
                              <a:cs typeface="Courier New" panose="02070309020205020404" pitchFamily="49" charset="0"/>
                            </a:rPr>
                            <a:t>5</a:t>
                          </a:r>
                          <a:endParaRPr lang="en-US" sz="1800" kern="120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+mn-ea"/>
                            <a:cs typeface="Courier New" panose="02070309020205020404" pitchFamily="49" charset="0"/>
                          </a:endParaRP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0.142857242…</a:t>
                          </a:r>
                          <a:endParaRPr lang="en-US" dirty="0"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2341548049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kern="1200" dirty="0" smtClean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+mn-ea"/>
                              <a:cs typeface="Courier New" panose="02070309020205020404" pitchFamily="49" charset="0"/>
                            </a:rPr>
                            <a:t>6</a:t>
                          </a:r>
                          <a:endParaRPr lang="en-US" sz="1800" kern="120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+mn-ea"/>
                            <a:cs typeface="Courier New" panose="02070309020205020404" pitchFamily="49" charset="0"/>
                          </a:endParaRP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0.207879576…</a:t>
                          </a:r>
                          <a:endParaRPr lang="en-US" dirty="0"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1426743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kern="1200" dirty="0" smtClean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+mn-ea"/>
                              <a:cs typeface="Courier New" panose="02070309020205020404" pitchFamily="49" charset="0"/>
                            </a:rPr>
                            <a:t>7</a:t>
                          </a:r>
                          <a:endParaRPr lang="en-US" sz="1800" kern="120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+mn-ea"/>
                            <a:cs typeface="Courier New" panose="02070309020205020404" pitchFamily="49" charset="0"/>
                          </a:endParaRP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1.234567890…</a:t>
                          </a:r>
                          <a:endParaRPr lang="en-US" dirty="0"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2811960432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4"/>
                          <a:stretch>
                            <a:fillRect t="-810000" r="-414865" b="-1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blipFill>
                          <a:blip r:embed="rId4"/>
                          <a:stretch>
                            <a:fillRect l="-24183" t="-810000" r="-327" b="-1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1599802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5536616" y="3244334"/>
                <a:ext cx="6338709" cy="313932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000" dirty="0"/>
                  <a:t>Demonstrate a number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n-US" sz="2000" dirty="0"/>
                  <a:t> that is missing from the list.</a:t>
                </a:r>
              </a:p>
              <a:p>
                <a:endParaRPr lang="en-US" sz="3200" b="0" dirty="0"/>
              </a:p>
              <a:p>
                <a:r>
                  <a:rPr lang="en-US" sz="3200" dirty="0"/>
                  <a:t>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3200" b="0" i="0" dirty="0">
                    <a:latin typeface="+mj-lt"/>
                  </a:rPr>
                  <a:t> </a:t>
                </a:r>
                <a:r>
                  <a:rPr lang="en-US" sz="3200" b="0" i="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0.8516182…</a:t>
                </a:r>
                <a:endParaRPr lang="en-US" sz="3200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endParaRPr lang="en-US" sz="2400" dirty="0"/>
              </a:p>
              <a:p>
                <a:r>
                  <a:rPr lang="en-US" sz="2000" dirty="0"/>
                  <a:t>differs from the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000" baseline="30000" dirty="0" err="1"/>
                  <a:t>th</a:t>
                </a:r>
                <a:r>
                  <a:rPr lang="en-US" sz="2000" dirty="0"/>
                  <a:t>  number in the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000" baseline="30000" dirty="0" err="1"/>
                  <a:t>th</a:t>
                </a:r>
                <a:r>
                  <a:rPr lang="en-US" sz="2000" dirty="0"/>
                  <a:t> digit </a:t>
                </a:r>
                <a:br>
                  <a:rPr lang="en-US" sz="2000" dirty="0"/>
                </a:br>
                <a:r>
                  <a:rPr lang="en-US" sz="2000" dirty="0"/>
                  <a:t>so cannot be the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000" baseline="30000" dirty="0" err="1"/>
                  <a:t>th</a:t>
                </a:r>
                <a:r>
                  <a:rPr lang="en-US" sz="2000" dirty="0"/>
                  <a:t> number for any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000" dirty="0"/>
                  <a:t>.  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000" dirty="0"/>
                  <a:t>Hence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000" dirty="0"/>
                  <a:t> is not paired with any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sz="2000" dirty="0"/>
                  <a:t>  It is missing from the list.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000" dirty="0"/>
                  <a:t>Therefore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sz="2000" dirty="0"/>
                  <a:t> is not a 1-1 correspondence.</a:t>
                </a:r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36616" y="3244334"/>
                <a:ext cx="6338709" cy="3139321"/>
              </a:xfrm>
              <a:prstGeom prst="rect">
                <a:avLst/>
              </a:prstGeom>
              <a:blipFill>
                <a:blip r:embed="rId5"/>
                <a:stretch>
                  <a:fillRect l="-962" t="-971" b="-25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7"/>
          <p:cNvSpPr/>
          <p:nvPr/>
        </p:nvSpPr>
        <p:spPr>
          <a:xfrm>
            <a:off x="2535543" y="3586123"/>
            <a:ext cx="12954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0" name="4"/>
          <p:cNvSpPr/>
          <p:nvPr/>
        </p:nvSpPr>
        <p:spPr>
          <a:xfrm>
            <a:off x="2672506" y="3941724"/>
            <a:ext cx="113508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1" name="0"/>
          <p:cNvSpPr/>
          <p:nvPr/>
        </p:nvSpPr>
        <p:spPr>
          <a:xfrm>
            <a:off x="2819236" y="4303913"/>
            <a:ext cx="113508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2" name="2"/>
          <p:cNvSpPr/>
          <p:nvPr/>
        </p:nvSpPr>
        <p:spPr>
          <a:xfrm>
            <a:off x="2951724" y="4675110"/>
            <a:ext cx="113508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3" name="5"/>
          <p:cNvSpPr/>
          <p:nvPr/>
        </p:nvSpPr>
        <p:spPr>
          <a:xfrm>
            <a:off x="3085582" y="5039533"/>
            <a:ext cx="113508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4" name="9"/>
          <p:cNvSpPr/>
          <p:nvPr/>
        </p:nvSpPr>
        <p:spPr>
          <a:xfrm>
            <a:off x="3219440" y="5399194"/>
            <a:ext cx="113508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9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5" name="8"/>
          <p:cNvSpPr/>
          <p:nvPr/>
        </p:nvSpPr>
        <p:spPr>
          <a:xfrm>
            <a:off x="3356250" y="5773103"/>
            <a:ext cx="113508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8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6" name="7"/>
          <p:cNvSpPr/>
          <p:nvPr/>
        </p:nvSpPr>
        <p:spPr>
          <a:xfrm rot="18720957">
            <a:off x="6937156" y="3809867"/>
            <a:ext cx="43152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≠7</a:t>
            </a:r>
            <a:endParaRPr lang="en-US" sz="1600" dirty="0">
              <a:solidFill>
                <a:srgbClr val="FF0000"/>
              </a:solidFill>
            </a:endParaRPr>
          </a:p>
        </p:txBody>
      </p:sp>
      <p:sp>
        <p:nvSpPr>
          <p:cNvPr id="17" name="4"/>
          <p:cNvSpPr/>
          <p:nvPr/>
        </p:nvSpPr>
        <p:spPr>
          <a:xfrm rot="18720957">
            <a:off x="7146056" y="3780691"/>
            <a:ext cx="50974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≠4</a:t>
            </a:r>
            <a:endParaRPr lang="en-US" sz="1600" dirty="0">
              <a:solidFill>
                <a:srgbClr val="FF0000"/>
              </a:solidFill>
            </a:endParaRPr>
          </a:p>
        </p:txBody>
      </p:sp>
      <p:sp>
        <p:nvSpPr>
          <p:cNvPr id="18" name="0"/>
          <p:cNvSpPr/>
          <p:nvPr/>
        </p:nvSpPr>
        <p:spPr>
          <a:xfrm rot="18720957">
            <a:off x="7407807" y="3790740"/>
            <a:ext cx="43152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≠0</a:t>
            </a:r>
            <a:endParaRPr lang="en-US" sz="1600" dirty="0">
              <a:solidFill>
                <a:srgbClr val="FF0000"/>
              </a:solidFill>
            </a:endParaRPr>
          </a:p>
        </p:txBody>
      </p:sp>
      <p:sp>
        <p:nvSpPr>
          <p:cNvPr id="19" name="2"/>
          <p:cNvSpPr/>
          <p:nvPr/>
        </p:nvSpPr>
        <p:spPr>
          <a:xfrm rot="18720957">
            <a:off x="7662260" y="3806623"/>
            <a:ext cx="43152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≠2</a:t>
            </a:r>
            <a:endParaRPr lang="en-US" sz="1600" dirty="0">
              <a:solidFill>
                <a:srgbClr val="FF0000"/>
              </a:solidFill>
            </a:endParaRPr>
          </a:p>
        </p:txBody>
      </p:sp>
      <p:sp>
        <p:nvSpPr>
          <p:cNvPr id="20" name="5"/>
          <p:cNvSpPr/>
          <p:nvPr/>
        </p:nvSpPr>
        <p:spPr>
          <a:xfrm rot="18720957">
            <a:off x="7893819" y="3822505"/>
            <a:ext cx="43152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≠5</a:t>
            </a:r>
            <a:endParaRPr lang="en-US" sz="1600" dirty="0">
              <a:solidFill>
                <a:srgbClr val="FF0000"/>
              </a:solidFill>
            </a:endParaRPr>
          </a:p>
        </p:txBody>
      </p:sp>
      <p:sp>
        <p:nvSpPr>
          <p:cNvPr id="21" name="9"/>
          <p:cNvSpPr/>
          <p:nvPr/>
        </p:nvSpPr>
        <p:spPr>
          <a:xfrm rot="18720957">
            <a:off x="8154509" y="3822503"/>
            <a:ext cx="43152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≠9</a:t>
            </a:r>
            <a:endParaRPr lang="en-US" sz="1600" dirty="0">
              <a:solidFill>
                <a:srgbClr val="FF0000"/>
              </a:solidFill>
            </a:endParaRPr>
          </a:p>
        </p:txBody>
      </p:sp>
      <p:sp>
        <p:nvSpPr>
          <p:cNvPr id="22" name="8"/>
          <p:cNvSpPr/>
          <p:nvPr/>
        </p:nvSpPr>
        <p:spPr>
          <a:xfrm rot="18720957">
            <a:off x="8404417" y="3822503"/>
            <a:ext cx="43152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≠8</a:t>
            </a:r>
            <a:endParaRPr lang="en-US" sz="1600" dirty="0">
              <a:solidFill>
                <a:srgbClr val="FF000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489815" y="6128518"/>
            <a:ext cx="162781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Diagonalization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57CBF34-E05A-BF49-B8F2-69304F523A73}"/>
              </a:ext>
            </a:extLst>
          </p:cNvPr>
          <p:cNvSpPr txBox="1"/>
          <p:nvPr/>
        </p:nvSpPr>
        <p:spPr>
          <a:xfrm>
            <a:off x="6068291" y="651163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40091430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6" grpId="0" uiExpand="1" build="p"/>
      <p:bldP spid="9" grpId="0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2" y="0"/>
                <a:ext cx="8446926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sz="4000" b="0" i="1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n-US" sz="40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 is Uncountable – Corollary (1) </a:t>
                </a: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" y="0"/>
                <a:ext cx="8446926" cy="707886"/>
              </a:xfrm>
              <a:prstGeom prst="rect">
                <a:avLst/>
              </a:prstGeom>
              <a:blipFill>
                <a:blip r:embed="rId2"/>
                <a:stretch>
                  <a:fillRect t="-14286" b="-37500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/>
              <p:cNvGraphicFramePr>
                <a:graphicFrameLocks noGrp="1"/>
              </p:cNvGraphicFramePr>
              <p:nvPr/>
            </p:nvGraphicFramePr>
            <p:xfrm>
              <a:off x="1716721" y="3184354"/>
              <a:ext cx="2309014" cy="332232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449580">
                      <a:extLst>
                        <a:ext uri="{9D8B030D-6E8A-4147-A177-3AD203B41FA5}">
                          <a16:colId xmlns:a16="http://schemas.microsoft.com/office/drawing/2014/main" val="3843652384"/>
                        </a:ext>
                      </a:extLst>
                    </a:gridCol>
                    <a:gridCol w="1859434">
                      <a:extLst>
                        <a:ext uri="{9D8B030D-6E8A-4147-A177-3AD203B41FA5}">
                          <a16:colId xmlns:a16="http://schemas.microsoft.com/office/drawing/2014/main" val="3089216751"/>
                        </a:ext>
                      </a:extLst>
                    </a:gridCol>
                  </a:tblGrid>
                  <a:tr h="312123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905524638"/>
                      </a:ext>
                    </a:extLst>
                  </a:tr>
                  <a:tr h="2867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kern="120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+mn-ea"/>
                              <a:cs typeface="Courier New" panose="02070309020205020404" pitchFamily="49" charset="0"/>
                            </a:rPr>
                            <a:t>1</a:t>
                          </a: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accent6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0</a:t>
                          </a:r>
                          <a:r>
                            <a:rPr lang="en-US" dirty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000000000…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extLst>
                      <a:ext uri="{0D108BD9-81ED-4DB2-BD59-A6C34878D82A}">
                        <a16:rowId xmlns:a16="http://schemas.microsoft.com/office/drawing/2014/main" val="1164458187"/>
                      </a:ext>
                    </a:extLst>
                  </a:tr>
                  <a:tr h="2867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kern="120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+mn-ea"/>
                              <a:cs typeface="Courier New" panose="02070309020205020404" pitchFamily="49" charset="0"/>
                            </a:rPr>
                            <a:t>2</a:t>
                          </a: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1</a:t>
                          </a:r>
                          <a:r>
                            <a:rPr lang="en-US" dirty="0">
                              <a:solidFill>
                                <a:schemeClr val="accent6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1</a:t>
                          </a:r>
                          <a:r>
                            <a:rPr lang="en-US" dirty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11111111…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1409933935"/>
                      </a:ext>
                    </a:extLst>
                  </a:tr>
                  <a:tr h="2867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kern="120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+mn-ea"/>
                              <a:cs typeface="Courier New" panose="02070309020205020404" pitchFamily="49" charset="0"/>
                            </a:rPr>
                            <a:t>3</a:t>
                          </a: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10</a:t>
                          </a:r>
                          <a:r>
                            <a:rPr lang="en-US" dirty="0">
                              <a:solidFill>
                                <a:schemeClr val="accent6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1</a:t>
                          </a:r>
                          <a:r>
                            <a:rPr lang="en-US" dirty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0101010…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1209745991"/>
                      </a:ext>
                    </a:extLst>
                  </a:tr>
                  <a:tr h="2867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kern="120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+mn-ea"/>
                              <a:cs typeface="Courier New" panose="02070309020205020404" pitchFamily="49" charset="0"/>
                            </a:rPr>
                            <a:t>4</a:t>
                          </a: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010</a:t>
                          </a:r>
                          <a:r>
                            <a:rPr lang="en-US" dirty="0">
                              <a:solidFill>
                                <a:schemeClr val="accent6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1</a:t>
                          </a:r>
                          <a:r>
                            <a:rPr lang="en-US" dirty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010101…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216707360"/>
                      </a:ext>
                    </a:extLst>
                  </a:tr>
                  <a:tr h="2867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kern="120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+mn-ea"/>
                              <a:cs typeface="Courier New" panose="02070309020205020404" pitchFamily="49" charset="0"/>
                            </a:rPr>
                            <a:t>5</a:t>
                          </a: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     </a:t>
                          </a:r>
                          <a14:m>
                            <m:oMath xmlns:m="http://schemas.openxmlformats.org/officeDocument/2006/math"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oMath>
                          </a14:m>
                          <a:endParaRPr lang="en-US" sz="18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2341548049"/>
                      </a:ext>
                    </a:extLst>
                  </a:tr>
                  <a:tr h="2867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kern="120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+mn-ea"/>
                              <a:cs typeface="Courier New" panose="02070309020205020404" pitchFamily="49" charset="0"/>
                            </a:rPr>
                            <a:t>6</a:t>
                          </a: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1426743"/>
                      </a:ext>
                    </a:extLst>
                  </a:tr>
                  <a:tr h="2867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kern="120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+mn-ea"/>
                              <a:cs typeface="Courier New" panose="02070309020205020404" pitchFamily="49" charset="0"/>
                            </a:rPr>
                            <a:t>7</a:t>
                          </a: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2811960432"/>
                      </a:ext>
                    </a:extLst>
                  </a:tr>
                  <a:tr h="2867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kern="1200" dirty="0">
                              <a:solidFill>
                                <a:schemeClr val="tx1"/>
                              </a:solidFill>
                              <a:ea typeface="+mn-ea"/>
                              <a:cs typeface="Courier New" panose="02070309020205020404" pitchFamily="49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1800" kern="120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Courier New" panose="02070309020205020404" pitchFamily="49" charset="0"/>
                                </a:rPr>
                                <m:t>⋮</m:t>
                              </m:r>
                            </m:oMath>
                          </a14:m>
                          <a:endParaRPr lang="en-US" sz="1800" kern="120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ea typeface="+mn-ea"/>
                            <a:cs typeface="Courier New" panose="02070309020205020404" pitchFamily="49" charset="0"/>
                          </a:endParaRP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sz="1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61599802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05677910"/>
                  </p:ext>
                </p:extLst>
              </p:nvPr>
            </p:nvGraphicFramePr>
            <p:xfrm>
              <a:off x="1716721" y="3184354"/>
              <a:ext cx="2309014" cy="332232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449580">
                      <a:extLst>
                        <a:ext uri="{9D8B030D-6E8A-4147-A177-3AD203B41FA5}">
                          <a16:colId xmlns:a16="http://schemas.microsoft.com/office/drawing/2014/main" val="3843652384"/>
                        </a:ext>
                      </a:extLst>
                    </a:gridCol>
                    <a:gridCol w="1859434">
                      <a:extLst>
                        <a:ext uri="{9D8B030D-6E8A-4147-A177-3AD203B41FA5}">
                          <a16:colId xmlns:a16="http://schemas.microsoft.com/office/drawing/2014/main" val="3089216751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endParaRPr lang="en-CN"/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857" r="-422857" b="-7516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CN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4490" r="-680" b="-75161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05524638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kern="120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+mn-ea"/>
                              <a:cs typeface="Courier New" panose="02070309020205020404" pitchFamily="49" charset="0"/>
                            </a:rPr>
                            <a:t>1</a:t>
                          </a: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accent6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0</a:t>
                          </a:r>
                          <a:r>
                            <a:rPr lang="en-US" dirty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000000000…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extLst>
                      <a:ext uri="{0D108BD9-81ED-4DB2-BD59-A6C34878D82A}">
                        <a16:rowId xmlns:a16="http://schemas.microsoft.com/office/drawing/2014/main" val="1164458187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kern="120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+mn-ea"/>
                              <a:cs typeface="Courier New" panose="02070309020205020404" pitchFamily="49" charset="0"/>
                            </a:rPr>
                            <a:t>2</a:t>
                          </a: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1</a:t>
                          </a:r>
                          <a:r>
                            <a:rPr lang="en-US" dirty="0">
                              <a:solidFill>
                                <a:schemeClr val="accent6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1</a:t>
                          </a:r>
                          <a:r>
                            <a:rPr lang="en-US" dirty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11111111…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1409933935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kern="120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+mn-ea"/>
                              <a:cs typeface="Courier New" panose="02070309020205020404" pitchFamily="49" charset="0"/>
                            </a:rPr>
                            <a:t>3</a:t>
                          </a: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10</a:t>
                          </a:r>
                          <a:r>
                            <a:rPr lang="en-US" dirty="0">
                              <a:solidFill>
                                <a:schemeClr val="accent6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1</a:t>
                          </a:r>
                          <a:r>
                            <a:rPr lang="en-US" dirty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0101010…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1209745991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kern="120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+mn-ea"/>
                              <a:cs typeface="Courier New" panose="02070309020205020404" pitchFamily="49" charset="0"/>
                            </a:rPr>
                            <a:t>4</a:t>
                          </a: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010</a:t>
                          </a:r>
                          <a:r>
                            <a:rPr lang="en-US" dirty="0">
                              <a:solidFill>
                                <a:schemeClr val="accent6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1</a:t>
                          </a:r>
                          <a:r>
                            <a:rPr lang="en-US" dirty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010101…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216707360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kern="120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+mn-ea"/>
                              <a:cs typeface="Courier New" panose="02070309020205020404" pitchFamily="49" charset="0"/>
                            </a:rPr>
                            <a:t>5</a:t>
                          </a: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endParaRPr lang="en-CN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blipFill>
                          <a:blip r:embed="rId3"/>
                          <a:stretch>
                            <a:fillRect l="-24490" t="-506897" r="-680" b="-3034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41548049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kern="120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+mn-ea"/>
                              <a:cs typeface="Courier New" panose="02070309020205020404" pitchFamily="49" charset="0"/>
                            </a:rPr>
                            <a:t>6</a:t>
                          </a: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1426743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kern="120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ea typeface="+mn-ea"/>
                              <a:cs typeface="Courier New" panose="02070309020205020404" pitchFamily="49" charset="0"/>
                            </a:rPr>
                            <a:t>7</a:t>
                          </a: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2811960432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CN"/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3"/>
                          <a:stretch>
                            <a:fillRect l="-2857" t="-806897" r="-422857" b="-34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sz="1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61599802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5536616" y="3244334"/>
                <a:ext cx="6338709" cy="313932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000" dirty="0"/>
                  <a:t>Demonstrate a number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000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ℬ</m:t>
                    </m:r>
                  </m:oMath>
                </a14:m>
                <a:r>
                  <a:rPr lang="en-US" sz="2000" dirty="0"/>
                  <a:t> that is missing from the list.</a:t>
                </a:r>
              </a:p>
              <a:p>
                <a:endParaRPr lang="en-US" sz="3200" b="0" dirty="0"/>
              </a:p>
              <a:p>
                <a:r>
                  <a:rPr lang="en-US" sz="3200" dirty="0"/>
                  <a:t>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3200" b="0" i="0" dirty="0">
                    <a:latin typeface="+mj-lt"/>
                  </a:rPr>
                  <a:t> </a:t>
                </a:r>
                <a:r>
                  <a:rPr lang="en-US" sz="3200" b="0" i="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1000…</a:t>
                </a:r>
                <a:endParaRPr lang="en-US" sz="3200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endParaRPr lang="en-US" sz="2400" dirty="0"/>
              </a:p>
              <a:p>
                <a:r>
                  <a:rPr lang="en-US" sz="2000" dirty="0"/>
                  <a:t>differs from the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000" baseline="30000" dirty="0" err="1"/>
                  <a:t>th</a:t>
                </a:r>
                <a:r>
                  <a:rPr lang="en-US" sz="2000" dirty="0"/>
                  <a:t>  number in the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000" baseline="30000" dirty="0" err="1"/>
                  <a:t>th</a:t>
                </a:r>
                <a:r>
                  <a:rPr lang="en-US" sz="2000" dirty="0"/>
                  <a:t> digit </a:t>
                </a:r>
                <a:br>
                  <a:rPr lang="en-US" sz="2000" dirty="0"/>
                </a:br>
                <a:r>
                  <a:rPr lang="en-US" sz="2000" dirty="0"/>
                  <a:t>so cannot be the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000" baseline="30000" dirty="0" err="1"/>
                  <a:t>th</a:t>
                </a:r>
                <a:r>
                  <a:rPr lang="en-US" sz="2000" dirty="0"/>
                  <a:t> number for any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000" dirty="0"/>
                  <a:t>.  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000" dirty="0"/>
                  <a:t>Hence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000" dirty="0"/>
                  <a:t> is not paired with any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sz="2000" dirty="0"/>
                  <a:t>  It is missing from the list.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000" dirty="0"/>
                  <a:t>Therefore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sz="2000" dirty="0"/>
                  <a:t> is not a 1-1 correspondence.</a:t>
                </a:r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36616" y="3244334"/>
                <a:ext cx="6338709" cy="3139321"/>
              </a:xfrm>
              <a:prstGeom prst="rect">
                <a:avLst/>
              </a:prstGeom>
              <a:blipFill>
                <a:blip r:embed="rId4"/>
                <a:stretch>
                  <a:fillRect l="-798" t="-1210" b="-2419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157CBF34-E05A-BF49-B8F2-69304F523A73}"/>
              </a:ext>
            </a:extLst>
          </p:cNvPr>
          <p:cNvSpPr txBox="1"/>
          <p:nvPr/>
        </p:nvSpPr>
        <p:spPr>
          <a:xfrm>
            <a:off x="6068291" y="651163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7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1640FE51-DFDF-B299-A59C-41B9AB337A38}"/>
                  </a:ext>
                </a:extLst>
              </p:cNvPr>
              <p:cNvSpPr txBox="1"/>
              <p:nvPr/>
            </p:nvSpPr>
            <p:spPr>
              <a:xfrm>
                <a:off x="307177" y="770141"/>
                <a:ext cx="9081522" cy="184665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Bef>
                    <a:spcPts val="1200"/>
                  </a:spcBef>
                </a:pPr>
                <a:r>
                  <a:rPr lang="en-US" sz="2000" b="1" dirty="0"/>
                  <a:t>Corollary 1: </a:t>
                </a:r>
                <a:r>
                  <a:rPr lang="en-US" sz="2000" dirty="0"/>
                  <a:t>Some languages are not Turing </a:t>
                </a:r>
                <a:r>
                  <a:rPr lang="en-US" sz="2000" dirty="0" err="1"/>
                  <a:t>recognisable</a:t>
                </a:r>
                <a:r>
                  <a:rPr lang="en-US" sz="2000" dirty="0"/>
                  <a:t>. </a:t>
                </a:r>
              </a:p>
              <a:p>
                <a:pPr>
                  <a:spcBef>
                    <a:spcPts val="1200"/>
                  </a:spcBef>
                </a:pPr>
                <a:r>
                  <a:rPr lang="en-US" sz="2000" b="1" dirty="0"/>
                  <a:t>Proof Idea: </a:t>
                </a:r>
                <a:r>
                  <a:rPr lang="en-US" sz="2000" dirty="0"/>
                  <a:t>Show that  there are more languages than TMs. </a:t>
                </a:r>
              </a:p>
              <a:p>
                <a:pPr>
                  <a:spcBef>
                    <a:spcPts val="1200"/>
                  </a:spcBef>
                </a:pPr>
                <a:r>
                  <a:rPr lang="en-US" dirty="0"/>
                  <a:t>First notice that: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The set of all infinite binary sequences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ℬ</m:t>
                    </m:r>
                  </m:oMath>
                </a14:m>
                <a:r>
                  <a:rPr lang="en-US" dirty="0"/>
                  <a:t> is uncountable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By diagonalization:</a:t>
                </a:r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1640FE51-DFDF-B299-A59C-41B9AB337A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177" y="770141"/>
                <a:ext cx="9081522" cy="1846659"/>
              </a:xfrm>
              <a:prstGeom prst="rect">
                <a:avLst/>
              </a:prstGeom>
              <a:blipFill>
                <a:blip r:embed="rId5"/>
                <a:stretch>
                  <a:fillRect l="-698" t="-1370" b="-4795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545137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2" y="0"/>
                <a:ext cx="8446926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sz="4000" b="0" i="1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n-US" sz="40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 is Uncountable – Corollary (2) </a:t>
                </a: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" y="0"/>
                <a:ext cx="8446926" cy="707886"/>
              </a:xfrm>
              <a:prstGeom prst="rect">
                <a:avLst/>
              </a:prstGeom>
              <a:blipFill>
                <a:blip r:embed="rId2"/>
                <a:stretch>
                  <a:fillRect t="-14286" b="-37500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82237" y="605104"/>
                <a:ext cx="8821274" cy="62324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>
                  <a:spcBef>
                    <a:spcPts val="1800"/>
                  </a:spcBef>
                </a:pPr>
                <a:r>
                  <a:rPr lang="en-US" sz="2400" b="1" dirty="0"/>
                  <a:t>Corollary 1: </a:t>
                </a:r>
                <a:r>
                  <a:rPr lang="en-US" sz="2400" dirty="0"/>
                  <a:t> Some languages are not Turing </a:t>
                </a:r>
                <a:r>
                  <a:rPr lang="en-US" sz="2400" dirty="0" err="1"/>
                  <a:t>recognisable</a:t>
                </a:r>
                <a:r>
                  <a:rPr lang="en-US" sz="2400" dirty="0"/>
                  <a:t>.</a:t>
                </a:r>
              </a:p>
              <a:p>
                <a:pPr lvl="0">
                  <a:spcBef>
                    <a:spcPts val="1800"/>
                  </a:spcBef>
                </a:pPr>
                <a:r>
                  <a:rPr lang="en-US" sz="2000" b="1" dirty="0"/>
                  <a:t>Proof</a:t>
                </a:r>
              </a:p>
              <a:p>
                <a:pPr lvl="0"/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 smtClean="0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l-GR" sz="2000" i="1" smtClean="0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en-GB" sz="2000" b="0" i="1" smtClean="0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GB" sz="20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2000" b="0" i="0" dirty="0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let</m:t>
                    </m:r>
                    <m:r>
                      <a:rPr lang="en-GB" sz="2000" b="0" i="0" dirty="0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l-GR" sz="2000" i="1" dirty="0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Σ</m:t>
                    </m:r>
                  </m:oMath>
                </a14:m>
                <a:r>
                  <a:rPr lang="en-GB" sz="20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={0,1})</a:t>
                </a:r>
              </a:p>
              <a:p>
                <a:pPr lvl="0">
                  <a:spcBef>
                    <a:spcPts val="600"/>
                  </a:spcBef>
                </a:pPr>
                <a:r>
                  <a:rPr lang="en-US" sz="2000" b="1" dirty="0">
                    <a:solidFill>
                      <a:schemeClr val="tx1"/>
                    </a:solidFill>
                  </a:rPr>
                  <a:t>Observation: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0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={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𝜀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 0,1,00,01,10,11,000, …}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 is countable.  </a:t>
                </a:r>
              </a:p>
              <a:p>
                <a:pPr lvl="0">
                  <a:spcBef>
                    <a:spcPts val="1800"/>
                  </a:spcBef>
                </a:pPr>
                <a:r>
                  <a:rPr lang="en-US" sz="2000" dirty="0">
                    <a:solidFill>
                      <a:schemeClr val="tx1"/>
                    </a:solidFill>
                  </a:rPr>
                  <a:t>Let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ℳ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all Turing machines</a:t>
                </a:r>
              </a:p>
              <a:p>
                <a:pPr lvl="0"/>
                <a:r>
                  <a:rPr lang="en-US" sz="2000" b="1" dirty="0">
                    <a:solidFill>
                      <a:schemeClr val="tx1"/>
                    </a:solidFill>
                  </a:rPr>
                  <a:t>Observation:</a:t>
                </a:r>
                <a:r>
                  <a:rPr lang="en-US" sz="2000" dirty="0">
                    <a:solidFill>
                      <a:schemeClr val="tx1"/>
                    </a:solidFill>
                  </a:rPr>
                  <a:t> 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ℳ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 is countable.  </a:t>
                </a:r>
              </a:p>
              <a:p>
                <a:pPr lvl="0"/>
                <a:r>
                  <a:rPr lang="en-US" sz="2000" dirty="0">
                    <a:solidFill>
                      <a:schemeClr val="tx1"/>
                    </a:solidFill>
                  </a:rPr>
                  <a:t>Because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|"/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〈"/>
                            <m:endChr m:val="〉"/>
                            <m:ctrlP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</m:d>
                      </m:e>
                    </m:d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 is a TM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a:rPr lang="en-US" sz="20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⊆</m:t>
                    </m:r>
                    <m:sSup>
                      <m:sSupPr>
                        <m:ctrlPr>
                          <a:rPr lang="en-US" sz="20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000" b="0" i="0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en-US" sz="20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.</a:t>
                </a:r>
              </a:p>
              <a:p>
                <a:pPr lvl="0"/>
                <a:endParaRPr lang="en-US" sz="2000" dirty="0"/>
              </a:p>
              <a:p>
                <a:pPr lvl="0"/>
                <a:r>
                  <a:rPr lang="en-US" sz="20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Let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ℒ</m:t>
                    </m:r>
                    <m:r>
                      <a:rPr lang="en-US" sz="2000" i="1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r>
                  <a:rPr lang="en-US" sz="20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all languages</a:t>
                </a:r>
                <a:endParaRPr lang="en-US" sz="2000" dirty="0"/>
              </a:p>
              <a:p>
                <a:pPr lvl="0"/>
                <a:r>
                  <a:rPr lang="en-US" sz="2000" dirty="0">
                    <a:solidFill>
                      <a:schemeClr val="tx1"/>
                    </a:solidFill>
                  </a:rPr>
                  <a:t>The set of all languages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ℒ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 is uncountable: </a:t>
                </a:r>
              </a:p>
              <a:p>
                <a:pPr lvl="0"/>
                <a:r>
                  <a:rPr lang="en-US" sz="2000" dirty="0">
                    <a:solidFill>
                      <a:schemeClr val="tx1"/>
                    </a:solidFill>
                  </a:rPr>
                  <a:t>there is a correspondence between the infinite binary sequences (uncountable) and the set of all languages (they are of the same size) </a:t>
                </a:r>
              </a:p>
              <a:p>
                <a:pPr lvl="0"/>
                <a:endParaRPr lang="en-US" sz="2000" dirty="0"/>
              </a:p>
              <a:p>
                <a:pPr lvl="0"/>
                <a:r>
                  <a:rPr lang="en-US" sz="2000" dirty="0"/>
                  <a:t>E</a:t>
                </a:r>
                <a:r>
                  <a:rPr lang="en-US" sz="2000" dirty="0">
                    <a:solidFill>
                      <a:schemeClr val="tx1"/>
                    </a:solidFill>
                  </a:rPr>
                  <a:t>ach language in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ℒ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 has its unique sequence in </a:t>
                </a:r>
                <a14:m>
                  <m:oMath xmlns:m="http://schemas.openxmlformats.org/officeDocument/2006/math">
                    <m:r>
                      <a:rPr lang="en-US" sz="200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ℬ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,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GB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sz="2000" i="1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ℒ</m:t>
                    </m:r>
                    <m:r>
                      <a:rPr lang="en-GB" sz="2000" b="0" i="1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2000" dirty="0">
                    <a:solidFill>
                      <a:schemeClr val="accent1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ℬ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 that is bijective (one-to-one and onto), therefore if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ℬ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 is uncountable, then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ℒ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 is so too.</a:t>
                </a:r>
              </a:p>
              <a:p>
                <a:pPr lvl="0"/>
                <a:endParaRPr lang="en-US" sz="2000" dirty="0"/>
              </a:p>
              <a:p>
                <a:pPr lvl="0"/>
                <a:r>
                  <a:rPr lang="en-US" sz="2000" dirty="0">
                    <a:solidFill>
                      <a:schemeClr val="tx1"/>
                    </a:solidFill>
                  </a:rPr>
                  <a:t>Since the set of Turing machines is countable and the set of languages is not, we conclude that some languages are not recognized by any Turing machine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237" y="605104"/>
                <a:ext cx="8821274" cy="6232475"/>
              </a:xfrm>
              <a:prstGeom prst="rect">
                <a:avLst/>
              </a:prstGeom>
              <a:blipFill>
                <a:blip r:embed="rId3"/>
                <a:stretch>
                  <a:fillRect l="-1151" t="-813" b="-813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88232931"/>
                  </p:ext>
                </p:extLst>
              </p:nvPr>
            </p:nvGraphicFramePr>
            <p:xfrm>
              <a:off x="7004649" y="2432398"/>
              <a:ext cx="5005114" cy="111252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802257">
                      <a:extLst>
                        <a:ext uri="{9D8B030D-6E8A-4147-A177-3AD203B41FA5}">
                          <a16:colId xmlns:a16="http://schemas.microsoft.com/office/drawing/2014/main" val="1656082932"/>
                        </a:ext>
                      </a:extLst>
                    </a:gridCol>
                    <a:gridCol w="569343">
                      <a:extLst>
                        <a:ext uri="{9D8B030D-6E8A-4147-A177-3AD203B41FA5}">
                          <a16:colId xmlns:a16="http://schemas.microsoft.com/office/drawing/2014/main" val="1603118748"/>
                        </a:ext>
                      </a:extLst>
                    </a:gridCol>
                    <a:gridCol w="396815">
                      <a:extLst>
                        <a:ext uri="{9D8B030D-6E8A-4147-A177-3AD203B41FA5}">
                          <a16:colId xmlns:a16="http://schemas.microsoft.com/office/drawing/2014/main" val="2646025689"/>
                        </a:ext>
                      </a:extLst>
                    </a:gridCol>
                    <a:gridCol w="368838">
                      <a:extLst>
                        <a:ext uri="{9D8B030D-6E8A-4147-A177-3AD203B41FA5}">
                          <a16:colId xmlns:a16="http://schemas.microsoft.com/office/drawing/2014/main" val="1157381406"/>
                        </a:ext>
                      </a:extLst>
                    </a:gridCol>
                    <a:gridCol w="477977">
                      <a:extLst>
                        <a:ext uri="{9D8B030D-6E8A-4147-A177-3AD203B41FA5}">
                          <a16:colId xmlns:a16="http://schemas.microsoft.com/office/drawing/2014/main" val="1244619825"/>
                        </a:ext>
                      </a:extLst>
                    </a:gridCol>
                    <a:gridCol w="477977">
                      <a:extLst>
                        <a:ext uri="{9D8B030D-6E8A-4147-A177-3AD203B41FA5}">
                          <a16:colId xmlns:a16="http://schemas.microsoft.com/office/drawing/2014/main" val="3890121385"/>
                        </a:ext>
                      </a:extLst>
                    </a:gridCol>
                    <a:gridCol w="477977">
                      <a:extLst>
                        <a:ext uri="{9D8B030D-6E8A-4147-A177-3AD203B41FA5}">
                          <a16:colId xmlns:a16="http://schemas.microsoft.com/office/drawing/2014/main" val="3879653391"/>
                        </a:ext>
                      </a:extLst>
                    </a:gridCol>
                    <a:gridCol w="477977">
                      <a:extLst>
                        <a:ext uri="{9D8B030D-6E8A-4147-A177-3AD203B41FA5}">
                          <a16:colId xmlns:a16="http://schemas.microsoft.com/office/drawing/2014/main" val="3727120820"/>
                        </a:ext>
                      </a:extLst>
                    </a:gridCol>
                    <a:gridCol w="611295">
                      <a:extLst>
                        <a:ext uri="{9D8B030D-6E8A-4147-A177-3AD203B41FA5}">
                          <a16:colId xmlns:a16="http://schemas.microsoft.com/office/drawing/2014/main" val="1378308168"/>
                        </a:ext>
                      </a:extLst>
                    </a:gridCol>
                    <a:gridCol w="344658">
                      <a:extLst>
                        <a:ext uri="{9D8B030D-6E8A-4147-A177-3AD203B41FA5}">
                          <a16:colId xmlns:a16="http://schemas.microsoft.com/office/drawing/2014/main" val="406185570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b="0" i="0" smtClean="0">
                                        <a:latin typeface="Cambria Math" panose="02040503050406030204" pitchFamily="18" charset="0"/>
                                      </a:rPr>
                                      <m:t>Σ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∗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/>
                            <a:t>{</a:t>
                          </a:r>
                          <a14:m>
                            <m:oMath xmlns:m="http://schemas.openxmlformats.org/officeDocument/2006/math"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oMath>
                          </a14:m>
                          <a:r>
                            <a:rPr lang="en-US" dirty="0"/>
                            <a:t>,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0,</a:t>
                          </a: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1,</a:t>
                          </a: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00,</a:t>
                          </a: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01,</a:t>
                          </a: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10,</a:t>
                          </a: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11,</a:t>
                          </a: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000,</a:t>
                          </a: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…</a:t>
                          </a: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8502497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∈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ℒ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{  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0,</a:t>
                          </a: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00,</a:t>
                          </a: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01,</a:t>
                          </a: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…</a:t>
                          </a: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0836374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…</a:t>
                          </a: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34374521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88232931"/>
                  </p:ext>
                </p:extLst>
              </p:nvPr>
            </p:nvGraphicFramePr>
            <p:xfrm>
              <a:off x="7004649" y="2432398"/>
              <a:ext cx="5005114" cy="111252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802257">
                      <a:extLst>
                        <a:ext uri="{9D8B030D-6E8A-4147-A177-3AD203B41FA5}">
                          <a16:colId xmlns:a16="http://schemas.microsoft.com/office/drawing/2014/main" val="1656082932"/>
                        </a:ext>
                      </a:extLst>
                    </a:gridCol>
                    <a:gridCol w="569343">
                      <a:extLst>
                        <a:ext uri="{9D8B030D-6E8A-4147-A177-3AD203B41FA5}">
                          <a16:colId xmlns:a16="http://schemas.microsoft.com/office/drawing/2014/main" val="1603118748"/>
                        </a:ext>
                      </a:extLst>
                    </a:gridCol>
                    <a:gridCol w="396815">
                      <a:extLst>
                        <a:ext uri="{9D8B030D-6E8A-4147-A177-3AD203B41FA5}">
                          <a16:colId xmlns:a16="http://schemas.microsoft.com/office/drawing/2014/main" val="2646025689"/>
                        </a:ext>
                      </a:extLst>
                    </a:gridCol>
                    <a:gridCol w="368838">
                      <a:extLst>
                        <a:ext uri="{9D8B030D-6E8A-4147-A177-3AD203B41FA5}">
                          <a16:colId xmlns:a16="http://schemas.microsoft.com/office/drawing/2014/main" val="1157381406"/>
                        </a:ext>
                      </a:extLst>
                    </a:gridCol>
                    <a:gridCol w="477977">
                      <a:extLst>
                        <a:ext uri="{9D8B030D-6E8A-4147-A177-3AD203B41FA5}">
                          <a16:colId xmlns:a16="http://schemas.microsoft.com/office/drawing/2014/main" val="1244619825"/>
                        </a:ext>
                      </a:extLst>
                    </a:gridCol>
                    <a:gridCol w="477977">
                      <a:extLst>
                        <a:ext uri="{9D8B030D-6E8A-4147-A177-3AD203B41FA5}">
                          <a16:colId xmlns:a16="http://schemas.microsoft.com/office/drawing/2014/main" val="3890121385"/>
                        </a:ext>
                      </a:extLst>
                    </a:gridCol>
                    <a:gridCol w="477977">
                      <a:extLst>
                        <a:ext uri="{9D8B030D-6E8A-4147-A177-3AD203B41FA5}">
                          <a16:colId xmlns:a16="http://schemas.microsoft.com/office/drawing/2014/main" val="3879653391"/>
                        </a:ext>
                      </a:extLst>
                    </a:gridCol>
                    <a:gridCol w="477977">
                      <a:extLst>
                        <a:ext uri="{9D8B030D-6E8A-4147-A177-3AD203B41FA5}">
                          <a16:colId xmlns:a16="http://schemas.microsoft.com/office/drawing/2014/main" val="3727120820"/>
                        </a:ext>
                      </a:extLst>
                    </a:gridCol>
                    <a:gridCol w="611295">
                      <a:extLst>
                        <a:ext uri="{9D8B030D-6E8A-4147-A177-3AD203B41FA5}">
                          <a16:colId xmlns:a16="http://schemas.microsoft.com/office/drawing/2014/main" val="1378308168"/>
                        </a:ext>
                      </a:extLst>
                    </a:gridCol>
                    <a:gridCol w="344658">
                      <a:extLst>
                        <a:ext uri="{9D8B030D-6E8A-4147-A177-3AD203B41FA5}">
                          <a16:colId xmlns:a16="http://schemas.microsoft.com/office/drawing/2014/main" val="406185570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CN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t="-6667" r="-528571" b="-22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CN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40000" t="-6667" r="-640000" b="-22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0,</a:t>
                          </a: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1,</a:t>
                          </a: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00,</a:t>
                          </a: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01,</a:t>
                          </a: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10,</a:t>
                          </a: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11,</a:t>
                          </a: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000,</a:t>
                          </a: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…</a:t>
                          </a: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8502497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CN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t="-110345" r="-528571" b="-1275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{  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0,</a:t>
                          </a: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00,</a:t>
                          </a: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01,</a:t>
                          </a: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…</a:t>
                          </a: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0836374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CN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t="-203333" r="-528571" b="-2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…</a:t>
                          </a: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34374521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8C48BBE5-BE26-4B42-A5D9-B3FBE71F1B89}"/>
              </a:ext>
            </a:extLst>
          </p:cNvPr>
          <p:cNvSpPr txBox="1"/>
          <p:nvPr/>
        </p:nvSpPr>
        <p:spPr>
          <a:xfrm>
            <a:off x="10958945" y="626918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1180064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2" y="0"/>
                <a:ext cx="8446926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sz="4000" b="0" i="1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n-US" sz="40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 is Uncountable – Corollary 2 </a:t>
                </a: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" y="0"/>
                <a:ext cx="8446926" cy="707886"/>
              </a:xfrm>
              <a:prstGeom prst="rect">
                <a:avLst/>
              </a:prstGeom>
              <a:blipFill>
                <a:blip r:embed="rId2"/>
                <a:stretch>
                  <a:fillRect t="-14286" b="-37500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80222" y="1131801"/>
                <a:ext cx="8821274" cy="18774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1200"/>
                  </a:spcBef>
                </a:pPr>
                <a:r>
                  <a:rPr lang="en-US" sz="2400" b="1" dirty="0"/>
                  <a:t>Corollary 2: </a:t>
                </a:r>
                <a:r>
                  <a:rPr lang="en-US" sz="2400" dirty="0"/>
                  <a:t>There exist languages that are not Turing Decidable</a:t>
                </a:r>
              </a:p>
              <a:p>
                <a:pPr>
                  <a:spcBef>
                    <a:spcPts val="1200"/>
                  </a:spcBef>
                </a:pPr>
                <a:r>
                  <a:rPr lang="en-US" sz="2400" b="1" dirty="0"/>
                  <a:t>Proof: </a:t>
                </a:r>
                <a:r>
                  <a:rPr lang="en-US" sz="2400" dirty="0"/>
                  <a:t>immediate from Corollary 1</a:t>
                </a:r>
                <a:endParaRPr lang="en-US" sz="2400" b="1" dirty="0"/>
              </a:p>
              <a:p>
                <a:pPr>
                  <a:spcBef>
                    <a:spcPts val="1200"/>
                  </a:spcBef>
                </a:pPr>
                <a:r>
                  <a:rPr lang="en-US" sz="2400" dirty="0"/>
                  <a:t>We will show some specific language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nor/>
                      </m:rPr>
                      <a:rPr lang="en-US" sz="2400" baseline="-25000" dirty="0">
                        <a:latin typeface="Cambria Math" panose="02040503050406030204" pitchFamily="18" charset="0"/>
                      </a:rPr>
                      <m:t>TM</m:t>
                    </m:r>
                  </m:oMath>
                </a14:m>
                <a:r>
                  <a:rPr lang="en-US" sz="2400" dirty="0"/>
                  <a:t> is not decidable but we know that it is Turing </a:t>
                </a:r>
                <a:r>
                  <a:rPr lang="en-US" sz="2400" dirty="0" err="1"/>
                  <a:t>recognisable</a:t>
                </a:r>
                <a:r>
                  <a:rPr lang="en-US" sz="2400" dirty="0"/>
                  <a:t>.</a:t>
                </a:r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222" y="1131801"/>
                <a:ext cx="8821274" cy="1877437"/>
              </a:xfrm>
              <a:prstGeom prst="rect">
                <a:avLst/>
              </a:prstGeom>
              <a:blipFill>
                <a:blip r:embed="rId3"/>
                <a:stretch>
                  <a:fillRect l="-1151" t="-2685" b="-6040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8C48BBE5-BE26-4B42-A5D9-B3FBE71F1B89}"/>
              </a:ext>
            </a:extLst>
          </p:cNvPr>
          <p:cNvSpPr txBox="1"/>
          <p:nvPr/>
        </p:nvSpPr>
        <p:spPr>
          <a:xfrm>
            <a:off x="6262255" y="658090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22123452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2" y="0"/>
                <a:ext cx="8446926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sz="4000" i="1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nor/>
                      </m:rPr>
                      <a:rPr lang="en-US" sz="4000" baseline="-2500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TM</m:t>
                    </m:r>
                  </m:oMath>
                </a14:m>
                <a:r>
                  <a:rPr lang="en-US" sz="40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 is undecidable</a:t>
                </a: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" y="0"/>
                <a:ext cx="8446926" cy="707886"/>
              </a:xfrm>
              <a:prstGeom prst="rect">
                <a:avLst/>
              </a:prstGeom>
              <a:blipFill>
                <a:blip r:embed="rId2"/>
                <a:stretch>
                  <a:fillRect t="-15517" b="-362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334601" y="1131801"/>
                <a:ext cx="6589370" cy="51800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600"/>
                  </a:spcBef>
                </a:pPr>
                <a:r>
                  <a:rPr lang="en-US" sz="24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Recall 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nor/>
                      </m:rPr>
                      <a:rPr lang="en-US" sz="2400" baseline="-2500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TM</m:t>
                    </m:r>
                    <m:r>
                      <m:rPr>
                        <m:nor/>
                      </m:rPr>
                      <a:rPr lang="en-US" sz="2400" baseline="-2500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={</m:t>
                    </m:r>
                    <m:d>
                      <m:dPr>
                        <m:begChr m:val="〈"/>
                        <m:endChr m:val="〉"/>
                        <m:ctrlPr>
                          <a:rPr lang="en-US" sz="2400" i="1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US" sz="2400" i="1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i="1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  <m:r>
                      <a:rPr lang="en-US" sz="2400" i="1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| </m:t>
                    </m:r>
                    <m:r>
                      <a:rPr lang="en-US" sz="2400" i="1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4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 is a TM and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4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 accepts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sz="2400" i="1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sz="2400" dirty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  <a:p>
                <a:pPr>
                  <a:spcBef>
                    <a:spcPts val="1200"/>
                  </a:spcBef>
                </a:pPr>
                <a:r>
                  <a:rPr lang="en-US" sz="24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Theorem: 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nor/>
                      </m:rPr>
                      <a:rPr lang="en-US" sz="2400" baseline="-2500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TM</m:t>
                    </m:r>
                    <m:r>
                      <m:rPr>
                        <m:nor/>
                      </m:rPr>
                      <a:rPr lang="en-US" sz="240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rPr>
                      <m:t> </m:t>
                    </m:r>
                  </m:oMath>
                </a14:m>
                <a:r>
                  <a:rPr lang="en-US" sz="24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is not decidable</a:t>
                </a:r>
              </a:p>
              <a:p>
                <a:r>
                  <a:rPr lang="en-US" sz="2000" dirty="0"/>
                  <a:t>Proof by contradiction:   Assume some TM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en-US" sz="2000" dirty="0"/>
                  <a:t> </a:t>
                </a:r>
                <a:r>
                  <a:rPr lang="en-US" sz="2000" dirty="0">
                    <a:solidFill>
                      <a:schemeClr val="tx1"/>
                    </a:solidFill>
                  </a:rPr>
                  <a:t>decides </a:t>
                </a:r>
                <a14:m>
                  <m:oMath xmlns:m="http://schemas.openxmlformats.org/officeDocument/2006/math">
                    <m:r>
                      <a:rPr 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nor/>
                      </m:rPr>
                      <a:rPr lang="en-US" sz="2000" baseline="-250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TM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.</a:t>
                </a:r>
              </a:p>
              <a:p>
                <a:pPr>
                  <a:spcBef>
                    <a:spcPts val="1200"/>
                  </a:spcBef>
                </a:pPr>
                <a:r>
                  <a:rPr lang="en-US" sz="2000" dirty="0"/>
                  <a:t>So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 on </a:t>
                </a:r>
                <a14:m>
                  <m:oMath xmlns:m="http://schemas.openxmlformats.org/officeDocument/2006/math">
                    <m:d>
                      <m:dPr>
                        <m:begChr m:val="〈"/>
                        <m:endChr m:val="〉"/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  <m:r>
                      <a:rPr lang="en-US" sz="20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m:rPr>
                                <m:nor/>
                              </m:rPr>
                              <a:rPr lang="en-US" sz="2000" i="1" dirty="0"/>
                              <m:t>Accept</m:t>
                            </m:r>
                            <m:r>
                              <m:rPr>
                                <m:nor/>
                              </m:rPr>
                              <a:rPr lang="en-US" sz="2000" b="0" i="1" dirty="0" smtClean="0"/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sz="2000" b="0" i="0" dirty="0" smtClean="0"/>
                              <m:t>  </m:t>
                            </m:r>
                            <m:r>
                              <m:rPr>
                                <m:nor/>
                              </m:rPr>
                              <a:rPr lang="en-US" sz="2000" dirty="0"/>
                              <m:t>if</m:t>
                            </m:r>
                            <m:r>
                              <m:rPr>
                                <m:nor/>
                              </m:rPr>
                              <a:rPr lang="en-US" sz="2000" dirty="0"/>
                              <m:t> </m:t>
                            </m:r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𝑀</m:t>
                            </m:r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sz="2000" dirty="0"/>
                              <m:t>accepts</m:t>
                            </m:r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e>
                            <m:r>
                              <m:rPr>
                                <m:nor/>
                              </m:rPr>
                              <a:rPr lang="en-US" sz="2000" i="1" dirty="0"/>
                              <m:t>Reject</m:t>
                            </m:r>
                            <m:r>
                              <m:rPr>
                                <m:nor/>
                              </m:rPr>
                              <a:rPr lang="en-US" sz="2000" b="0" i="1" dirty="0" smtClean="0"/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sz="2000" b="0" i="0" dirty="0" smtClean="0"/>
                              <m:t>    </m:t>
                            </m:r>
                            <m:r>
                              <m:rPr>
                                <m:nor/>
                              </m:rPr>
                              <a:rPr lang="en-US" sz="2000" dirty="0"/>
                              <m:t>if</m:t>
                            </m:r>
                            <m:r>
                              <m:rPr>
                                <m:nor/>
                              </m:rPr>
                              <a:rPr lang="en-US" sz="2000" dirty="0"/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sz="2000" dirty="0"/>
                              <m:t>not</m:t>
                            </m:r>
                            <m:r>
                              <m:rPr>
                                <m:nor/>
                              </m:rPr>
                              <a:rPr lang="en-US" sz="2000" b="0" i="0" dirty="0" smtClean="0"/>
                              <m:t>                </m:t>
                            </m:r>
                            <m:r>
                              <m:rPr>
                                <m:nor/>
                              </m:rPr>
                              <a:rPr lang="en-US" sz="2000" dirty="0"/>
                              <m:t> </m:t>
                            </m:r>
                          </m:e>
                        </m:eqArr>
                      </m:e>
                    </m:d>
                  </m:oMath>
                </a14:m>
                <a:endParaRPr lang="en-US" sz="2000" dirty="0">
                  <a:solidFill>
                    <a:schemeClr val="tx1"/>
                  </a:solidFill>
                </a:endParaRPr>
              </a:p>
              <a:p>
                <a:pPr>
                  <a:spcBef>
                    <a:spcPts val="1200"/>
                  </a:spcBef>
                </a:pPr>
                <a:r>
                  <a:rPr lang="en-US" sz="2000" dirty="0"/>
                  <a:t>Use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en-US" sz="2000" dirty="0"/>
                  <a:t> to construct TM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endParaRPr lang="en-US" sz="2000" dirty="0"/>
              </a:p>
              <a:p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r>
                  <a:rPr lang="en-US" sz="2000" dirty="0"/>
                  <a:t>“On input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〈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〉</m:t>
                    </m:r>
                  </m:oMath>
                </a14:m>
                <a:r>
                  <a:rPr lang="en-US" sz="2000" dirty="0"/>
                  <a:t> </a:t>
                </a:r>
              </a:p>
              <a:p>
                <a:r>
                  <a:rPr lang="en-US" sz="2000" dirty="0"/>
                  <a:t>           1.  Simulate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en-US" sz="2000" dirty="0"/>
                  <a:t> on input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〈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begChr m:val="〈"/>
                        <m:endChr m:val="〉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〉</m:t>
                    </m:r>
                  </m:oMath>
                </a14:m>
                <a:endParaRPr lang="en-US" sz="2000" dirty="0"/>
              </a:p>
              <a:p>
                <a:r>
                  <a:rPr lang="en-US" sz="2000" dirty="0"/>
                  <a:t>           2.  </a:t>
                </a:r>
                <a:r>
                  <a:rPr lang="en-US" sz="2000" i="1" dirty="0"/>
                  <a:t>Accept</a:t>
                </a:r>
                <a:r>
                  <a:rPr lang="en-US" sz="2000" dirty="0"/>
                  <a:t> if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en-US" sz="2000" dirty="0"/>
                  <a:t> rejects.  </a:t>
                </a:r>
                <a:r>
                  <a:rPr lang="en-US" sz="2000" i="1" dirty="0"/>
                  <a:t>Reject</a:t>
                </a:r>
                <a:r>
                  <a:rPr lang="en-US" sz="2000" dirty="0"/>
                  <a:t> if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en-US" sz="2000" dirty="0"/>
                  <a:t> accepts.”</a:t>
                </a:r>
              </a:p>
              <a:p>
                <a:pPr>
                  <a:spcBef>
                    <a:spcPts val="1800"/>
                  </a:spcBef>
                </a:pP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sz="2400" dirty="0"/>
                  <a:t> accepts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〈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〉</m:t>
                    </m:r>
                  </m:oMath>
                </a14:m>
                <a:r>
                  <a:rPr lang="en-US" sz="2400" dirty="0"/>
                  <a:t>  iff 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400" dirty="0"/>
                  <a:t> doesn’t accept </a:t>
                </a:r>
                <a14:m>
                  <m:oMath xmlns:m="http://schemas.openxmlformats.org/officeDocument/2006/math">
                    <m:d>
                      <m:dPr>
                        <m:begChr m:val="〈"/>
                        <m:endChr m:val="〉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</m:d>
                  </m:oMath>
                </a14:m>
                <a:r>
                  <a:rPr lang="en-US" sz="2400" dirty="0"/>
                  <a:t> .</a:t>
                </a:r>
              </a:p>
              <a:p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sz="2400" dirty="0"/>
                  <a:t> accepts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〈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〉</m:t>
                    </m:r>
                  </m:oMath>
                </a14:m>
                <a:r>
                  <a:rPr lang="en-US" sz="2400" dirty="0"/>
                  <a:t>   iff 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sz="2400" dirty="0"/>
                  <a:t> doesn’t accept  </a:t>
                </a:r>
                <a14:m>
                  <m:oMath xmlns:m="http://schemas.openxmlformats.org/officeDocument/2006/math">
                    <m:d>
                      <m:dPr>
                        <m:begChr m:val="〈"/>
                        <m:endChr m:val="〉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d>
                  </m:oMath>
                </a14:m>
                <a:r>
                  <a:rPr lang="en-US" sz="2400" dirty="0"/>
                  <a:t> .  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000" dirty="0"/>
                  <a:t>Contradiction.</a:t>
                </a:r>
              </a:p>
              <a:p>
                <a:endParaRPr lang="en-US" sz="20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601" y="1131801"/>
                <a:ext cx="6589370" cy="5180072"/>
              </a:xfrm>
              <a:prstGeom prst="rect">
                <a:avLst/>
              </a:prstGeom>
              <a:blipFill>
                <a:blip r:embed="rId3"/>
                <a:stretch>
                  <a:fillRect l="-1480" t="-942" r="-3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ctangle 13"/>
          <p:cNvSpPr/>
          <p:nvPr/>
        </p:nvSpPr>
        <p:spPr>
          <a:xfrm>
            <a:off x="227001" y="5981064"/>
            <a:ext cx="387843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Why is this proof a diagonalization?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93417" y="4044168"/>
            <a:ext cx="3814744" cy="3566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7793417" y="4413500"/>
            <a:ext cx="3814744" cy="3566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7793417" y="4782832"/>
            <a:ext cx="3814744" cy="3566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7793417" y="5152163"/>
            <a:ext cx="3814744" cy="8289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/>
          <p:cNvSpPr/>
          <p:nvPr/>
        </p:nvSpPr>
        <p:spPr>
          <a:xfrm>
            <a:off x="7793417" y="6051976"/>
            <a:ext cx="446404" cy="3566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/>
          <p:cNvSpPr/>
          <p:nvPr/>
        </p:nvSpPr>
        <p:spPr>
          <a:xfrm>
            <a:off x="8347421" y="6051976"/>
            <a:ext cx="446404" cy="3566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/>
          <p:cNvSpPr/>
          <p:nvPr/>
        </p:nvSpPr>
        <p:spPr>
          <a:xfrm>
            <a:off x="8930415" y="6051976"/>
            <a:ext cx="446404" cy="3566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/>
          <p:cNvSpPr/>
          <p:nvPr/>
        </p:nvSpPr>
        <p:spPr>
          <a:xfrm>
            <a:off x="9525695" y="6051976"/>
            <a:ext cx="446404" cy="3566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11048084" y="6051976"/>
            <a:ext cx="446404" cy="3566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AAE6CAE-49F6-244C-A6DD-F38D043BFE27}"/>
              </a:ext>
            </a:extLst>
          </p:cNvPr>
          <p:cNvSpPr txBox="1"/>
          <p:nvPr/>
        </p:nvSpPr>
        <p:spPr>
          <a:xfrm>
            <a:off x="5763491" y="634538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40569079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  <p:bldP spid="1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2" y="0"/>
                <a:ext cx="8446926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sz="4000" i="1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nor/>
                      </m:rPr>
                      <a:rPr lang="en-US" sz="4000" baseline="-2500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TM</m:t>
                    </m:r>
                  </m:oMath>
                </a14:m>
                <a:r>
                  <a:rPr lang="en-US" sz="40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 is undecidable</a:t>
                </a: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" y="0"/>
                <a:ext cx="8446926" cy="707886"/>
              </a:xfrm>
              <a:prstGeom prst="rect">
                <a:avLst/>
              </a:prstGeom>
              <a:blipFill>
                <a:blip r:embed="rId2"/>
                <a:stretch>
                  <a:fillRect t="-15517" b="-362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41188" y="597545"/>
                <a:ext cx="6589370" cy="26314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600"/>
                  </a:spcBef>
                </a:pPr>
                <a:r>
                  <a:rPr lang="en-US" sz="24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Recall 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nor/>
                      </m:rPr>
                      <a:rPr lang="en-US" sz="2400" baseline="-2500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TM</m:t>
                    </m:r>
                    <m:r>
                      <m:rPr>
                        <m:nor/>
                      </m:rPr>
                      <a:rPr lang="en-US" sz="2400" baseline="-2500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={</m:t>
                    </m:r>
                    <m:d>
                      <m:dPr>
                        <m:begChr m:val="〈"/>
                        <m:endChr m:val="〉"/>
                        <m:ctrlPr>
                          <a:rPr lang="en-US" sz="2400" i="1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US" sz="2400" i="1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i="1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  <m:r>
                      <a:rPr lang="en-US" sz="2400" i="1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| </m:t>
                    </m:r>
                    <m:r>
                      <a:rPr lang="en-US" sz="2400" i="1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4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 is a TM and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4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 accepts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sz="2400" i="1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sz="2400" dirty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  <a:p>
                <a:pPr>
                  <a:spcBef>
                    <a:spcPts val="1200"/>
                  </a:spcBef>
                </a:pPr>
                <a:r>
                  <a:rPr lang="en-US" sz="24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Theorem: 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nor/>
                      </m:rPr>
                      <a:rPr lang="en-US" sz="2400" baseline="-2500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TM</m:t>
                    </m:r>
                    <m:r>
                      <m:rPr>
                        <m:nor/>
                      </m:rPr>
                      <a:rPr lang="en-US" sz="240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rPr>
                      <m:t> </m:t>
                    </m:r>
                  </m:oMath>
                </a14:m>
                <a:r>
                  <a:rPr lang="en-US" sz="24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is not decidable</a:t>
                </a:r>
              </a:p>
              <a:p>
                <a:r>
                  <a:rPr lang="en-US" sz="2000" dirty="0"/>
                  <a:t>Proof by contradiction:   Assume some TM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en-US" sz="2000" dirty="0"/>
                  <a:t> </a:t>
                </a:r>
                <a:r>
                  <a:rPr lang="en-US" sz="2000" dirty="0">
                    <a:solidFill>
                      <a:schemeClr val="tx1"/>
                    </a:solidFill>
                  </a:rPr>
                  <a:t>decides </a:t>
                </a:r>
                <a14:m>
                  <m:oMath xmlns:m="http://schemas.openxmlformats.org/officeDocument/2006/math">
                    <m:r>
                      <a:rPr 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nor/>
                      </m:rPr>
                      <a:rPr lang="en-US" sz="2000" baseline="-250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TM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.</a:t>
                </a:r>
                <a:endParaRPr lang="en-US" sz="2000" dirty="0"/>
              </a:p>
              <a:p>
                <a:pPr marL="457200" indent="-457200">
                  <a:spcBef>
                    <a:spcPts val="1800"/>
                  </a:spcBef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en-US" sz="2400" dirty="0"/>
                  <a:t> accepts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〈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〉</m:t>
                    </m:r>
                  </m:oMath>
                </a14:m>
                <a:r>
                  <a:rPr lang="en-US" sz="2400" dirty="0"/>
                  <a:t>  iff 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400" dirty="0"/>
                  <a:t> accepts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sz="2400" dirty="0"/>
                  <a:t>.</a:t>
                </a:r>
              </a:p>
              <a:p>
                <a:pPr marL="457200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sz="2400" dirty="0"/>
                  <a:t> accepts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〈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〉</m:t>
                    </m:r>
                  </m:oMath>
                </a14:m>
                <a:r>
                  <a:rPr lang="en-US" sz="2400" dirty="0"/>
                  <a:t>   </a:t>
                </a:r>
                <a:r>
                  <a:rPr lang="en-US" sz="2400" dirty="0" err="1"/>
                  <a:t>iff</a:t>
                </a:r>
                <a:r>
                  <a:rPr lang="en-US" sz="2400" dirty="0"/>
                  <a:t> 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400" dirty="0"/>
                  <a:t> doesn’t accept  </a:t>
                </a:r>
                <a14:m>
                  <m:oMath xmlns:m="http://schemas.openxmlformats.org/officeDocument/2006/math">
                    <m:d>
                      <m:dPr>
                        <m:begChr m:val="〈"/>
                        <m:endChr m:val="〉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</m:d>
                  </m:oMath>
                </a14:m>
                <a:r>
                  <a:rPr lang="en-US" sz="2400" dirty="0"/>
                  <a:t> .</a:t>
                </a:r>
              </a:p>
              <a:p>
                <a:pPr marL="457200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sz="2400" dirty="0"/>
                  <a:t> accepts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〈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〉</m:t>
                    </m:r>
                  </m:oMath>
                </a14:m>
                <a:r>
                  <a:rPr lang="en-US" sz="2400" dirty="0"/>
                  <a:t>   iff 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sz="2400" dirty="0"/>
                  <a:t> doesn’t accept  </a:t>
                </a:r>
                <a14:m>
                  <m:oMath xmlns:m="http://schemas.openxmlformats.org/officeDocument/2006/math">
                    <m:d>
                      <m:dPr>
                        <m:begChr m:val="〈"/>
                        <m:endChr m:val="〉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d>
                  </m:oMath>
                </a14:m>
                <a:r>
                  <a:rPr lang="en-US" sz="2400" dirty="0"/>
                  <a:t> .  </a:t>
                </a:r>
                <a:endParaRPr lang="en-US" sz="20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88" y="597545"/>
                <a:ext cx="6589370" cy="2631490"/>
              </a:xfrm>
              <a:prstGeom prst="rect">
                <a:avLst/>
              </a:prstGeom>
              <a:blipFill>
                <a:blip r:embed="rId3"/>
                <a:stretch>
                  <a:fillRect l="-1538" t="-1442" r="-385" b="-432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9"/>
          <p:cNvSpPr/>
          <p:nvPr/>
        </p:nvSpPr>
        <p:spPr>
          <a:xfrm>
            <a:off x="7725551" y="3567424"/>
            <a:ext cx="20431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All TM descriptions:</a:t>
            </a:r>
          </a:p>
        </p:txBody>
      </p:sp>
      <p:grpSp>
        <p:nvGrpSpPr>
          <p:cNvPr id="13" name="Group 12"/>
          <p:cNvGrpSpPr/>
          <p:nvPr/>
        </p:nvGrpSpPr>
        <p:grpSpPr>
          <a:xfrm>
            <a:off x="7075715" y="3567424"/>
            <a:ext cx="717702" cy="703702"/>
            <a:chOff x="7239230" y="2273236"/>
            <a:chExt cx="717702" cy="703702"/>
          </a:xfrm>
        </p:grpSpPr>
        <p:sp>
          <p:nvSpPr>
            <p:cNvPr id="11" name="Rectangle 10"/>
            <p:cNvSpPr/>
            <p:nvPr/>
          </p:nvSpPr>
          <p:spPr>
            <a:xfrm>
              <a:off x="7239230" y="2273236"/>
              <a:ext cx="717702" cy="6463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dirty="0"/>
                <a:t>All TMs</a:t>
              </a:r>
            </a:p>
          </p:txBody>
        </p:sp>
        <p:sp>
          <p:nvSpPr>
            <p:cNvPr id="12" name="Down Arrow 11"/>
            <p:cNvSpPr/>
            <p:nvPr/>
          </p:nvSpPr>
          <p:spPr>
            <a:xfrm>
              <a:off x="7490480" y="2862195"/>
              <a:ext cx="215201" cy="114743"/>
            </a:xfrm>
            <a:prstGeom prst="downArrow">
              <a:avLst/>
            </a:prstGeom>
            <a:noFill/>
            <a:ln>
              <a:solidFill>
                <a:schemeClr val="tx1"/>
              </a:solidFill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/>
          <p:cNvSpPr/>
          <p:nvPr/>
        </p:nvSpPr>
        <p:spPr>
          <a:xfrm>
            <a:off x="930701" y="3525896"/>
            <a:ext cx="387843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Why is this proof a diagonalization?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5454" y="4366203"/>
            <a:ext cx="3814744" cy="3566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7861302" y="4770887"/>
            <a:ext cx="3814744" cy="3566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7791916" y="5201206"/>
            <a:ext cx="3814744" cy="3566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7834145" y="5512703"/>
            <a:ext cx="3814744" cy="8289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8963530" y="5155928"/>
            <a:ext cx="431721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pPr algn="ctr"/>
            <a:r>
              <a:rPr lang="en-US" dirty="0" err="1">
                <a:solidFill>
                  <a:srgbClr val="FF0000"/>
                </a:solidFill>
              </a:rPr>
              <a:t>rej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9437480" y="5516559"/>
            <a:ext cx="431721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pPr algn="ctr"/>
            <a:r>
              <a:rPr lang="en-US" dirty="0" err="1">
                <a:solidFill>
                  <a:srgbClr val="FF0000"/>
                </a:solidFill>
              </a:rPr>
              <a:t>rej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8349444" y="4696501"/>
            <a:ext cx="490840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pPr lvl="0" algn="ctr">
              <a:defRPr/>
            </a:pPr>
            <a:r>
              <a:rPr lang="en-US" dirty="0">
                <a:solidFill>
                  <a:srgbClr val="FF0000"/>
                </a:solidFill>
              </a:rPr>
              <a:t>acc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93417" y="6392825"/>
            <a:ext cx="446404" cy="3566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/>
          <p:cNvSpPr/>
          <p:nvPr/>
        </p:nvSpPr>
        <p:spPr>
          <a:xfrm>
            <a:off x="8318097" y="6389743"/>
            <a:ext cx="446404" cy="3566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/>
          <p:cNvSpPr/>
          <p:nvPr/>
        </p:nvSpPr>
        <p:spPr>
          <a:xfrm>
            <a:off x="8948847" y="6381224"/>
            <a:ext cx="446404" cy="3566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/>
          <p:cNvSpPr/>
          <p:nvPr/>
        </p:nvSpPr>
        <p:spPr>
          <a:xfrm>
            <a:off x="9586368" y="6386793"/>
            <a:ext cx="446404" cy="3566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11048084" y="6412587"/>
            <a:ext cx="446404" cy="3566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AAE6CAE-49F6-244C-A6DD-F38D043BFE27}"/>
              </a:ext>
            </a:extLst>
          </p:cNvPr>
          <p:cNvSpPr txBox="1"/>
          <p:nvPr/>
        </p:nvSpPr>
        <p:spPr>
          <a:xfrm>
            <a:off x="5763491" y="634538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11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56D3EF9E-57DB-7B7E-F6F1-0D19E62B7DA6}"/>
              </a:ext>
            </a:extLst>
          </p:cNvPr>
          <p:cNvGrpSpPr/>
          <p:nvPr/>
        </p:nvGrpSpPr>
        <p:grpSpPr>
          <a:xfrm>
            <a:off x="319482" y="4031452"/>
            <a:ext cx="5344159" cy="2413516"/>
            <a:chOff x="319482" y="4031452"/>
            <a:chExt cx="5344159" cy="2413516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171D5BA5-6D0B-1911-EE64-B2FFA058574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9212" y="4387568"/>
              <a:ext cx="4584700" cy="2057400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0C9E0EE5-AAF6-ADE2-5171-44A80150CC46}"/>
                    </a:ext>
                  </a:extLst>
                </p:cNvPr>
                <p:cNvSpPr txBox="1"/>
                <p:nvPr/>
              </p:nvSpPr>
              <p:spPr>
                <a:xfrm>
                  <a:off x="319482" y="4031452"/>
                  <a:ext cx="534415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a14:m>
                  <a:r>
                    <a:rPr lang="en-CN" dirty="0"/>
                    <a:t> on </a:t>
                  </a:r>
                  <a14:m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𝑤</m:t>
                      </m:r>
                    </m:oMath>
                  </a14:m>
                  <a:r>
                    <a:rPr lang="en-CN" dirty="0"/>
                    <a:t>: Either accepts, or empty if rejects or loops</a:t>
                  </a:r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0C9E0EE5-AAF6-ADE2-5171-44A80150CC4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9482" y="4031452"/>
                  <a:ext cx="5344159" cy="369332"/>
                </a:xfrm>
                <a:prstGeom prst="rect">
                  <a:avLst/>
                </a:prstGeom>
                <a:blipFill>
                  <a:blip r:embed="rId6"/>
                  <a:stretch>
                    <a:fillRect t="-6667" b="-26667"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12FB8376-F459-824A-2AD7-80CECE704205}"/>
              </a:ext>
            </a:extLst>
          </p:cNvPr>
          <p:cNvGrpSpPr/>
          <p:nvPr/>
        </p:nvGrpSpPr>
        <p:grpSpPr>
          <a:xfrm>
            <a:off x="6945264" y="640755"/>
            <a:ext cx="5344159" cy="2414154"/>
            <a:chOff x="6945264" y="640755"/>
            <a:chExt cx="5344159" cy="2414154"/>
          </a:xfrm>
        </p:grpSpPr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BD25B181-67D6-88E3-2B8D-C651021BEC0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326965" y="972109"/>
              <a:ext cx="4622800" cy="2082800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33A73694-DBA6-1E14-08EC-C984CD1D94BA}"/>
                    </a:ext>
                  </a:extLst>
                </p:cNvPr>
                <p:cNvSpPr txBox="1"/>
                <p:nvPr/>
              </p:nvSpPr>
              <p:spPr>
                <a:xfrm>
                  <a:off x="6945264" y="640755"/>
                  <a:ext cx="534415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𝐻</m:t>
                      </m:r>
                    </m:oMath>
                  </a14:m>
                  <a:r>
                    <a:rPr lang="en-CN" dirty="0"/>
                    <a:t> on</a:t>
                  </a:r>
                  <a14:m>
                    <m:oMath xmlns:m="http://schemas.openxmlformats.org/officeDocument/2006/math">
                      <m:r>
                        <a:rPr lang="en-GB" b="0" i="0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a14:m>
                  <a:r>
                    <a:rPr lang="en-CN" dirty="0"/>
                    <a:t>: accepts when </a:t>
                  </a:r>
                  <a14:m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𝑀</m:t>
                      </m:r>
                    </m:oMath>
                  </a14:m>
                  <a:r>
                    <a:rPr lang="en-CN" dirty="0"/>
                    <a:t> accepts, rejects otherwise</a:t>
                  </a:r>
                </a:p>
              </p:txBody>
            </p:sp>
          </mc:Choice>
          <mc:Fallback xmlns="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33A73694-DBA6-1E14-08EC-C984CD1D94B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45264" y="640755"/>
                  <a:ext cx="5344159" cy="369332"/>
                </a:xfrm>
                <a:prstGeom prst="rect">
                  <a:avLst/>
                </a:prstGeom>
                <a:blipFill>
                  <a:blip r:embed="rId8"/>
                  <a:stretch>
                    <a:fillRect t="-6667" b="-26667"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AF97978B-AAEE-8F3E-381D-BE5EF3C20B64}"/>
                  </a:ext>
                </a:extLst>
              </p:cNvPr>
              <p:cNvSpPr txBox="1"/>
              <p:nvPr/>
            </p:nvSpPr>
            <p:spPr>
              <a:xfrm>
                <a:off x="6765400" y="2936760"/>
                <a:ext cx="5344159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CN" dirty="0"/>
                  <a:t>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CN" dirty="0"/>
                  <a:t> : accepts when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CN" dirty="0"/>
                  <a:t> rejects, rejects otherwise (we’re changing the diagonal entries =&gt; contradiction!)</a:t>
                </a: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AF97978B-AAEE-8F3E-381D-BE5EF3C20B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65400" y="2936760"/>
                <a:ext cx="5344159" cy="646331"/>
              </a:xfrm>
              <a:prstGeom prst="rect">
                <a:avLst/>
              </a:prstGeom>
              <a:blipFill>
                <a:blip r:embed="rId9"/>
                <a:stretch>
                  <a:fillRect l="-948" t="-5769" b="-11538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Rectangle 27">
            <a:extLst>
              <a:ext uri="{FF2B5EF4-FFF2-40B4-BE49-F238E27FC236}">
                <a16:creationId xmlns:a16="http://schemas.microsoft.com/office/drawing/2014/main" id="{1F73815B-91AE-FB2C-F8A4-E43CBB0B41EE}"/>
              </a:ext>
            </a:extLst>
          </p:cNvPr>
          <p:cNvSpPr/>
          <p:nvPr/>
        </p:nvSpPr>
        <p:spPr>
          <a:xfrm>
            <a:off x="7743640" y="4346789"/>
            <a:ext cx="490840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pPr lvl="0" algn="ctr">
              <a:defRPr/>
            </a:pPr>
            <a:r>
              <a:rPr lang="en-US" dirty="0">
                <a:solidFill>
                  <a:srgbClr val="FF0000"/>
                </a:solidFill>
              </a:rPr>
              <a:t>acc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4" name="Table 23">
                <a:extLst>
                  <a:ext uri="{FF2B5EF4-FFF2-40B4-BE49-F238E27FC236}">
                    <a16:creationId xmlns:a16="http://schemas.microsoft.com/office/drawing/2014/main" id="{9D8C8768-C433-AE59-C93D-9D07B3446A1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85966342"/>
                  </p:ext>
                </p:extLst>
              </p:nvPr>
            </p:nvGraphicFramePr>
            <p:xfrm>
              <a:off x="7169650" y="3936756"/>
              <a:ext cx="4344576" cy="2836211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572676">
                      <a:extLst>
                        <a:ext uri="{9D8B030D-6E8A-4147-A177-3AD203B41FA5}">
                          <a16:colId xmlns:a16="http://schemas.microsoft.com/office/drawing/2014/main" val="2774232432"/>
                        </a:ext>
                      </a:extLst>
                    </a:gridCol>
                    <a:gridCol w="571500">
                      <a:extLst>
                        <a:ext uri="{9D8B030D-6E8A-4147-A177-3AD203B41FA5}">
                          <a16:colId xmlns:a16="http://schemas.microsoft.com/office/drawing/2014/main" val="3363580173"/>
                        </a:ext>
                      </a:extLst>
                    </a:gridCol>
                    <a:gridCol w="566737">
                      <a:extLst>
                        <a:ext uri="{9D8B030D-6E8A-4147-A177-3AD203B41FA5}">
                          <a16:colId xmlns:a16="http://schemas.microsoft.com/office/drawing/2014/main" val="3632595979"/>
                        </a:ext>
                      </a:extLst>
                    </a:gridCol>
                    <a:gridCol w="581025">
                      <a:extLst>
                        <a:ext uri="{9D8B030D-6E8A-4147-A177-3AD203B41FA5}">
                          <a16:colId xmlns:a16="http://schemas.microsoft.com/office/drawing/2014/main" val="3230923150"/>
                        </a:ext>
                      </a:extLst>
                    </a:gridCol>
                    <a:gridCol w="571500">
                      <a:extLst>
                        <a:ext uri="{9D8B030D-6E8A-4147-A177-3AD203B41FA5}">
                          <a16:colId xmlns:a16="http://schemas.microsoft.com/office/drawing/2014/main" val="2723568372"/>
                        </a:ext>
                      </a:extLst>
                    </a:gridCol>
                    <a:gridCol w="914400">
                      <a:extLst>
                        <a:ext uri="{9D8B030D-6E8A-4147-A177-3AD203B41FA5}">
                          <a16:colId xmlns:a16="http://schemas.microsoft.com/office/drawing/2014/main" val="1996364502"/>
                        </a:ext>
                      </a:extLst>
                    </a:gridCol>
                    <a:gridCol w="566738">
                      <a:extLst>
                        <a:ext uri="{9D8B030D-6E8A-4147-A177-3AD203B41FA5}">
                          <a16:colId xmlns:a16="http://schemas.microsoft.com/office/drawing/2014/main" val="55357225"/>
                        </a:ext>
                      </a:extLst>
                    </a:gridCol>
                  </a:tblGrid>
                  <a:tr h="405173"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〈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𝑀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〉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〈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𝑀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〉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〈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𝑀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〉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〈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𝑀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〉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. . .</a:t>
                          </a:r>
                        </a:p>
                      </a:txBody>
                      <a:tcP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〈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〉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542883622"/>
                      </a:ext>
                    </a:extLst>
                  </a:tr>
                  <a:tr h="405173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𝑀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err="1"/>
                            <a:t>rej</a:t>
                          </a:r>
                          <a:endParaRPr lang="en-US" dirty="0"/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err="1"/>
                            <a:t>acc</a:t>
                          </a:r>
                          <a:endParaRPr lang="en-US" dirty="0"/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err="1"/>
                            <a:t>rej</a:t>
                          </a:r>
                          <a:endParaRPr lang="en-US" dirty="0"/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. . .</a:t>
                          </a: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/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extLst>
                      <a:ext uri="{0D108BD9-81ED-4DB2-BD59-A6C34878D82A}">
                        <a16:rowId xmlns:a16="http://schemas.microsoft.com/office/drawing/2014/main" val="83364540"/>
                      </a:ext>
                    </a:extLst>
                  </a:tr>
                  <a:tr h="405173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𝑀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acc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acc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acc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. . .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95657817"/>
                      </a:ext>
                    </a:extLst>
                  </a:tr>
                  <a:tr h="405173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𝑀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err="1"/>
                            <a:t>rej</a:t>
                          </a:r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err="1"/>
                            <a:t>rej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err="1"/>
                            <a:t>rej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. . .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02745200"/>
                      </a:ext>
                    </a:extLst>
                  </a:tr>
                  <a:tr h="405173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𝑀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acc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acc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err="1"/>
                            <a:t>rej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. . .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60864216"/>
                      </a:ext>
                    </a:extLst>
                  </a:tr>
                  <a:tr h="405173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20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white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kumimoji="0" lang="en-US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6673905"/>
                      </a:ext>
                    </a:extLst>
                  </a:tr>
                  <a:tr h="405173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err="1">
                              <a:solidFill>
                                <a:srgbClr val="FF0000"/>
                              </a:solidFill>
                            </a:rPr>
                            <a:t>rej</a:t>
                          </a:r>
                          <a:endParaRPr lang="en-US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err="1">
                              <a:solidFill>
                                <a:srgbClr val="FF0000"/>
                              </a:solidFill>
                            </a:rPr>
                            <a:t>rej</a:t>
                          </a:r>
                          <a:endParaRPr lang="en-US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acc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acc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. . .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>
                              <a:solidFill>
                                <a:srgbClr val="CC00CC"/>
                              </a:solidFill>
                            </a:rPr>
                            <a:t>?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2356441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4" name="Table 23">
                <a:extLst>
                  <a:ext uri="{FF2B5EF4-FFF2-40B4-BE49-F238E27FC236}">
                    <a16:creationId xmlns:a16="http://schemas.microsoft.com/office/drawing/2014/main" id="{9D8C8768-C433-AE59-C93D-9D07B3446A1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85966342"/>
                  </p:ext>
                </p:extLst>
              </p:nvPr>
            </p:nvGraphicFramePr>
            <p:xfrm>
              <a:off x="7169650" y="3936756"/>
              <a:ext cx="4344576" cy="2836211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572676">
                      <a:extLst>
                        <a:ext uri="{9D8B030D-6E8A-4147-A177-3AD203B41FA5}">
                          <a16:colId xmlns:a16="http://schemas.microsoft.com/office/drawing/2014/main" val="2774232432"/>
                        </a:ext>
                      </a:extLst>
                    </a:gridCol>
                    <a:gridCol w="571500">
                      <a:extLst>
                        <a:ext uri="{9D8B030D-6E8A-4147-A177-3AD203B41FA5}">
                          <a16:colId xmlns:a16="http://schemas.microsoft.com/office/drawing/2014/main" val="3363580173"/>
                        </a:ext>
                      </a:extLst>
                    </a:gridCol>
                    <a:gridCol w="566737">
                      <a:extLst>
                        <a:ext uri="{9D8B030D-6E8A-4147-A177-3AD203B41FA5}">
                          <a16:colId xmlns:a16="http://schemas.microsoft.com/office/drawing/2014/main" val="3632595979"/>
                        </a:ext>
                      </a:extLst>
                    </a:gridCol>
                    <a:gridCol w="581025">
                      <a:extLst>
                        <a:ext uri="{9D8B030D-6E8A-4147-A177-3AD203B41FA5}">
                          <a16:colId xmlns:a16="http://schemas.microsoft.com/office/drawing/2014/main" val="3230923150"/>
                        </a:ext>
                      </a:extLst>
                    </a:gridCol>
                    <a:gridCol w="571500">
                      <a:extLst>
                        <a:ext uri="{9D8B030D-6E8A-4147-A177-3AD203B41FA5}">
                          <a16:colId xmlns:a16="http://schemas.microsoft.com/office/drawing/2014/main" val="2723568372"/>
                        </a:ext>
                      </a:extLst>
                    </a:gridCol>
                    <a:gridCol w="914400">
                      <a:extLst>
                        <a:ext uri="{9D8B030D-6E8A-4147-A177-3AD203B41FA5}">
                          <a16:colId xmlns:a16="http://schemas.microsoft.com/office/drawing/2014/main" val="1996364502"/>
                        </a:ext>
                      </a:extLst>
                    </a:gridCol>
                    <a:gridCol w="566738">
                      <a:extLst>
                        <a:ext uri="{9D8B030D-6E8A-4147-A177-3AD203B41FA5}">
                          <a16:colId xmlns:a16="http://schemas.microsoft.com/office/drawing/2014/main" val="55357225"/>
                        </a:ext>
                      </a:extLst>
                    </a:gridCol>
                  </a:tblGrid>
                  <a:tr h="405173"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CN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0"/>
                          <a:stretch>
                            <a:fillRect l="-100000" t="-6250" r="-564444" b="-6281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CN"/>
                        </a:p>
                      </a:txBody>
                      <a:tcP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0"/>
                          <a:stretch>
                            <a:fillRect l="-200000" t="-6250" r="-464444" b="-6281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CN"/>
                        </a:p>
                      </a:txBody>
                      <a:tcP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0"/>
                          <a:stretch>
                            <a:fillRect l="-293478" t="-6250" r="-354348" b="-6281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CN"/>
                        </a:p>
                      </a:txBody>
                      <a:tcP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0"/>
                          <a:stretch>
                            <a:fillRect l="-402222" t="-6250" r="-262222" b="-6281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. . .</a:t>
                          </a:r>
                        </a:p>
                      </a:txBody>
                      <a:tcP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CN"/>
                        </a:p>
                      </a:txBody>
                      <a:tcP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0"/>
                          <a:stretch>
                            <a:fillRect l="-662222" t="-6250" r="-2222" b="-62812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42883622"/>
                      </a:ext>
                    </a:extLst>
                  </a:tr>
                  <a:tr h="405173">
                    <a:tc>
                      <a:txBody>
                        <a:bodyPr/>
                        <a:lstStyle/>
                        <a:p>
                          <a:endParaRPr lang="en-CN"/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>
                          <a:blip r:embed="rId10"/>
                          <a:stretch>
                            <a:fillRect t="-106250" r="-664444" b="-5281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err="1"/>
                            <a:t>rej</a:t>
                          </a:r>
                          <a:endParaRPr lang="en-US" dirty="0"/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err="1"/>
                            <a:t>acc</a:t>
                          </a:r>
                          <a:endParaRPr lang="en-US" dirty="0"/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err="1"/>
                            <a:t>rej</a:t>
                          </a:r>
                          <a:endParaRPr lang="en-US" dirty="0"/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. . .</a:t>
                          </a: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/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extLst>
                      <a:ext uri="{0D108BD9-81ED-4DB2-BD59-A6C34878D82A}">
                        <a16:rowId xmlns:a16="http://schemas.microsoft.com/office/drawing/2014/main" val="83364540"/>
                      </a:ext>
                    </a:extLst>
                  </a:tr>
                  <a:tr h="405173">
                    <a:tc>
                      <a:txBody>
                        <a:bodyPr/>
                        <a:lstStyle/>
                        <a:p>
                          <a:endParaRPr lang="en-CN"/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10"/>
                          <a:stretch>
                            <a:fillRect t="-206250" r="-664444" b="-4281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acc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acc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acc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. . .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95657817"/>
                      </a:ext>
                    </a:extLst>
                  </a:tr>
                  <a:tr h="405173">
                    <a:tc>
                      <a:txBody>
                        <a:bodyPr/>
                        <a:lstStyle/>
                        <a:p>
                          <a:endParaRPr lang="en-CN"/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10"/>
                          <a:stretch>
                            <a:fillRect t="-296970" r="-664444" b="-3151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err="1"/>
                            <a:t>rej</a:t>
                          </a:r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err="1"/>
                            <a:t>rej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err="1"/>
                            <a:t>rej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. . .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02745200"/>
                      </a:ext>
                    </a:extLst>
                  </a:tr>
                  <a:tr h="405173">
                    <a:tc>
                      <a:txBody>
                        <a:bodyPr/>
                        <a:lstStyle/>
                        <a:p>
                          <a:endParaRPr lang="en-CN"/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10"/>
                          <a:stretch>
                            <a:fillRect t="-409375" r="-664444" b="-2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acc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acc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err="1"/>
                            <a:t>rej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. . .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60864216"/>
                      </a:ext>
                    </a:extLst>
                  </a:tr>
                  <a:tr h="405173">
                    <a:tc>
                      <a:txBody>
                        <a:bodyPr/>
                        <a:lstStyle/>
                        <a:p>
                          <a:endParaRPr lang="en-CN"/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10"/>
                          <a:stretch>
                            <a:fillRect t="-509375" r="-664444" b="-1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CN"/>
                        </a:p>
                      </a:txBody>
                      <a:tcPr>
                        <a:blipFill>
                          <a:blip r:embed="rId10"/>
                          <a:stretch>
                            <a:fillRect l="-293478" t="-509375" r="-354348" b="-1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6673905"/>
                      </a:ext>
                    </a:extLst>
                  </a:tr>
                  <a:tr h="405173">
                    <a:tc>
                      <a:txBody>
                        <a:bodyPr/>
                        <a:lstStyle/>
                        <a:p>
                          <a:endParaRPr lang="en-CN"/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10"/>
                          <a:stretch>
                            <a:fillRect t="-609375" r="-664444" b="-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err="1">
                              <a:solidFill>
                                <a:srgbClr val="FF0000"/>
                              </a:solidFill>
                            </a:rPr>
                            <a:t>rej</a:t>
                          </a:r>
                          <a:endParaRPr lang="en-US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err="1">
                              <a:solidFill>
                                <a:srgbClr val="FF0000"/>
                              </a:solidFill>
                            </a:rPr>
                            <a:t>rej</a:t>
                          </a:r>
                          <a:endParaRPr lang="en-US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acc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acc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. . .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>
                              <a:solidFill>
                                <a:srgbClr val="CC00CC"/>
                              </a:solidFill>
                            </a:rPr>
                            <a:t>?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2356441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9299650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0" grpId="0"/>
      <p:bldP spid="14" grpId="0"/>
      <p:bldP spid="15" grpId="0" animBg="1"/>
      <p:bldP spid="16" grpId="0" animBg="1"/>
      <p:bldP spid="17" grpId="0" animBg="1"/>
      <p:bldP spid="18" grpId="0" animBg="1"/>
      <p:bldP spid="20" grpId="0" animBg="1"/>
      <p:bldP spid="21" grpId="0" animBg="1"/>
      <p:bldP spid="23" grpId="0" animBg="1"/>
      <p:bldP spid="27" grpId="0" animBg="1"/>
      <p:bldP spid="29" grpId="0" animBg="1"/>
      <p:bldP spid="30" grpId="0" animBg="1"/>
      <p:bldP spid="31" grpId="0" animBg="1"/>
      <p:bldP spid="32" grpId="0" animBg="1"/>
      <p:bldP spid="26" grpId="0"/>
      <p:bldP spid="28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" y="0"/>
            <a:ext cx="844692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Summary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880C8D6-E876-CE41-BE08-82E6F0C88C5D}"/>
              </a:ext>
            </a:extLst>
          </p:cNvPr>
          <p:cNvSpPr txBox="1"/>
          <p:nvPr/>
        </p:nvSpPr>
        <p:spPr>
          <a:xfrm>
            <a:off x="5860473" y="6483927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12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DDDEBD6-5E0D-6BF9-72F2-E19CE832D57A}"/>
              </a:ext>
            </a:extLst>
          </p:cNvPr>
          <p:cNvGrpSpPr/>
          <p:nvPr/>
        </p:nvGrpSpPr>
        <p:grpSpPr>
          <a:xfrm>
            <a:off x="7232159" y="1605301"/>
            <a:ext cx="3148146" cy="3941980"/>
            <a:chOff x="7232159" y="1605301"/>
            <a:chExt cx="3148146" cy="3941980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FB1DD70E-3312-4677-23DB-5161A0B8DE99}"/>
                </a:ext>
              </a:extLst>
            </p:cNvPr>
            <p:cNvGrpSpPr/>
            <p:nvPr/>
          </p:nvGrpSpPr>
          <p:grpSpPr>
            <a:xfrm>
              <a:off x="7232159" y="1605301"/>
              <a:ext cx="3148146" cy="3941980"/>
              <a:chOff x="8867775" y="2609850"/>
              <a:chExt cx="3148146" cy="3941980"/>
            </a:xfrm>
          </p:grpSpPr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9A64B2CC-E7F2-E1BF-7617-B533E5455619}"/>
                  </a:ext>
                </a:extLst>
              </p:cNvPr>
              <p:cNvSpPr/>
              <p:nvPr/>
            </p:nvSpPr>
            <p:spPr>
              <a:xfrm>
                <a:off x="8867775" y="2609850"/>
                <a:ext cx="3148146" cy="3941980"/>
              </a:xfrm>
              <a:prstGeom prst="ellipse">
                <a:avLst/>
              </a:prstGeom>
              <a:noFill/>
              <a:ln w="19050"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8872D2A2-1CCE-306D-C073-B08BFA771EEC}"/>
                  </a:ext>
                </a:extLst>
              </p:cNvPr>
              <p:cNvSpPr/>
              <p:nvPr/>
            </p:nvSpPr>
            <p:spPr>
              <a:xfrm>
                <a:off x="9700592" y="2842934"/>
                <a:ext cx="154965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T-recognizable</a:t>
                </a:r>
                <a:endParaRPr lang="en-US" dirty="0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A34F5E18-658B-7B1F-49DD-75CC06BA1903}"/>
                </a:ext>
              </a:extLst>
            </p:cNvPr>
            <p:cNvGrpSpPr/>
            <p:nvPr/>
          </p:nvGrpSpPr>
          <p:grpSpPr>
            <a:xfrm>
              <a:off x="7548931" y="2786400"/>
              <a:ext cx="2514601" cy="2635329"/>
              <a:chOff x="9184547" y="3790949"/>
              <a:chExt cx="2514601" cy="2635329"/>
            </a:xfrm>
          </p:grpSpPr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9E80D8FC-EB18-5D9B-FF4A-F11AB3CB130D}"/>
                  </a:ext>
                </a:extLst>
              </p:cNvPr>
              <p:cNvSpPr/>
              <p:nvPr/>
            </p:nvSpPr>
            <p:spPr>
              <a:xfrm>
                <a:off x="9184547" y="3790949"/>
                <a:ext cx="2514601" cy="2635329"/>
              </a:xfrm>
              <a:prstGeom prst="ellipse">
                <a:avLst/>
              </a:prstGeom>
              <a:noFill/>
              <a:ln w="19050"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0D4203C3-1045-80C8-2D12-BA99ACC953BF}"/>
                  </a:ext>
                </a:extLst>
              </p:cNvPr>
              <p:cNvSpPr/>
              <p:nvPr/>
            </p:nvSpPr>
            <p:spPr>
              <a:xfrm>
                <a:off x="9815331" y="4024033"/>
                <a:ext cx="127791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T-decidable</a:t>
                </a:r>
                <a:endParaRPr lang="en-US" dirty="0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3CC51430-F93C-7789-FAAB-3FC6CE895337}"/>
                </a:ext>
              </a:extLst>
            </p:cNvPr>
            <p:cNvGrpSpPr/>
            <p:nvPr/>
          </p:nvGrpSpPr>
          <p:grpSpPr>
            <a:xfrm>
              <a:off x="7747109" y="3621900"/>
              <a:ext cx="2143125" cy="1683485"/>
              <a:chOff x="9382725" y="4626449"/>
              <a:chExt cx="2143125" cy="1683485"/>
            </a:xfrm>
          </p:grpSpPr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2F44F39C-BC8F-F725-8D62-65F9E5885B6D}"/>
                  </a:ext>
                </a:extLst>
              </p:cNvPr>
              <p:cNvSpPr/>
              <p:nvPr/>
            </p:nvSpPr>
            <p:spPr>
              <a:xfrm>
                <a:off x="9382725" y="4626449"/>
                <a:ext cx="2143125" cy="1683485"/>
              </a:xfrm>
              <a:prstGeom prst="ellipse">
                <a:avLst/>
              </a:prstGeom>
              <a:noFill/>
              <a:ln w="19050"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750DE58A-2246-328B-F506-37E9B2F82833}"/>
                  </a:ext>
                </a:extLst>
              </p:cNvPr>
              <p:cNvSpPr/>
              <p:nvPr/>
            </p:nvSpPr>
            <p:spPr>
              <a:xfrm>
                <a:off x="10141123" y="4751149"/>
                <a:ext cx="60144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CFLs</a:t>
                </a:r>
                <a:endParaRPr lang="en-US" dirty="0"/>
              </a:p>
            </p:txBody>
          </p: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12CB1CD3-DE25-83E4-4D90-8FB8FB7EA8D0}"/>
                </a:ext>
              </a:extLst>
            </p:cNvPr>
            <p:cNvGrpSpPr/>
            <p:nvPr/>
          </p:nvGrpSpPr>
          <p:grpSpPr>
            <a:xfrm>
              <a:off x="7994159" y="4323160"/>
              <a:ext cx="1620472" cy="900469"/>
              <a:chOff x="9629775" y="5327709"/>
              <a:chExt cx="1620472" cy="900469"/>
            </a:xfrm>
          </p:grpSpPr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68C037FF-FF3E-A239-C409-2365AEC55EAF}"/>
                  </a:ext>
                </a:extLst>
              </p:cNvPr>
              <p:cNvSpPr/>
              <p:nvPr/>
            </p:nvSpPr>
            <p:spPr>
              <a:xfrm>
                <a:off x="9629775" y="5327709"/>
                <a:ext cx="1620472" cy="900469"/>
              </a:xfrm>
              <a:prstGeom prst="ellipse">
                <a:avLst/>
              </a:prstGeom>
              <a:noFill/>
              <a:ln w="19050"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68BE0D47-F840-28F5-0F50-813D540EDB9A}"/>
                  </a:ext>
                </a:extLst>
              </p:cNvPr>
              <p:cNvSpPr/>
              <p:nvPr/>
            </p:nvSpPr>
            <p:spPr>
              <a:xfrm>
                <a:off x="10014157" y="5567278"/>
                <a:ext cx="85170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regular</a:t>
                </a:r>
                <a:endParaRPr lang="en-US" dirty="0"/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D52EAE6A-AD16-BF71-D97E-45645B610E83}"/>
                  </a:ext>
                </a:extLst>
              </p:cNvPr>
              <p:cNvSpPr txBox="1"/>
              <p:nvPr/>
            </p:nvSpPr>
            <p:spPr>
              <a:xfrm>
                <a:off x="373487" y="1051507"/>
                <a:ext cx="6349285" cy="23582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CN" dirty="0"/>
                  <a:t>We now know that the class of T-recognizable languages is bigger than the class of T-decidable languages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CN" dirty="0"/>
                  <a:t>Every T-decidable language is T-recognizable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𝑇𝑀</m:t>
                        </m:r>
                      </m:sub>
                    </m:sSub>
                  </m:oMath>
                </a14:m>
                <a:r>
                  <a:rPr lang="en-CN" dirty="0"/>
                  <a:t> is not T-decidable but is T-recognizable</a:t>
                </a:r>
              </a:p>
              <a:p>
                <a:pPr lvl="1"/>
                <a:endParaRPr lang="en-CN" dirty="0"/>
              </a:p>
              <a:p>
                <a:pPr lvl="1"/>
                <a:endParaRPr lang="en-CN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CN" dirty="0"/>
                  <a:t>Can you think of a language that is </a:t>
                </a:r>
                <a:r>
                  <a:rPr lang="en-CN" b="1" u="sng" dirty="0">
                    <a:solidFill>
                      <a:schemeClr val="accent1"/>
                    </a:solidFill>
                  </a:rPr>
                  <a:t>not</a:t>
                </a:r>
                <a:r>
                  <a:rPr lang="en-CN" dirty="0"/>
                  <a:t> T-recognizable?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CN" dirty="0"/>
                  <a:t>To show: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bar>
                          <m:barPr>
                            <m:pos m:val="top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ba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𝑇𝑀</m:t>
                        </m:r>
                      </m:sub>
                    </m:sSub>
                  </m:oMath>
                </a14:m>
                <a:r>
                  <a:rPr lang="en-CN" dirty="0"/>
                  <a:t> is not T-recognizable</a:t>
                </a: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D52EAE6A-AD16-BF71-D97E-45645B610E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487" y="1051507"/>
                <a:ext cx="6349285" cy="2358210"/>
              </a:xfrm>
              <a:prstGeom prst="rect">
                <a:avLst/>
              </a:prstGeom>
              <a:blipFill>
                <a:blip r:embed="rId2"/>
                <a:stretch>
                  <a:fillRect l="-599" t="-1070" b="-2674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951460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2" y="0"/>
                <a:ext cx="8446926" cy="7804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sz="4000" i="1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sz="4000" i="1" dirty="0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nor/>
                          </m:rPr>
                          <a:rPr lang="en-US" sz="4000" baseline="-25000" dirty="0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TM</m:t>
                        </m:r>
                      </m:e>
                    </m:bar>
                  </m:oMath>
                </a14:m>
                <a:r>
                  <a:rPr lang="en-US" sz="40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  is T-unrecognizable</a:t>
                </a: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" y="0"/>
                <a:ext cx="8446926" cy="780470"/>
              </a:xfrm>
              <a:prstGeom prst="rect">
                <a:avLst/>
              </a:prstGeom>
              <a:blipFill>
                <a:blip r:embed="rId2"/>
                <a:stretch>
                  <a:fillRect t="-4688" b="-328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135155" y="1098903"/>
                <a:ext cx="7675924" cy="55666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1200"/>
                  </a:spcBef>
                </a:pPr>
                <a:r>
                  <a:rPr lang="en-US" sz="24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Theorem: 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4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 and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sz="2400" b="0" i="1" smtClean="0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sz="2400" b="0" i="1" smtClean="0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bar>
                  </m:oMath>
                </a14:m>
                <a:r>
                  <a:rPr lang="en-US" sz="24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 are T-recognizable </a:t>
                </a:r>
                <a:r>
                  <a:rPr lang="en-US" sz="2400" dirty="0" err="1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iff</a:t>
                </a:r>
                <a:r>
                  <a:rPr lang="en-US" sz="24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400" b="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 is decidable</a:t>
                </a:r>
              </a:p>
              <a:p>
                <a:r>
                  <a:rPr lang="en-US" sz="2000" dirty="0"/>
                  <a:t>Proof:   </a:t>
                </a:r>
              </a:p>
              <a:p>
                <a:r>
                  <a:rPr lang="en-US" sz="2000" dirty="0"/>
                  <a:t>&lt;=) Immediate: A is decidable. </a:t>
                </a:r>
              </a:p>
              <a:p>
                <a:r>
                  <a:rPr lang="en-US" sz="2000" dirty="0"/>
                  <a:t>Let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000" dirty="0"/>
                  <a:t> decide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000" dirty="0"/>
                  <a:t>;</a:t>
                </a:r>
              </a:p>
              <a:p>
                <a:r>
                  <a:rPr lang="en-US" sz="2000" dirty="0"/>
                  <a:t>If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000" dirty="0"/>
                  <a:t> accepts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GB" sz="2000" i="1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2000" dirty="0"/>
                  <a:t> then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GB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000" dirty="0"/>
                  <a:t>and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GB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∉</m:t>
                    </m:r>
                    <m:bar>
                      <m:barPr>
                        <m:pos m:val="top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bar>
                  </m:oMath>
                </a14:m>
                <a:endParaRPr lang="en-US" sz="2000" dirty="0"/>
              </a:p>
              <a:p>
                <a:r>
                  <a:rPr lang="en-US" sz="2000" dirty="0"/>
                  <a:t>If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000" dirty="0"/>
                  <a:t> rejects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sz="2000" dirty="0"/>
                  <a:t>, then 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GB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bar>
                      <m:barPr>
                        <m:pos m:val="top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bar>
                  </m:oMath>
                </a14:m>
                <a:r>
                  <a:rPr lang="en-US" sz="2000" dirty="0"/>
                  <a:t> and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GB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∉</m:t>
                    </m:r>
                    <m:r>
                      <a:rPr lang="en-GB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</m:oMath>
                </a14:m>
                <a:endParaRPr lang="en-US" sz="2000" dirty="0"/>
              </a:p>
              <a:p>
                <a:endParaRPr lang="en-US" sz="2000" dirty="0"/>
              </a:p>
              <a:p>
                <a:r>
                  <a:rPr lang="en-US" sz="2000" dirty="0"/>
                  <a:t>=&gt;) Let TM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0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 recognize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 and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bar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000" dirty="0"/>
                  <a:t>              Construct TM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 deciding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.</a:t>
                </a:r>
              </a:p>
              <a:p>
                <a:pPr>
                  <a:spcBef>
                    <a:spcPts val="1200"/>
                  </a:spcBef>
                </a:pP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 “On input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endParaRPr lang="en-US" sz="2000" dirty="0">
                  <a:solidFill>
                    <a:schemeClr val="tx1"/>
                  </a:solidFill>
                </a:endParaRPr>
              </a:p>
              <a:p>
                <a:r>
                  <a:rPr lang="en-US" sz="2000" dirty="0"/>
                  <a:t>         1.   Run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 on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 in parallel until one accepts.</a:t>
                </a:r>
              </a:p>
              <a:p>
                <a:r>
                  <a:rPr lang="en-US" sz="2000" dirty="0"/>
                  <a:t>         2.  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 accepts then </a:t>
                </a:r>
                <a:r>
                  <a:rPr lang="en-US" sz="2000" i="1" dirty="0">
                    <a:solidFill>
                      <a:schemeClr val="tx1"/>
                    </a:solidFill>
                  </a:rPr>
                  <a:t>accept</a:t>
                </a:r>
                <a:r>
                  <a:rPr lang="en-US" sz="2000" dirty="0">
                    <a:solidFill>
                      <a:schemeClr val="tx1"/>
                    </a:solidFill>
                  </a:rPr>
                  <a:t>.  </a:t>
                </a:r>
                <a:br>
                  <a:rPr lang="en-US" sz="2000" dirty="0">
                    <a:solidFill>
                      <a:schemeClr val="tx1"/>
                    </a:solidFill>
                  </a:rPr>
                </a:br>
                <a:r>
                  <a:rPr lang="en-US" sz="2000" dirty="0">
                    <a:solidFill>
                      <a:schemeClr val="tx1"/>
                    </a:solidFill>
                  </a:rPr>
                  <a:t>              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 accepts then </a:t>
                </a:r>
                <a:r>
                  <a:rPr lang="en-US" sz="2000" i="1" dirty="0">
                    <a:solidFill>
                      <a:schemeClr val="tx1"/>
                    </a:solidFill>
                  </a:rPr>
                  <a:t>reject</a:t>
                </a:r>
                <a:r>
                  <a:rPr lang="en-US" sz="2000" dirty="0">
                    <a:solidFill>
                      <a:schemeClr val="tx1"/>
                    </a:solidFill>
                  </a:rPr>
                  <a:t>.”  </a:t>
                </a:r>
              </a:p>
              <a:p>
                <a:pPr>
                  <a:spcBef>
                    <a:spcPts val="2400"/>
                  </a:spcBef>
                </a:pPr>
                <a:r>
                  <a:rPr lang="en-US" sz="24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Corollary: 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sz="2400" i="1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sz="2400" i="1" dirty="0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nor/>
                          </m:rPr>
                          <a:rPr lang="en-US" sz="2400" baseline="-25000" dirty="0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TM</m:t>
                        </m:r>
                      </m:e>
                    </m:bar>
                  </m:oMath>
                </a14:m>
                <a:r>
                  <a:rPr lang="en-US" sz="24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  is T-unrecognizable</a:t>
                </a:r>
              </a:p>
              <a:p>
                <a:r>
                  <a:rPr lang="en-US" sz="2000" dirty="0"/>
                  <a:t>Proof:  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nor/>
                      </m:rPr>
                      <a:rPr lang="en-US" sz="2000" baseline="-25000" dirty="0">
                        <a:latin typeface="Cambria Math" panose="02040503050406030204" pitchFamily="18" charset="0"/>
                      </a:rPr>
                      <m:t>TM</m:t>
                    </m:r>
                  </m:oMath>
                </a14:m>
                <a:r>
                  <a:rPr lang="en-US" sz="2000" dirty="0"/>
                  <a:t>  is T-recognizable but also undecidable</a:t>
                </a:r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155" y="1098903"/>
                <a:ext cx="7675924" cy="5566652"/>
              </a:xfrm>
              <a:prstGeom prst="rect">
                <a:avLst/>
              </a:prstGeom>
              <a:blipFill>
                <a:blip r:embed="rId3"/>
                <a:stretch>
                  <a:fillRect l="-1322" b="-1139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9" name="Group 18"/>
          <p:cNvGrpSpPr/>
          <p:nvPr/>
        </p:nvGrpSpPr>
        <p:grpSpPr>
          <a:xfrm>
            <a:off x="7149229" y="2683166"/>
            <a:ext cx="4172594" cy="3080710"/>
            <a:chOff x="7149229" y="2683166"/>
            <a:chExt cx="4172594" cy="3080710"/>
          </a:xfrm>
        </p:grpSpPr>
        <p:sp>
          <p:nvSpPr>
            <p:cNvPr id="2" name="Rounded Rectangle 1"/>
            <p:cNvSpPr/>
            <p:nvPr/>
          </p:nvSpPr>
          <p:spPr>
            <a:xfrm rot="19118876">
              <a:off x="8196709" y="3832585"/>
              <a:ext cx="2466975" cy="1446474"/>
            </a:xfrm>
            <a:prstGeom prst="roundRect">
              <a:avLst>
                <a:gd name="adj" fmla="val 48112"/>
              </a:avLst>
            </a:prstGeom>
            <a:noFill/>
            <a:ln>
              <a:solidFill>
                <a:schemeClr val="tx1"/>
              </a:solidFill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ounded Rectangle 14"/>
            <p:cNvSpPr/>
            <p:nvPr/>
          </p:nvSpPr>
          <p:spPr>
            <a:xfrm rot="2762592">
              <a:off x="7509351" y="3879427"/>
              <a:ext cx="2377636" cy="1391261"/>
            </a:xfrm>
            <a:custGeom>
              <a:avLst/>
              <a:gdLst>
                <a:gd name="connsiteX0" fmla="*/ 0 w 2364535"/>
                <a:gd name="connsiteY0" fmla="*/ 655228 h 1391261"/>
                <a:gd name="connsiteX1" fmla="*/ 655228 w 2364535"/>
                <a:gd name="connsiteY1" fmla="*/ 0 h 1391261"/>
                <a:gd name="connsiteX2" fmla="*/ 1709307 w 2364535"/>
                <a:gd name="connsiteY2" fmla="*/ 0 h 1391261"/>
                <a:gd name="connsiteX3" fmla="*/ 2364535 w 2364535"/>
                <a:gd name="connsiteY3" fmla="*/ 655228 h 1391261"/>
                <a:gd name="connsiteX4" fmla="*/ 2364535 w 2364535"/>
                <a:gd name="connsiteY4" fmla="*/ 736033 h 1391261"/>
                <a:gd name="connsiteX5" fmla="*/ 1709307 w 2364535"/>
                <a:gd name="connsiteY5" fmla="*/ 1391261 h 1391261"/>
                <a:gd name="connsiteX6" fmla="*/ 655228 w 2364535"/>
                <a:gd name="connsiteY6" fmla="*/ 1391261 h 1391261"/>
                <a:gd name="connsiteX7" fmla="*/ 0 w 2364535"/>
                <a:gd name="connsiteY7" fmla="*/ 736033 h 1391261"/>
                <a:gd name="connsiteX8" fmla="*/ 0 w 2364535"/>
                <a:gd name="connsiteY8" fmla="*/ 655228 h 1391261"/>
                <a:gd name="connsiteX0" fmla="*/ 0 w 2364535"/>
                <a:gd name="connsiteY0" fmla="*/ 655228 h 1391261"/>
                <a:gd name="connsiteX1" fmla="*/ 655228 w 2364535"/>
                <a:gd name="connsiteY1" fmla="*/ 0 h 1391261"/>
                <a:gd name="connsiteX2" fmla="*/ 1709307 w 2364535"/>
                <a:gd name="connsiteY2" fmla="*/ 0 h 1391261"/>
                <a:gd name="connsiteX3" fmla="*/ 2364535 w 2364535"/>
                <a:gd name="connsiteY3" fmla="*/ 655228 h 1391261"/>
                <a:gd name="connsiteX4" fmla="*/ 2364535 w 2364535"/>
                <a:gd name="connsiteY4" fmla="*/ 736033 h 1391261"/>
                <a:gd name="connsiteX5" fmla="*/ 1709307 w 2364535"/>
                <a:gd name="connsiteY5" fmla="*/ 1391261 h 1391261"/>
                <a:gd name="connsiteX6" fmla="*/ 655228 w 2364535"/>
                <a:gd name="connsiteY6" fmla="*/ 1391261 h 1391261"/>
                <a:gd name="connsiteX7" fmla="*/ 0 w 2364535"/>
                <a:gd name="connsiteY7" fmla="*/ 736033 h 1391261"/>
                <a:gd name="connsiteX8" fmla="*/ 0 w 2364535"/>
                <a:gd name="connsiteY8" fmla="*/ 655228 h 1391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364535" h="1391261">
                  <a:moveTo>
                    <a:pt x="0" y="655228"/>
                  </a:moveTo>
                  <a:cubicBezTo>
                    <a:pt x="0" y="293356"/>
                    <a:pt x="293356" y="0"/>
                    <a:pt x="655228" y="0"/>
                  </a:cubicBezTo>
                  <a:lnTo>
                    <a:pt x="1709307" y="0"/>
                  </a:lnTo>
                  <a:cubicBezTo>
                    <a:pt x="2071179" y="0"/>
                    <a:pt x="2364535" y="293356"/>
                    <a:pt x="2364535" y="655228"/>
                  </a:cubicBezTo>
                  <a:lnTo>
                    <a:pt x="2364535" y="736033"/>
                  </a:lnTo>
                  <a:cubicBezTo>
                    <a:pt x="2330375" y="1071582"/>
                    <a:pt x="2071179" y="1391261"/>
                    <a:pt x="1709307" y="1391261"/>
                  </a:cubicBezTo>
                  <a:lnTo>
                    <a:pt x="655228" y="1391261"/>
                  </a:lnTo>
                  <a:cubicBezTo>
                    <a:pt x="293356" y="1391261"/>
                    <a:pt x="0" y="1097905"/>
                    <a:pt x="0" y="736033"/>
                  </a:cubicBezTo>
                  <a:lnTo>
                    <a:pt x="0" y="655228"/>
                  </a:lnTo>
                  <a:close/>
                </a:path>
              </a:pathLst>
            </a:custGeom>
            <a:noFill/>
            <a:ln>
              <a:solidFill>
                <a:schemeClr val="tx1"/>
              </a:solidFill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" name="Rectangle 2"/>
            <p:cNvSpPr/>
            <p:nvPr/>
          </p:nvSpPr>
          <p:spPr>
            <a:xfrm>
              <a:off x="8552968" y="4692134"/>
              <a:ext cx="109517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/>
                <a:t>decidable</a:t>
              </a: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9772168" y="3113451"/>
              <a:ext cx="1549655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/>
                <a:t>T-recognizable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7149229" y="2683166"/>
              <a:ext cx="1837874" cy="80021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sz="1400" dirty="0"/>
                <a:t>Complement of </a:t>
              </a:r>
              <a:br>
                <a:rPr lang="en-US" sz="1400" dirty="0"/>
              </a:br>
              <a:r>
                <a:rPr lang="en-US" sz="1400" dirty="0"/>
                <a:t>T-recognizable =</a:t>
              </a:r>
              <a:br>
                <a:rPr lang="en-US" sz="1400" dirty="0"/>
              </a:br>
              <a:r>
                <a:rPr lang="en-US" dirty="0"/>
                <a:t>co-T-recognizable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Rectangle 6"/>
                <p:cNvSpPr/>
                <p:nvPr/>
              </p:nvSpPr>
              <p:spPr>
                <a:xfrm>
                  <a:off x="9953558" y="3877076"/>
                  <a:ext cx="599844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i="1" dirty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m:rPr>
                          <m:nor/>
                        </m:rPr>
                        <a:rPr lang="en-US" baseline="-25000" dirty="0">
                          <a:latin typeface="Cambria Math" panose="02040503050406030204" pitchFamily="18" charset="0"/>
                        </a:rPr>
                        <m:t>TM</m:t>
                      </m:r>
                    </m:oMath>
                  </a14:m>
                  <a:r>
                    <a:rPr lang="en-US" dirty="0"/>
                    <a:t> </a:t>
                  </a:r>
                </a:p>
              </p:txBody>
            </p:sp>
          </mc:Choice>
          <mc:Fallback xmlns="">
            <p:sp>
              <p:nvSpPr>
                <p:cNvPr id="7" name="Rectangle 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53558" y="3877076"/>
                  <a:ext cx="599844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Rectangle 7"/>
                <p:cNvSpPr/>
                <p:nvPr/>
              </p:nvSpPr>
              <p:spPr>
                <a:xfrm>
                  <a:off x="7768244" y="3877076"/>
                  <a:ext cx="599843" cy="40197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bar>
                          <m:barPr>
                            <m:pos m:val="top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m:rPr>
                                <m:nor/>
                              </m:rPr>
                              <a:rPr lang="en-US" baseline="-25000" dirty="0">
                                <a:latin typeface="Cambria Math" panose="02040503050406030204" pitchFamily="18" charset="0"/>
                              </a:rPr>
                              <m:t>TM</m:t>
                            </m:r>
                          </m:e>
                        </m:ba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8" name="Rectangle 7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68244" y="3877076"/>
                  <a:ext cx="599843" cy="40197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" name="Oval 8"/>
            <p:cNvSpPr/>
            <p:nvPr/>
          </p:nvSpPr>
          <p:spPr>
            <a:xfrm>
              <a:off x="8446928" y="4078061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/>
            <p:cNvSpPr/>
            <p:nvPr/>
          </p:nvSpPr>
          <p:spPr>
            <a:xfrm>
              <a:off x="9851865" y="4078060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8880C8D6-E876-CE41-BE08-82E6F0C88C5D}"/>
              </a:ext>
            </a:extLst>
          </p:cNvPr>
          <p:cNvSpPr txBox="1"/>
          <p:nvPr/>
        </p:nvSpPr>
        <p:spPr>
          <a:xfrm>
            <a:off x="5860473" y="6483927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36410405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" y="0"/>
            <a:ext cx="844692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The Reducibility Method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334601" y="897538"/>
                <a:ext cx="8112327" cy="49398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1200"/>
                  </a:spcBef>
                </a:pPr>
                <a:r>
                  <a:rPr lang="en-US" sz="2000" dirty="0" err="1"/>
                  <a:t>Defn</a:t>
                </a:r>
                <a:r>
                  <a:rPr lang="en-US" sz="2000" dirty="0"/>
                  <a:t>:  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𝐻𝐴𝐿𝑇</m:t>
                    </m:r>
                    <m:r>
                      <m:rPr>
                        <m:nor/>
                      </m:rPr>
                      <a:rPr lang="en-US" sz="2000" baseline="-25000" dirty="0">
                        <a:latin typeface="Cambria Math" panose="02040503050406030204" pitchFamily="18" charset="0"/>
                      </a:rPr>
                      <m:t>TM</m:t>
                    </m:r>
                  </m:oMath>
                </a14:m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|"/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〈"/>
                            <m:endChr m:val="〉"/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𝑀</m:t>
                            </m:r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</m:d>
                      </m:e>
                    </m:d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halts on input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sz="2000" b="0" i="1" dirty="0">
                    <a:latin typeface="Cambria Math" panose="02040503050406030204" pitchFamily="18" charset="0"/>
                  </a:rPr>
                  <a:t> </a:t>
                </a:r>
              </a:p>
              <a:p>
                <a:pPr>
                  <a:spcBef>
                    <a:spcPts val="1200"/>
                  </a:spcBef>
                </a:pPr>
                <a:r>
                  <a:rPr lang="en-US" sz="20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Use our knowledge that </a:t>
                </a:r>
                <a14:m>
                  <m:oMath xmlns:m="http://schemas.openxmlformats.org/officeDocument/2006/math">
                    <m:r>
                      <a:rPr lang="en-US" sz="2000" i="1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nor/>
                      </m:rPr>
                      <a:rPr lang="en-US" sz="2000" baseline="-2500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TM</m:t>
                    </m:r>
                  </m:oMath>
                </a14:m>
                <a:r>
                  <a:rPr lang="en-US" sz="20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 is undecidable to show other problems are undecidable.</a:t>
                </a:r>
                <a:endParaRPr lang="en-US" sz="2000" b="0" i="1" dirty="0">
                  <a:latin typeface="Cambria Math" panose="02040503050406030204" pitchFamily="18" charset="0"/>
                </a:endParaRPr>
              </a:p>
              <a:p>
                <a:pPr>
                  <a:spcBef>
                    <a:spcPts val="1200"/>
                  </a:spcBef>
                </a:pPr>
                <a:r>
                  <a:rPr lang="en-US" sz="2000" dirty="0">
                    <a:solidFill>
                      <a:schemeClr val="tx1"/>
                    </a:solidFill>
                  </a:rPr>
                  <a:t>Theorem: 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𝐻𝐴𝐿𝑇</m:t>
                    </m:r>
                    <m:r>
                      <m:rPr>
                        <m:nor/>
                      </m:rPr>
                      <a:rPr lang="en-US" sz="2000" baseline="-25000" dirty="0">
                        <a:latin typeface="Cambria Math" panose="02040503050406030204" pitchFamily="18" charset="0"/>
                      </a:rPr>
                      <m:t>TM</m:t>
                    </m:r>
                  </m:oMath>
                </a14:m>
                <a:r>
                  <a:rPr lang="en-US" sz="2000" dirty="0"/>
                  <a:t> is undecidable</a:t>
                </a:r>
              </a:p>
              <a:p>
                <a:r>
                  <a:rPr lang="en-US" sz="2000" dirty="0"/>
                  <a:t>Proof by contradiction, showing that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nor/>
                      </m:rPr>
                      <a:rPr lang="en-US" sz="2000" baseline="-25000" dirty="0">
                        <a:latin typeface="Cambria Math" panose="02040503050406030204" pitchFamily="18" charset="0"/>
                      </a:rPr>
                      <m:t>TM</m:t>
                    </m:r>
                  </m:oMath>
                </a14:m>
                <a:r>
                  <a:rPr lang="en-US" sz="2000" dirty="0"/>
                  <a:t> is reducible to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𝐻𝐴𝐿𝑇</m:t>
                    </m:r>
                    <m:r>
                      <m:rPr>
                        <m:nor/>
                      </m:rPr>
                      <a:rPr lang="en-US" sz="2000" baseline="-25000" dirty="0">
                        <a:latin typeface="Cambria Math" panose="02040503050406030204" pitchFamily="18" charset="0"/>
                      </a:rPr>
                      <m:t>TM</m:t>
                    </m:r>
                  </m:oMath>
                </a14:m>
                <a:r>
                  <a:rPr lang="en-US" sz="2000" dirty="0"/>
                  <a:t>:  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000" dirty="0"/>
                  <a:t>Assume that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𝐻𝐴𝐿𝑇</m:t>
                    </m:r>
                    <m:r>
                      <m:rPr>
                        <m:nor/>
                      </m:rPr>
                      <a:rPr lang="en-US" sz="2000" baseline="-25000" dirty="0">
                        <a:latin typeface="Cambria Math" panose="02040503050406030204" pitchFamily="18" charset="0"/>
                      </a:rPr>
                      <m:t>TM</m:t>
                    </m:r>
                  </m:oMath>
                </a14:m>
                <a:r>
                  <a:rPr lang="en-US" sz="2000" dirty="0"/>
                  <a:t> is decidable and show that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nor/>
                      </m:rPr>
                      <a:rPr lang="en-US" sz="2000" baseline="-25000" dirty="0">
                        <a:latin typeface="Cambria Math" panose="02040503050406030204" pitchFamily="18" charset="0"/>
                      </a:rPr>
                      <m:t>TM</m:t>
                    </m:r>
                  </m:oMath>
                </a14:m>
                <a:r>
                  <a:rPr lang="en-US" sz="2000" dirty="0"/>
                  <a:t> is decidable (false!).</a:t>
                </a:r>
              </a:p>
              <a:p>
                <a:r>
                  <a:rPr lang="en-US" sz="2000" dirty="0"/>
                  <a:t>Let TM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2000" dirty="0"/>
                  <a:t> decide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𝐻𝐴𝐿𝑇</m:t>
                    </m:r>
                    <m:r>
                      <m:rPr>
                        <m:nor/>
                      </m:rPr>
                      <a:rPr lang="en-US" sz="2000" baseline="-25000" dirty="0">
                        <a:latin typeface="Cambria Math" panose="02040503050406030204" pitchFamily="18" charset="0"/>
                      </a:rPr>
                      <m:t>TM</m:t>
                    </m:r>
                  </m:oMath>
                </a14:m>
                <a:r>
                  <a:rPr lang="en-US" sz="2000" dirty="0"/>
                  <a:t>.</a:t>
                </a:r>
              </a:p>
              <a:p>
                <a:r>
                  <a:rPr lang="en-US" sz="2000" dirty="0"/>
                  <a:t>Construct TM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sz="2000" dirty="0"/>
                  <a:t> deciding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nor/>
                      </m:rPr>
                      <a:rPr lang="en-US" sz="2000" baseline="-25000" dirty="0">
                        <a:latin typeface="Cambria Math" panose="02040503050406030204" pitchFamily="18" charset="0"/>
                      </a:rPr>
                      <m:t>TM</m:t>
                    </m:r>
                  </m:oMath>
                </a14:m>
                <a:r>
                  <a:rPr lang="en-US" sz="2000" dirty="0"/>
                  <a:t>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000" dirty="0"/>
                  <a:t> “On input </a:t>
                </a:r>
                <a14:m>
                  <m:oMath xmlns:m="http://schemas.openxmlformats.org/officeDocument/2006/math">
                    <m:d>
                      <m:dPr>
                        <m:begChr m:val="〈"/>
                        <m:endChr m:val="〉"/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</m:oMath>
                </a14:m>
                <a:endParaRPr lang="en-US" sz="2000" dirty="0"/>
              </a:p>
              <a:p>
                <a:r>
                  <a:rPr lang="en-US" sz="2000" dirty="0"/>
                  <a:t>           1.  Use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2000" dirty="0"/>
                  <a:t> to test if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000" dirty="0"/>
                  <a:t> on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sz="2000" dirty="0"/>
                  <a:t> halts.  If not, reject.</a:t>
                </a:r>
              </a:p>
              <a:p>
                <a:r>
                  <a:rPr lang="en-US" sz="2000" dirty="0"/>
                  <a:t>           2.  Simulate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000" dirty="0"/>
                  <a:t> on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sz="2000" dirty="0"/>
                  <a:t> until it halts (as guaranteed by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2000" dirty="0"/>
                  <a:t>).</a:t>
                </a:r>
              </a:p>
              <a:p>
                <a:r>
                  <a:rPr lang="en-US" sz="2000" dirty="0"/>
                  <a:t>           3.  If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000" dirty="0"/>
                  <a:t> has accepted then </a:t>
                </a:r>
                <a:r>
                  <a:rPr lang="en-US" sz="2000" i="1" dirty="0"/>
                  <a:t>accept</a:t>
                </a:r>
                <a:r>
                  <a:rPr lang="en-US" sz="2000" dirty="0"/>
                  <a:t>.</a:t>
                </a:r>
                <a:br>
                  <a:rPr lang="en-US" sz="2000" dirty="0"/>
                </a:br>
                <a:r>
                  <a:rPr lang="en-US" sz="2000" dirty="0"/>
                  <a:t>                 If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000" dirty="0"/>
                  <a:t> has rejected then </a:t>
                </a:r>
                <a:r>
                  <a:rPr lang="en-US" sz="2000" i="1" dirty="0"/>
                  <a:t>reject</a:t>
                </a:r>
                <a:r>
                  <a:rPr lang="en-US" sz="2000" dirty="0"/>
                  <a:t>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000" dirty="0"/>
                  <a:t>TM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sz="2000" dirty="0"/>
                  <a:t> decides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nor/>
                      </m:rPr>
                      <a:rPr lang="en-US" sz="2000" baseline="-25000" dirty="0">
                        <a:latin typeface="Cambria Math" panose="02040503050406030204" pitchFamily="18" charset="0"/>
                      </a:rPr>
                      <m:t>TM</m:t>
                    </m:r>
                  </m:oMath>
                </a14:m>
                <a:r>
                  <a:rPr lang="en-US" sz="2000" dirty="0"/>
                  <a:t>, a contradiction.  Therefore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𝐻𝐴𝐿𝑇</m:t>
                    </m:r>
                    <m:r>
                      <m:rPr>
                        <m:nor/>
                      </m:rPr>
                      <a:rPr lang="en-US" sz="2000" baseline="-25000" dirty="0">
                        <a:latin typeface="Cambria Math" panose="02040503050406030204" pitchFamily="18" charset="0"/>
                      </a:rPr>
                      <m:t>TM</m:t>
                    </m:r>
                  </m:oMath>
                </a14:m>
                <a:r>
                  <a:rPr lang="en-US" sz="2000" dirty="0"/>
                  <a:t> is undecidable. 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601" y="897538"/>
                <a:ext cx="8112327" cy="4939814"/>
              </a:xfrm>
              <a:prstGeom prst="rect">
                <a:avLst/>
              </a:prstGeom>
              <a:blipFill>
                <a:blip r:embed="rId2"/>
                <a:stretch>
                  <a:fillRect l="-781" t="-513" b="-1282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710E3668-7520-8447-813E-F021B2293C59}"/>
              </a:ext>
            </a:extLst>
          </p:cNvPr>
          <p:cNvSpPr txBox="1"/>
          <p:nvPr/>
        </p:nvSpPr>
        <p:spPr>
          <a:xfrm>
            <a:off x="5777345" y="649778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21714002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957170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Quick review of today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402315" y="1617154"/>
                <a:ext cx="6784869" cy="33802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512763" lvl="0" indent="-512763">
                  <a:spcBef>
                    <a:spcPts val="1200"/>
                  </a:spcBef>
                  <a:buFont typeface="+mj-lt"/>
                  <a:buAutoNum type="arabicPeriod"/>
                </a:pPr>
                <a:r>
                  <a:rPr lang="en-US" sz="2400" dirty="0">
                    <a:latin typeface="+mj-lt"/>
                  </a:rPr>
                  <a:t>Showed that </a:t>
                </a:r>
                <a14:m>
                  <m:oMath xmlns:m="http://schemas.openxmlformats.org/officeDocument/2006/math">
                    <m:r>
                      <a:rPr lang="en-US" sz="2400">
                        <a:latin typeface="Cambria Math" panose="02040503050406030204" pitchFamily="18" charset="0"/>
                      </a:rPr>
                      <m:t>ℕ</m:t>
                    </m:r>
                  </m:oMath>
                </a14:m>
                <a:r>
                  <a:rPr lang="en-US" sz="2400" dirty="0">
                    <a:latin typeface="+mj-lt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400">
                        <a:latin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n-US" sz="2400" dirty="0">
                    <a:latin typeface="+mj-lt"/>
                  </a:rPr>
                  <a:t> are not the same size </a:t>
                </a:r>
                <a:br>
                  <a:rPr lang="en-US" sz="2400" dirty="0">
                    <a:latin typeface="+mj-lt"/>
                  </a:rPr>
                </a:br>
                <a:r>
                  <a:rPr lang="en-US" sz="2400" dirty="0">
                    <a:latin typeface="+mj-lt"/>
                  </a:rPr>
                  <a:t>to introduce the Diagonalization Method.</a:t>
                </a:r>
              </a:p>
              <a:p>
                <a:pPr marL="457200" lvl="0" indent="-457200">
                  <a:spcBef>
                    <a:spcPts val="1200"/>
                  </a:spcBef>
                  <a:buFont typeface="+mj-lt"/>
                  <a:buAutoNum type="arabicPeriod"/>
                </a:pP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nor/>
                      </m:rPr>
                      <a:rPr lang="en-US" sz="2400" baseline="-25000" dirty="0">
                        <a:latin typeface="Cambria Math" panose="02040503050406030204" pitchFamily="18" charset="0"/>
                      </a:rPr>
                      <m:t>TM</m:t>
                    </m:r>
                  </m:oMath>
                </a14:m>
                <a:r>
                  <a:rPr lang="en-US" sz="2400" dirty="0"/>
                  <a:t> </a:t>
                </a:r>
                <a:r>
                  <a:rPr lang="en-US" sz="2400" dirty="0">
                    <a:latin typeface="+mj-lt"/>
                  </a:rPr>
                  <a:t>is undecidable.</a:t>
                </a:r>
              </a:p>
              <a:p>
                <a:pPr marL="457200" indent="-457200">
                  <a:spcBef>
                    <a:spcPts val="1200"/>
                  </a:spcBef>
                  <a:buFont typeface="+mj-lt"/>
                  <a:buAutoNum type="arabicPeriod"/>
                </a:pPr>
                <a:r>
                  <a:rPr lang="en-US" sz="2400" dirty="0">
                    <a:latin typeface="+mj-lt"/>
                  </a:rPr>
                  <a:t> If </a:t>
                </a:r>
                <a14:m>
                  <m:oMath xmlns:m="http://schemas.openxmlformats.org/officeDocument/2006/math">
                    <m:r>
                      <a:rPr lang="en-US" sz="240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400" dirty="0">
                    <a:latin typeface="+mj-lt"/>
                  </a:rPr>
                  <a:t> and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sz="240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bar>
                  </m:oMath>
                </a14:m>
                <a:r>
                  <a:rPr lang="en-US" sz="2400" dirty="0">
                    <a:latin typeface="+mj-lt"/>
                  </a:rPr>
                  <a:t> are T-recognizable then </a:t>
                </a:r>
                <a14:m>
                  <m:oMath xmlns:m="http://schemas.openxmlformats.org/officeDocument/2006/math">
                    <m:r>
                      <a:rPr lang="en-US" sz="240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400" dirty="0">
                    <a:latin typeface="+mj-lt"/>
                  </a:rPr>
                  <a:t> is decidable.</a:t>
                </a:r>
              </a:p>
              <a:p>
                <a:pPr marL="457200" indent="-457200">
                  <a:spcBef>
                    <a:spcPts val="1200"/>
                  </a:spcBef>
                  <a:buFont typeface="+mj-lt"/>
                  <a:buAutoNum type="arabicPeriod"/>
                </a:pPr>
                <a:r>
                  <a:rPr lang="en-US" sz="2400" dirty="0">
                    <a:latin typeface="+mj-lt"/>
                  </a:rPr>
                  <a:t>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nor/>
                          </m:rPr>
                          <a:rPr lang="en-US" sz="2400" baseline="-2500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TM</m:t>
                        </m:r>
                      </m:e>
                    </m:bar>
                  </m:oMath>
                </a14:m>
                <a:r>
                  <a:rPr lang="en-US" sz="2400" dirty="0">
                    <a:latin typeface="+mj-lt"/>
                  </a:rPr>
                  <a:t> is T-unrecognizable.</a:t>
                </a:r>
              </a:p>
              <a:p>
                <a:pPr marL="512763" indent="-512763">
                  <a:spcBef>
                    <a:spcPts val="1200"/>
                  </a:spcBef>
                  <a:buFont typeface="+mj-lt"/>
                  <a:buAutoNum type="arabicPeriod"/>
                </a:pPr>
                <a:r>
                  <a:rPr lang="en-US" sz="2400" dirty="0">
                    <a:latin typeface="+mj-lt"/>
                  </a:rPr>
                  <a:t>Introduced the Reducibility Method to show that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𝐻𝐴𝐿𝑇</m:t>
                    </m:r>
                    <m:r>
                      <m:rPr>
                        <m:nor/>
                      </m:rPr>
                      <a:rPr lang="en-US" sz="2400" baseline="-25000" dirty="0">
                        <a:latin typeface="Cambria Math" panose="02040503050406030204" pitchFamily="18" charset="0"/>
                      </a:rPr>
                      <m:t>TM</m:t>
                    </m:r>
                  </m:oMath>
                </a14:m>
                <a:r>
                  <a:rPr lang="en-US" sz="2400" dirty="0"/>
                  <a:t> </a:t>
                </a:r>
                <a:r>
                  <a:rPr lang="en-US" sz="2400" dirty="0">
                    <a:latin typeface="+mj-lt"/>
                  </a:rPr>
                  <a:t>is undecidable.</a:t>
                </a: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315" y="1617154"/>
                <a:ext cx="6784869" cy="3380284"/>
              </a:xfrm>
              <a:prstGeom prst="rect">
                <a:avLst/>
              </a:prstGeom>
              <a:blipFill>
                <a:blip r:embed="rId3"/>
                <a:stretch>
                  <a:fillRect l="-1438" t="-1622" r="-449" b="-30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Isosceles Triangle 3"/>
          <p:cNvSpPr/>
          <p:nvPr/>
        </p:nvSpPr>
        <p:spPr>
          <a:xfrm rot="8089703">
            <a:off x="12005555" y="6742019"/>
            <a:ext cx="276225" cy="136454"/>
          </a:xfrm>
          <a:prstGeom prst="triangle">
            <a:avLst/>
          </a:prstGeom>
          <a:solidFill>
            <a:srgbClr val="336600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9714DB0-5A1F-A94A-B128-7FF9C4C33C7F}"/>
              </a:ext>
            </a:extLst>
          </p:cNvPr>
          <p:cNvSpPr txBox="1"/>
          <p:nvPr/>
        </p:nvSpPr>
        <p:spPr>
          <a:xfrm>
            <a:off x="6096000" y="644091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38455585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" y="0"/>
            <a:ext cx="844692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The Reducibility Method (1)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334600" y="809829"/>
                <a:ext cx="10084407" cy="582249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nor/>
                      </m:rPr>
                      <a:rPr lang="en-US" sz="2000" baseline="-25000" dirty="0">
                        <a:latin typeface="Cambria Math" panose="02040503050406030204" pitchFamily="18" charset="0"/>
                      </a:rPr>
                      <m:t>DFA</m:t>
                    </m:r>
                  </m:oMath>
                </a14:m>
                <a:r>
                  <a:rPr lang="en-US" sz="2000" dirty="0"/>
                  <a:t> ,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nor/>
                      </m:rPr>
                      <a:rPr lang="en-US" sz="2000" baseline="-25000" dirty="0">
                        <a:latin typeface="Cambria Math" panose="02040503050406030204" pitchFamily="18" charset="0"/>
                      </a:rPr>
                      <m:t>NFA</m:t>
                    </m:r>
                  </m:oMath>
                </a14:m>
                <a:r>
                  <a:rPr lang="en-US" sz="2000" dirty="0"/>
                  <a:t> ,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nor/>
                      </m:rPr>
                      <a:rPr lang="en-US" sz="2000" baseline="-25000" dirty="0">
                        <a:latin typeface="Cambria Math" panose="02040503050406030204" pitchFamily="18" charset="0"/>
                      </a:rPr>
                      <m:t>DFA</m:t>
                    </m:r>
                  </m:oMath>
                </a14:m>
                <a:r>
                  <a:rPr lang="en-US" sz="2000" dirty="0"/>
                  <a:t> ,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𝐸𝑄</m:t>
                    </m:r>
                    <m:r>
                      <m:rPr>
                        <m:nor/>
                      </m:rPr>
                      <a:rPr lang="en-US" sz="2000" baseline="-25000" dirty="0">
                        <a:latin typeface="Cambria Math" panose="02040503050406030204" pitchFamily="18" charset="0"/>
                      </a:rPr>
                      <m:t>DFA</m:t>
                    </m:r>
                  </m:oMath>
                </a14:m>
                <a:r>
                  <a:rPr lang="en-US" sz="2000" dirty="0"/>
                  <a:t> ,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nor/>
                      </m:rPr>
                      <a:rPr lang="en-US" sz="2000" baseline="-25000" dirty="0">
                        <a:latin typeface="Cambria Math" panose="02040503050406030204" pitchFamily="18" charset="0"/>
                      </a:rPr>
                      <m:t>CFG</m:t>
                    </m:r>
                  </m:oMath>
                </a14:m>
                <a:r>
                  <a:rPr lang="en-US" sz="2000" dirty="0"/>
                  <a:t> ,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nor/>
                      </m:rPr>
                      <a:rPr lang="en-US" sz="2000" baseline="-25000" dirty="0">
                        <a:latin typeface="Cambria Math" panose="02040503050406030204" pitchFamily="18" charset="0"/>
                      </a:rPr>
                      <m:t>CFG</m:t>
                    </m:r>
                  </m:oMath>
                </a14:m>
                <a:r>
                  <a:rPr lang="en-US" sz="2000" dirty="0"/>
                  <a:t>  are decidable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nor/>
                      </m:rPr>
                      <a:rPr lang="en-US" sz="2000" baseline="-25000" dirty="0">
                        <a:latin typeface="Cambria Math" panose="02040503050406030204" pitchFamily="18" charset="0"/>
                      </a:rPr>
                      <m:t>TM</m:t>
                    </m:r>
                  </m:oMath>
                </a14:m>
                <a:r>
                  <a:rPr lang="en-US" sz="2000" dirty="0"/>
                  <a:t> is undecidable   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nor/>
                      </m:rPr>
                      <a:rPr lang="en-US" sz="2000" baseline="-25000" dirty="0">
                        <a:latin typeface="Cambria Math" panose="02040503050406030204" pitchFamily="18" charset="0"/>
                      </a:rPr>
                      <m:t>TM</m:t>
                    </m:r>
                  </m:oMath>
                </a14:m>
                <a:r>
                  <a:rPr lang="en-US" sz="2000" dirty="0"/>
                  <a:t> is T-recognizable but undecidable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bar>
                          <m:barPr>
                            <m:pos m:val="top"/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bar>
                      </m:e>
                      <m:sub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𝑇𝑀</m:t>
                        </m:r>
                      </m:sub>
                    </m:sSub>
                  </m:oMath>
                </a14:m>
                <a:r>
                  <a:rPr lang="en-CN" sz="2000" dirty="0"/>
                  <a:t> is not T-recognizable</a:t>
                </a:r>
                <a:endParaRPr lang="en-US" sz="2000" dirty="0"/>
              </a:p>
              <a:p>
                <a:pPr>
                  <a:spcBef>
                    <a:spcPts val="1200"/>
                  </a:spcBef>
                </a:pPr>
                <a:r>
                  <a:rPr lang="en-US" sz="2000" dirty="0"/>
                  <a:t>Reducibility:</a:t>
                </a:r>
              </a:p>
              <a:p>
                <a:pPr>
                  <a:spcBef>
                    <a:spcPts val="1200"/>
                  </a:spcBef>
                </a:pPr>
                <a:r>
                  <a:rPr lang="en-US" sz="20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Use our knowledge that </a:t>
                </a:r>
                <a14:m>
                  <m:oMath xmlns:m="http://schemas.openxmlformats.org/officeDocument/2006/math">
                    <m:r>
                      <a:rPr lang="en-US" sz="2000" i="1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nor/>
                      </m:rPr>
                      <a:rPr lang="en-US" sz="2000" baseline="-2500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TM</m:t>
                    </m:r>
                  </m:oMath>
                </a14:m>
                <a:r>
                  <a:rPr lang="en-US" sz="20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 is undecidable to show other problems are undecidable.</a:t>
                </a:r>
              </a:p>
              <a:p>
                <a:pPr>
                  <a:spcBef>
                    <a:spcPts val="1200"/>
                  </a:spcBef>
                </a:pPr>
                <a:r>
                  <a:rPr lang="en-US" sz="2000" dirty="0"/>
                  <a:t>A </a:t>
                </a:r>
                <a:r>
                  <a:rPr lang="en-US" sz="2000" b="1" dirty="0">
                    <a:solidFill>
                      <a:schemeClr val="accent1"/>
                    </a:solidFill>
                  </a:rPr>
                  <a:t>reduction</a:t>
                </a:r>
                <a:r>
                  <a:rPr lang="en-US" sz="2000" dirty="0"/>
                  <a:t> is a way of converting one problem into another such that a solution to the second  problem can be used to solve the first one.</a:t>
                </a:r>
              </a:p>
              <a:p>
                <a:pPr>
                  <a:spcBef>
                    <a:spcPts val="1200"/>
                  </a:spcBef>
                </a:pPr>
                <a:r>
                  <a:rPr lang="en-US" sz="2000" b="1" dirty="0"/>
                  <a:t>Example (</a:t>
                </a:r>
                <a:r>
                  <a:rPr lang="en-US" sz="2000" b="1" dirty="0" err="1"/>
                  <a:t>i</a:t>
                </a:r>
                <a:r>
                  <a:rPr lang="en-US" sz="2000" b="1" dirty="0"/>
                  <a:t>):</a:t>
                </a:r>
                <a:r>
                  <a:rPr lang="en-US" sz="2000" dirty="0"/>
                  <a:t> You can reduce the problem of getting from </a:t>
                </a:r>
                <a:r>
                  <a:rPr lang="en-US" sz="2000" dirty="0" err="1"/>
                  <a:t>Tanglang</a:t>
                </a:r>
                <a:r>
                  <a:rPr lang="en-US" sz="2000" dirty="0"/>
                  <a:t> (</a:t>
                </a:r>
                <a:r>
                  <a:rPr lang="en-US" sz="2000" dirty="0" err="1"/>
                  <a:t>塘朗</a:t>
                </a:r>
                <a:r>
                  <a:rPr lang="en-GB" sz="2000" dirty="0"/>
                  <a:t>)</a:t>
                </a:r>
                <a:r>
                  <a:rPr lang="en-US" sz="2000" dirty="0"/>
                  <a:t> to </a:t>
                </a:r>
                <a:r>
                  <a:rPr lang="en-US" sz="2000" dirty="0" err="1"/>
                  <a:t>Shekou</a:t>
                </a:r>
                <a:r>
                  <a:rPr lang="en-US" sz="2000" dirty="0"/>
                  <a:t> (</a:t>
                </a:r>
                <a:r>
                  <a:rPr lang="en-US" sz="2000" dirty="0" err="1"/>
                  <a:t>蛇口</a:t>
                </a:r>
                <a:r>
                  <a:rPr lang="en-US" sz="2000" dirty="0"/>
                  <a:t>) to the problem of finding a map of the Shenzhen </a:t>
                </a:r>
                <a:r>
                  <a:rPr lang="en-GB" sz="2000" dirty="0"/>
                  <a:t>(</a:t>
                </a:r>
                <a:r>
                  <a:rPr lang="zh-CN" altLang="en-US" sz="2000" dirty="0"/>
                  <a:t>深圳</a:t>
                </a:r>
                <a:r>
                  <a:rPr lang="en-GB" altLang="zh-CN" sz="2000" dirty="0"/>
                  <a:t>)</a:t>
                </a:r>
                <a:r>
                  <a:rPr lang="en-US" sz="2000" dirty="0"/>
                  <a:t> subway system.</a:t>
                </a:r>
              </a:p>
              <a:p>
                <a:pPr>
                  <a:spcBef>
                    <a:spcPts val="1200"/>
                  </a:spcBef>
                </a:pPr>
                <a:r>
                  <a:rPr lang="en-US" sz="2000" dirty="0"/>
                  <a:t>Reducibility involves two problems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000" dirty="0"/>
                  <a:t> and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000" dirty="0"/>
                  <a:t>: If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000" dirty="0"/>
                  <a:t> reduces to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000" dirty="0"/>
                  <a:t>, we can use a solution to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000" dirty="0"/>
                  <a:t> to solve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n-US" sz="2000" dirty="0"/>
              </a:p>
              <a:p>
                <a:pPr>
                  <a:spcBef>
                    <a:spcPts val="1200"/>
                  </a:spcBef>
                </a:pPr>
                <a:r>
                  <a:rPr lang="en-US" sz="2000" dirty="0"/>
                  <a:t>In the example: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sz="2000" dirty="0"/>
                  <a:t> getting to </a:t>
                </a:r>
                <a:r>
                  <a:rPr lang="en-US" sz="2000" dirty="0" err="1"/>
                  <a:t>Shekou</a:t>
                </a:r>
                <a:r>
                  <a:rPr lang="en-US" sz="2000" dirty="0"/>
                  <a:t>;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sz="2000" dirty="0"/>
                  <a:t> obtaining subway map</a:t>
                </a:r>
              </a:p>
              <a:p>
                <a:pPr>
                  <a:spcBef>
                    <a:spcPts val="1200"/>
                  </a:spcBef>
                </a:pPr>
                <a:r>
                  <a:rPr lang="en-US" sz="2000" dirty="0"/>
                  <a:t>Reducibility says nothing about how to solve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000" dirty="0"/>
                  <a:t> or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GB" sz="2000" b="0" i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2000" dirty="0"/>
                  <a:t> but only about the solvability of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000" dirty="0"/>
                  <a:t> given a solution to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600" y="809829"/>
                <a:ext cx="10084407" cy="5822491"/>
              </a:xfrm>
              <a:prstGeom prst="rect">
                <a:avLst/>
              </a:prstGeom>
              <a:blipFill>
                <a:blip r:embed="rId2"/>
                <a:stretch>
                  <a:fillRect l="-629" t="-652" r="-629" b="-870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169928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" y="0"/>
            <a:ext cx="844692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The Reducibility Method (2)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334600" y="616646"/>
                <a:ext cx="10754110" cy="64017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1200"/>
                  </a:spcBef>
                </a:pPr>
                <a:r>
                  <a:rPr lang="en-US" sz="2000" dirty="0"/>
                  <a:t>Reducibility says nothing about how to solve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000" dirty="0"/>
                  <a:t> or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000" dirty="0"/>
                  <a:t> alone, but only about solvability of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000" dirty="0"/>
                  <a:t> in the presence of </a:t>
                </a:r>
                <a:r>
                  <a:rPr lang="en-US" sz="2000"/>
                  <a:t>a solution to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000" dirty="0"/>
                  <a:t>.</a:t>
                </a:r>
              </a:p>
              <a:p>
                <a:pPr>
                  <a:spcBef>
                    <a:spcPts val="1200"/>
                  </a:spcBef>
                </a:pPr>
                <a:r>
                  <a:rPr lang="en-US" sz="2000" b="1" dirty="0"/>
                  <a:t>Example (ii)</a:t>
                </a:r>
                <a:r>
                  <a:rPr lang="en-US" sz="2000" dirty="0"/>
                  <a:t>: The problem of getting from Shenzhen to London </a:t>
                </a:r>
                <a14:m>
                  <m:oMath xmlns:m="http://schemas.openxmlformats.org/officeDocument/2006/math">
                    <m:r>
                      <a:rPr lang="en-GB" sz="2000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sz="20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 reduces to the problem of buying a plane ticket </a:t>
                </a:r>
                <a14:m>
                  <m:oMath xmlns:m="http://schemas.openxmlformats.org/officeDocument/2006/math">
                    <m:r>
                      <a:rPr lang="en-GB" sz="200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GB" sz="20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, which reduces to the problem of earning the money to buy it </a:t>
                </a:r>
                <a14:m>
                  <m:oMath xmlns:m="http://schemas.openxmlformats.org/officeDocument/2006/math">
                    <m:r>
                      <a:rPr lang="en-GB" sz="200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GB" sz="20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, which reduces to the problem of finding a job </a:t>
                </a:r>
                <a14:m>
                  <m:oMath xmlns:m="http://schemas.openxmlformats.org/officeDocument/2006/math">
                    <m:r>
                      <a:rPr lang="en-GB" sz="200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GB" sz="20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.</a:t>
                </a:r>
              </a:p>
              <a:p>
                <a:pPr>
                  <a:spcBef>
                    <a:spcPts val="1200"/>
                  </a:spcBef>
                </a:pPr>
                <a:r>
                  <a:rPr lang="en-US" sz="2000" b="1" dirty="0"/>
                  <a:t>Example (iii):</a:t>
                </a:r>
                <a:r>
                  <a:rPr lang="en-US" sz="2000" dirty="0"/>
                  <a:t> The problem of measuring the area of a rectangle </a:t>
                </a:r>
                <a14:m>
                  <m:oMath xmlns:m="http://schemas.openxmlformats.org/officeDocument/2006/math">
                    <m:r>
                      <a:rPr lang="en-GB" sz="200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sz="20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GB" sz="20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 reduces to the problem of measuring its length and width </a:t>
                </a:r>
                <a14:m>
                  <m:oMath xmlns:m="http://schemas.openxmlformats.org/officeDocument/2006/math">
                    <m:r>
                      <a:rPr lang="en-GB" sz="200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GB" sz="20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.</a:t>
                </a:r>
              </a:p>
              <a:p>
                <a:pPr marL="342900" indent="-342900">
                  <a:spcBef>
                    <a:spcPts val="1200"/>
                  </a:spcBef>
                  <a:buFont typeface="Arial" panose="020B0604020202020204" pitchFamily="34" charset="0"/>
                  <a:buChar char="•"/>
                </a:pPr>
                <a:r>
                  <a:rPr lang="en-US" sz="2000" dirty="0"/>
                  <a:t>When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000" dirty="0"/>
                  <a:t> is reducible to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000" dirty="0"/>
                  <a:t>, solving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000" dirty="0"/>
                  <a:t> cannot be harder to solving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000" dirty="0"/>
                  <a:t>, because a solution to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000" dirty="0"/>
                  <a:t> provides a solution to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000" dirty="0"/>
                  <a:t>. </a:t>
                </a:r>
                <a:br>
                  <a:rPr lang="en-US" sz="2000" dirty="0"/>
                </a:br>
                <a:endParaRPr lang="en-US" sz="2000" dirty="0"/>
              </a:p>
              <a:p>
                <a:pPr>
                  <a:spcBef>
                    <a:spcPts val="1200"/>
                  </a:spcBef>
                </a:pPr>
                <a:r>
                  <a:rPr lang="en-US" sz="2000" dirty="0"/>
                  <a:t>In </a:t>
                </a:r>
                <a:r>
                  <a:rPr lang="en-US" sz="2000" u="sng" dirty="0"/>
                  <a:t>computability theory</a:t>
                </a:r>
                <a:r>
                  <a:rPr lang="en-US" sz="2000" dirty="0"/>
                  <a:t>:</a:t>
                </a:r>
              </a:p>
              <a:p>
                <a:pPr marL="457200" indent="-457200">
                  <a:spcBef>
                    <a:spcPts val="1200"/>
                  </a:spcBef>
                  <a:buFont typeface="+mj-lt"/>
                  <a:buAutoNum type="arabicPeriod"/>
                </a:pPr>
                <a:r>
                  <a:rPr lang="en-US" sz="2000" b="1" dirty="0">
                    <a:solidFill>
                      <a:schemeClr val="accent1"/>
                    </a:solidFill>
                  </a:rPr>
                  <a:t>If </a:t>
                </a:r>
                <a14:m>
                  <m:oMath xmlns:m="http://schemas.openxmlformats.org/officeDocument/2006/math">
                    <m:r>
                      <a:rPr lang="en-GB" sz="2000" b="1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en-US" sz="2000" b="1" dirty="0">
                    <a:solidFill>
                      <a:schemeClr val="accent1"/>
                    </a:solidFill>
                  </a:rPr>
                  <a:t> is reducible to </a:t>
                </a:r>
                <a14:m>
                  <m:oMath xmlns:m="http://schemas.openxmlformats.org/officeDocument/2006/math">
                    <m:r>
                      <a:rPr lang="en-GB" sz="2000" b="1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𝑩</m:t>
                    </m:r>
                  </m:oMath>
                </a14:m>
                <a:r>
                  <a:rPr lang="en-US" sz="2000" b="1" dirty="0">
                    <a:solidFill>
                      <a:schemeClr val="accent1"/>
                    </a:solidFill>
                  </a:rPr>
                  <a:t> and </a:t>
                </a:r>
                <a14:m>
                  <m:oMath xmlns:m="http://schemas.openxmlformats.org/officeDocument/2006/math">
                    <m:r>
                      <a:rPr lang="en-GB" sz="2000" b="1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𝑩</m:t>
                    </m:r>
                  </m:oMath>
                </a14:m>
                <a:r>
                  <a:rPr lang="en-US" sz="2000" b="1" dirty="0">
                    <a:solidFill>
                      <a:schemeClr val="accent1"/>
                    </a:solidFill>
                  </a:rPr>
                  <a:t> is decidable, then also </a:t>
                </a:r>
                <a14:m>
                  <m:oMath xmlns:m="http://schemas.openxmlformats.org/officeDocument/2006/math">
                    <m:r>
                      <a:rPr lang="en-GB" sz="2000" b="1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en-US" sz="2000" b="1" dirty="0">
                    <a:solidFill>
                      <a:schemeClr val="accent1"/>
                    </a:solidFill>
                  </a:rPr>
                  <a:t> is decidable</a:t>
                </a:r>
              </a:p>
              <a:p>
                <a:pPr marL="457200" indent="-457200">
                  <a:spcBef>
                    <a:spcPts val="1200"/>
                  </a:spcBef>
                  <a:buFont typeface="+mj-lt"/>
                  <a:buAutoNum type="arabicPeriod"/>
                </a:pPr>
                <a:r>
                  <a:rPr lang="en-US" sz="2000" b="1" dirty="0">
                    <a:solidFill>
                      <a:schemeClr val="accent1"/>
                    </a:solidFill>
                  </a:rPr>
                  <a:t>If </a:t>
                </a:r>
                <a14:m>
                  <m:oMath xmlns:m="http://schemas.openxmlformats.org/officeDocument/2006/math">
                    <m:r>
                      <a:rPr lang="en-GB" sz="2000" b="1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en-US" sz="2000" b="1" dirty="0">
                    <a:solidFill>
                      <a:schemeClr val="accent1"/>
                    </a:solidFill>
                  </a:rPr>
                  <a:t> is undecidable and reducible to </a:t>
                </a:r>
                <a14:m>
                  <m:oMath xmlns:m="http://schemas.openxmlformats.org/officeDocument/2006/math">
                    <m:r>
                      <a:rPr lang="en-GB" sz="2000" b="1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𝑩</m:t>
                    </m:r>
                    <m:r>
                      <a:rPr lang="en-GB" sz="2000" b="1" i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2000" b="1" dirty="0">
                    <a:solidFill>
                      <a:schemeClr val="accent1"/>
                    </a:solidFill>
                  </a:rPr>
                  <a:t> then </a:t>
                </a:r>
                <a14:m>
                  <m:oMath xmlns:m="http://schemas.openxmlformats.org/officeDocument/2006/math">
                    <m:r>
                      <a:rPr lang="en-GB" sz="2000" b="1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𝑩</m:t>
                    </m:r>
                  </m:oMath>
                </a14:m>
                <a:r>
                  <a:rPr lang="en-US" sz="2000" b="1" dirty="0">
                    <a:solidFill>
                      <a:schemeClr val="accent1"/>
                    </a:solidFill>
                  </a:rPr>
                  <a:t> is undecidable</a:t>
                </a:r>
              </a:p>
              <a:p>
                <a:pPr>
                  <a:spcBef>
                    <a:spcPts val="1200"/>
                  </a:spcBef>
                </a:pPr>
                <a:r>
                  <a:rPr lang="en-US" sz="2000" dirty="0"/>
                  <a:t>2. Is key to proving that various problems are undecidable</a:t>
                </a:r>
              </a:p>
              <a:p>
                <a:pPr>
                  <a:spcBef>
                    <a:spcPts val="1200"/>
                  </a:spcBef>
                </a:pPr>
                <a:r>
                  <a:rPr lang="en-US" sz="2000" dirty="0"/>
                  <a:t>=&gt; To prove that some problem is undecidable, show that some undecidable problem reduces to it </a:t>
                </a:r>
              </a:p>
              <a:p>
                <a:pPr marL="342900" indent="-342900">
                  <a:spcBef>
                    <a:spcPts val="1200"/>
                  </a:spcBef>
                  <a:buFont typeface="Arial" panose="020B0604020202020204" pitchFamily="34" charset="0"/>
                  <a:buChar char="•"/>
                </a:pPr>
                <a:endParaRPr lang="en-US" sz="2000" b="1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600" y="616646"/>
                <a:ext cx="10754110" cy="6401753"/>
              </a:xfrm>
              <a:prstGeom prst="rect">
                <a:avLst/>
              </a:prstGeom>
              <a:blipFill>
                <a:blip r:embed="rId2"/>
                <a:stretch>
                  <a:fillRect l="-590" t="-396" r="-943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850231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" y="0"/>
            <a:ext cx="844692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Reducibility – Concept Overview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334599" y="1131801"/>
                <a:ext cx="7278313" cy="54168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1200"/>
                  </a:spcBef>
                </a:pPr>
                <a:r>
                  <a:rPr lang="en-US" sz="24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If we have two languages (or problems)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4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4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, then </a:t>
                </a:r>
                <a:br>
                  <a:rPr lang="en-US" sz="24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</a:b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4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 is reducible to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4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 means that we can use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4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 to solve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4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.</a:t>
                </a:r>
              </a:p>
              <a:p>
                <a:pPr>
                  <a:spcBef>
                    <a:spcPts val="1200"/>
                  </a:spcBef>
                </a:pPr>
                <a:r>
                  <a:rPr lang="en-US" sz="2400" b="1" dirty="0">
                    <a:solidFill>
                      <a:schemeClr val="tx1"/>
                    </a:solidFill>
                  </a:rPr>
                  <a:t>Example </a:t>
                </a:r>
                <a:r>
                  <a:rPr lang="en-US" sz="2400" b="1" dirty="0"/>
                  <a:t>4</a:t>
                </a:r>
                <a:r>
                  <a:rPr lang="en-US" sz="2400" b="1" dirty="0">
                    <a:solidFill>
                      <a:schemeClr val="tx1"/>
                    </a:solidFill>
                  </a:rPr>
                  <a:t>:</a:t>
                </a:r>
                <a:r>
                  <a:rPr lang="en-US" sz="2400" dirty="0">
                    <a:solidFill>
                      <a:schemeClr val="tx1"/>
                    </a:solidFill>
                  </a:rPr>
                  <a:t>   We showed that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nor/>
                      </m:rPr>
                      <a:rPr lang="en-US" sz="2400" baseline="-250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NFA</m:t>
                    </m:r>
                    <m:r>
                      <m:rPr>
                        <m:nor/>
                      </m:rPr>
                      <a:rPr lang="en-US" sz="2400" baseline="-250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is reducible to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nor/>
                      </m:rPr>
                      <a:rPr lang="en-US" sz="2400" baseline="-250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DFA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.</a:t>
                </a:r>
              </a:p>
              <a:p>
                <a:pPr>
                  <a:spcBef>
                    <a:spcPts val="1200"/>
                  </a:spcBef>
                </a:pPr>
                <a:endParaRPr lang="en-US" sz="2400" dirty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  <a:p>
                <a:pPr>
                  <a:spcBef>
                    <a:spcPts val="1200"/>
                  </a:spcBef>
                </a:pPr>
                <a:r>
                  <a:rPr lang="en-US" sz="24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If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4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 is reducible to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4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 then solving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4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 gives a solution to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4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.</a:t>
                </a:r>
              </a:p>
              <a:p>
                <a:r>
                  <a:rPr lang="en-US" sz="2400" dirty="0">
                    <a:solidFill>
                      <a:schemeClr val="tx1"/>
                    </a:solidFill>
                  </a:rPr>
                  <a:t>- then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is easy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is easy.</a:t>
                </a:r>
              </a:p>
              <a:p>
                <a:r>
                  <a:rPr lang="en-US" sz="2400" dirty="0">
                    <a:solidFill>
                      <a:schemeClr val="tx1"/>
                    </a:solidFill>
                  </a:rPr>
                  <a:t>- then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is hard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is hard.</a:t>
                </a:r>
              </a:p>
              <a:p>
                <a:r>
                  <a:rPr lang="en-US" sz="2400" dirty="0">
                    <a:solidFill>
                      <a:schemeClr val="tx1"/>
                    </a:solidFill>
                  </a:rPr>
                  <a:t>      </a:t>
                </a:r>
                <a:r>
                  <a:rPr lang="en-US" sz="2000" dirty="0">
                    <a:solidFill>
                      <a:schemeClr val="tx1"/>
                    </a:solidFill>
                  </a:rPr>
                  <a:t>this is the form we will use </a:t>
                </a:r>
              </a:p>
              <a:p>
                <a:endParaRPr lang="en-US" sz="2000" dirty="0"/>
              </a:p>
              <a:p>
                <a:r>
                  <a:rPr lang="en-US" sz="2000" dirty="0"/>
                  <a:t>General s</a:t>
                </a:r>
                <a:r>
                  <a:rPr lang="en-US" sz="2000" dirty="0">
                    <a:solidFill>
                      <a:schemeClr val="tx1"/>
                    </a:solidFill>
                  </a:rPr>
                  <a:t>trategy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nor/>
                      </m:rPr>
                      <a:rPr lang="en-GB" sz="2000" b="0" i="0" baseline="-25000" dirty="0" smtClean="0">
                        <a:latin typeface="Cambria Math" panose="02040503050406030204" pitchFamily="18" charset="0"/>
                      </a:rPr>
                      <m:t>TM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 proved undecidable via diagonalization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All other problems can be shown undecidable by reducing some </a:t>
                </a:r>
                <a:br>
                  <a:rPr lang="en-US" sz="2000" dirty="0"/>
                </a:br>
                <a:r>
                  <a:rPr lang="en-US" sz="2000" dirty="0"/>
                  <a:t>undecidable problem to them!</a:t>
                </a:r>
                <a:endParaRPr lang="en-US" sz="2000" dirty="0">
                  <a:solidFill>
                    <a:schemeClr val="tx1"/>
                  </a:solidFill>
                </a:endParaRPr>
              </a:p>
              <a:p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599" y="1131801"/>
                <a:ext cx="7278313" cy="5416868"/>
              </a:xfrm>
              <a:prstGeom prst="rect">
                <a:avLst/>
              </a:prstGeom>
              <a:blipFill>
                <a:blip r:embed="rId3"/>
                <a:stretch>
                  <a:fillRect l="-1394" t="-703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7601E0C1-95BD-5942-A257-CBD61A922D50}"/>
              </a:ext>
            </a:extLst>
          </p:cNvPr>
          <p:cNvSpPr txBox="1"/>
          <p:nvPr/>
        </p:nvSpPr>
        <p:spPr>
          <a:xfrm>
            <a:off x="5735782" y="645621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DE31445-B40E-2E5D-5753-D57B2805D2D6}"/>
              </a:ext>
            </a:extLst>
          </p:cNvPr>
          <p:cNvSpPr txBox="1"/>
          <p:nvPr/>
        </p:nvSpPr>
        <p:spPr>
          <a:xfrm>
            <a:off x="2701636" y="52578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C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0980F3D-8A36-2CC5-578B-EF4C33A008A6}"/>
              </a:ext>
            </a:extLst>
          </p:cNvPr>
          <p:cNvSpPr txBox="1"/>
          <p:nvPr/>
        </p:nvSpPr>
        <p:spPr>
          <a:xfrm>
            <a:off x="2296391" y="522662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CN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F9BC5FD-29DA-0F31-CC65-AFA9DD421E7E}"/>
              </a:ext>
            </a:extLst>
          </p:cNvPr>
          <p:cNvSpPr/>
          <p:nvPr/>
        </p:nvSpPr>
        <p:spPr>
          <a:xfrm>
            <a:off x="515009" y="3845316"/>
            <a:ext cx="3426372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rtlCol="0" anchor="ctr"/>
          <a:lstStyle/>
          <a:p>
            <a:pPr algn="ctr"/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2301860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uiExpand="1" build="p"/>
      <p:bldP spid="3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2" y="0"/>
                <a:ext cx="8446926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sz="4000" b="0" i="1" dirty="0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nor/>
                      </m:rPr>
                      <a:rPr lang="en-US" sz="4000" baseline="-2500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TM</m:t>
                    </m:r>
                  </m:oMath>
                </a14:m>
                <a:r>
                  <a:rPr lang="en-US" sz="40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 is undecidable</a:t>
                </a: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" y="0"/>
                <a:ext cx="8446926" cy="707886"/>
              </a:xfrm>
              <a:prstGeom prst="rect">
                <a:avLst/>
              </a:prstGeom>
              <a:blipFill>
                <a:blip r:embed="rId3"/>
                <a:stretch>
                  <a:fillRect t="-15517" b="-362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315377" y="1093438"/>
                <a:ext cx="8797044" cy="53707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600"/>
                  </a:spcBef>
                </a:pPr>
                <a:r>
                  <a:rPr lang="en-US" sz="24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Let 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nor/>
                      </m:rPr>
                      <a:rPr lang="en-US" sz="2400" b="0" i="0" baseline="-25000" dirty="0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TM</m:t>
                    </m:r>
                    <m:r>
                      <m:rPr>
                        <m:nor/>
                      </m:rPr>
                      <a:rPr lang="en-US" sz="2400" baseline="-2500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={</m:t>
                    </m:r>
                    <m:d>
                      <m:dPr>
                        <m:begChr m:val="〈"/>
                        <m:endChr m:val="〉"/>
                        <m:ctrlPr>
                          <a:rPr lang="en-US" sz="2400" i="1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</m:d>
                    <m:r>
                      <a:rPr lang="en-US" sz="2400" i="1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| </m:t>
                    </m:r>
                    <m:r>
                      <a:rPr lang="en-US" sz="2400" b="0" i="1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4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 is a TM and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sz="2400" i="1" dirty="0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dirty="0" smtClean="0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</m:d>
                    <m:r>
                      <a:rPr lang="en-US" sz="2400" i="1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=∅ }</m:t>
                    </m:r>
                  </m:oMath>
                </a14:m>
                <a:endParaRPr lang="en-US" sz="2400" dirty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  <a:p>
                <a:pPr>
                  <a:spcBef>
                    <a:spcPts val="600"/>
                  </a:spcBef>
                </a:pPr>
                <a:r>
                  <a:rPr lang="en-US" sz="2400" b="1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Theorem: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nor/>
                      </m:rPr>
                      <a:rPr lang="en-US" sz="2400" baseline="-2500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TM</m:t>
                    </m:r>
                    <m:r>
                      <m:rPr>
                        <m:nor/>
                      </m:rPr>
                      <a:rPr lang="en-US" sz="2400" baseline="-2500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 is undecidable</a:t>
                </a:r>
              </a:p>
              <a:p>
                <a:r>
                  <a:rPr lang="en-US" sz="2000" dirty="0"/>
                  <a:t>Proof by contradiction.  Show that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nor/>
                      </m:rPr>
                      <a:rPr lang="en-US" sz="2000" baseline="-25000" dirty="0">
                        <a:latin typeface="Cambria Math" panose="02040503050406030204" pitchFamily="18" charset="0"/>
                      </a:rPr>
                      <m:t>TM</m:t>
                    </m:r>
                  </m:oMath>
                </a14:m>
                <a:r>
                  <a:rPr lang="en-US" sz="2000" dirty="0"/>
                  <a:t> is reducible to 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nor/>
                      </m:rPr>
                      <a:rPr lang="en-US" sz="2000" baseline="-25000" dirty="0">
                        <a:latin typeface="Cambria Math" panose="02040503050406030204" pitchFamily="18" charset="0"/>
                      </a:rPr>
                      <m:t>TM</m:t>
                    </m:r>
                  </m:oMath>
                </a14:m>
                <a:r>
                  <a:rPr lang="en-US" sz="2000" dirty="0"/>
                  <a:t>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000" dirty="0"/>
                  <a:t>Assume that 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nor/>
                      </m:rPr>
                      <a:rPr lang="en-US" sz="2000" baseline="-25000" dirty="0">
                        <a:latin typeface="Cambria Math" panose="02040503050406030204" pitchFamily="18" charset="0"/>
                      </a:rPr>
                      <m:t>TM</m:t>
                    </m:r>
                  </m:oMath>
                </a14:m>
                <a:r>
                  <a:rPr lang="en-US" sz="2000" dirty="0"/>
                  <a:t> is decidable and show that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nor/>
                      </m:rPr>
                      <a:rPr lang="en-US" sz="2000" baseline="-25000" dirty="0">
                        <a:latin typeface="Cambria Math" panose="02040503050406030204" pitchFamily="18" charset="0"/>
                      </a:rPr>
                      <m:t>TM</m:t>
                    </m:r>
                  </m:oMath>
                </a14:m>
                <a:r>
                  <a:rPr lang="en-US" sz="2000" dirty="0"/>
                  <a:t> is decidable (false!).</a:t>
                </a:r>
              </a:p>
              <a:p>
                <a:r>
                  <a:rPr lang="en-US" sz="2000" dirty="0"/>
                  <a:t>Let TM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2000" dirty="0"/>
                  <a:t> decide 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nor/>
                      </m:rPr>
                      <a:rPr lang="en-US" sz="2000" baseline="-25000" dirty="0">
                        <a:latin typeface="Cambria Math" panose="02040503050406030204" pitchFamily="18" charset="0"/>
                      </a:rPr>
                      <m:t>TM</m:t>
                    </m:r>
                  </m:oMath>
                </a14:m>
                <a:r>
                  <a:rPr lang="en-US" sz="2000" dirty="0"/>
                  <a:t>.</a:t>
                </a:r>
              </a:p>
              <a:p>
                <a:r>
                  <a:rPr lang="en-US" sz="2000" dirty="0"/>
                  <a:t>Construct TM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sz="2000" dirty="0"/>
                  <a:t> deciding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nor/>
                      </m:rPr>
                      <a:rPr lang="en-US" sz="2000" baseline="-25000" dirty="0">
                        <a:latin typeface="Cambria Math" panose="02040503050406030204" pitchFamily="18" charset="0"/>
                      </a:rPr>
                      <m:t>TM</m:t>
                    </m:r>
                  </m:oMath>
                </a14:m>
                <a:r>
                  <a:rPr lang="en-US" sz="2000" dirty="0"/>
                  <a:t>.</a:t>
                </a:r>
              </a:p>
              <a:p>
                <a:endParaRPr lang="en-US" sz="2000" dirty="0"/>
              </a:p>
              <a:p>
                <a:r>
                  <a:rPr lang="en-US" sz="2000" b="1" dirty="0"/>
                  <a:t>One (wrong) idea</a:t>
                </a:r>
                <a:r>
                  <a:rPr lang="en-US" sz="2000" dirty="0"/>
                  <a:t>: 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sz="2000" dirty="0"/>
                  <a:t> runs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2000" dirty="0"/>
                  <a:t> on</a:t>
                </a:r>
                <a14:m>
                  <m:oMath xmlns:m="http://schemas.openxmlformats.org/officeDocument/2006/math">
                    <m:r>
                      <a:rPr lang="en-GB" sz="2000" b="0" i="0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begChr m:val="〈"/>
                        <m:endChr m:val="〉"/>
                        <m:ctrlPr>
                          <a:rPr lang="en-US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</m:d>
                  </m:oMath>
                </a14:m>
                <a:endParaRPr lang="en-US" sz="2000" dirty="0"/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If it accepts then we know that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000" dirty="0"/>
                  <a:t> accepts the empty language and will reject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endParaRPr lang="en-US" sz="2000" dirty="0"/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If it rejects then we know that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)≠∅</m:t>
                    </m:r>
                  </m:oMath>
                </a14:m>
                <a:r>
                  <a:rPr lang="en-US" sz="2000" dirty="0"/>
                  <a:t> but we don’t know if it accepts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sz="2000" dirty="0"/>
                  <a:t> (it may accept strings that are not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sz="2000" dirty="0"/>
                  <a:t>, but </a:t>
                </a:r>
                <a:r>
                  <a:rPr lang="en-US" sz="2000"/>
                  <a:t>loop on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sz="2000" dirty="0"/>
                  <a:t> )</a:t>
                </a:r>
              </a:p>
              <a:p>
                <a:endParaRPr lang="en-US" sz="2000" dirty="0"/>
              </a:p>
              <a:p>
                <a:endParaRPr lang="en-US" sz="2000" dirty="0"/>
              </a:p>
              <a:p>
                <a:pPr>
                  <a:spcBef>
                    <a:spcPts val="600"/>
                  </a:spcBef>
                </a:pPr>
                <a:r>
                  <a:rPr lang="en-US" sz="2000" dirty="0"/>
                  <a:t> </a:t>
                </a: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5377" y="1093438"/>
                <a:ext cx="8797044" cy="5370701"/>
              </a:xfrm>
              <a:prstGeom prst="rect">
                <a:avLst/>
              </a:prstGeom>
              <a:blipFill>
                <a:blip r:embed="rId4"/>
                <a:stretch>
                  <a:fillRect l="-1009" t="-472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982CF769-AA94-2E41-83A7-9479A34F1E89}"/>
              </a:ext>
            </a:extLst>
          </p:cNvPr>
          <p:cNvSpPr txBox="1"/>
          <p:nvPr/>
        </p:nvSpPr>
        <p:spPr>
          <a:xfrm>
            <a:off x="5763491" y="648392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0743150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2" y="0"/>
                <a:ext cx="8446926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sz="4000" b="0" i="1" dirty="0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nor/>
                      </m:rPr>
                      <a:rPr lang="en-US" sz="4000" baseline="-2500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TM</m:t>
                    </m:r>
                  </m:oMath>
                </a14:m>
                <a:r>
                  <a:rPr lang="en-US" sz="40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 is undecidable</a:t>
                </a: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" y="0"/>
                <a:ext cx="8446926" cy="707886"/>
              </a:xfrm>
              <a:prstGeom prst="rect">
                <a:avLst/>
              </a:prstGeom>
              <a:blipFill>
                <a:blip r:embed="rId3"/>
                <a:stretch>
                  <a:fillRect t="-15517" b="-362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346549" y="817103"/>
                <a:ext cx="8797044" cy="57554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600"/>
                  </a:spcBef>
                </a:pPr>
                <a:r>
                  <a:rPr lang="en-US" sz="24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Let 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nor/>
                      </m:rPr>
                      <a:rPr lang="en-US" sz="2400" b="0" i="0" baseline="-25000" dirty="0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TM</m:t>
                    </m:r>
                    <m:r>
                      <m:rPr>
                        <m:nor/>
                      </m:rPr>
                      <a:rPr lang="en-US" sz="2400" baseline="-2500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={</m:t>
                    </m:r>
                    <m:d>
                      <m:dPr>
                        <m:begChr m:val="〈"/>
                        <m:endChr m:val="〉"/>
                        <m:ctrlPr>
                          <a:rPr lang="en-US" sz="2400" i="1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</m:d>
                    <m:r>
                      <a:rPr lang="en-US" sz="2400" i="1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| </m:t>
                    </m:r>
                    <m:r>
                      <a:rPr lang="en-US" sz="2400" b="0" i="1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4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 is a TM and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sz="2400" i="1" dirty="0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dirty="0" smtClean="0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</m:d>
                    <m:r>
                      <a:rPr lang="en-US" sz="2400" i="1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=∅ }</m:t>
                    </m:r>
                  </m:oMath>
                </a14:m>
                <a:endParaRPr lang="en-US" sz="2400" dirty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  <a:p>
                <a:pPr>
                  <a:spcBef>
                    <a:spcPts val="300"/>
                  </a:spcBef>
                </a:pPr>
                <a:r>
                  <a:rPr lang="en-US" sz="2400" b="1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Theorem: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nor/>
                      </m:rPr>
                      <a:rPr lang="en-US" sz="2400" baseline="-2500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TM</m:t>
                    </m:r>
                    <m:r>
                      <m:rPr>
                        <m:nor/>
                      </m:rPr>
                      <a:rPr lang="en-US" sz="2400" baseline="-2500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 is undecidable</a:t>
                </a:r>
              </a:p>
              <a:p>
                <a:r>
                  <a:rPr lang="en-US" sz="2000" dirty="0"/>
                  <a:t>Proof by contradiction.  Show that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nor/>
                      </m:rPr>
                      <a:rPr lang="en-US" sz="2000" baseline="-25000" dirty="0">
                        <a:latin typeface="Cambria Math" panose="02040503050406030204" pitchFamily="18" charset="0"/>
                      </a:rPr>
                      <m:t>TM</m:t>
                    </m:r>
                  </m:oMath>
                </a14:m>
                <a:r>
                  <a:rPr lang="en-US" sz="2000" dirty="0"/>
                  <a:t> is reducible to 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nor/>
                      </m:rPr>
                      <a:rPr lang="en-US" sz="2000" baseline="-25000" dirty="0">
                        <a:latin typeface="Cambria Math" panose="02040503050406030204" pitchFamily="18" charset="0"/>
                      </a:rPr>
                      <m:t>TM</m:t>
                    </m:r>
                  </m:oMath>
                </a14:m>
                <a:r>
                  <a:rPr lang="en-US" sz="2000" dirty="0"/>
                  <a:t>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000" dirty="0"/>
                  <a:t>Assume that 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nor/>
                      </m:rPr>
                      <a:rPr lang="en-US" sz="2000" baseline="-25000" dirty="0">
                        <a:latin typeface="Cambria Math" panose="02040503050406030204" pitchFamily="18" charset="0"/>
                      </a:rPr>
                      <m:t>TM</m:t>
                    </m:r>
                  </m:oMath>
                </a14:m>
                <a:r>
                  <a:rPr lang="en-US" sz="2000" dirty="0"/>
                  <a:t> is decidable and show that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nor/>
                      </m:rPr>
                      <a:rPr lang="en-US" sz="2000" baseline="-25000" dirty="0">
                        <a:latin typeface="Cambria Math" panose="02040503050406030204" pitchFamily="18" charset="0"/>
                      </a:rPr>
                      <m:t>TM</m:t>
                    </m:r>
                  </m:oMath>
                </a14:m>
                <a:r>
                  <a:rPr lang="en-US" sz="2000" dirty="0"/>
                  <a:t> is decidable (false!).</a:t>
                </a:r>
              </a:p>
              <a:p>
                <a:r>
                  <a:rPr lang="en-US" sz="2000" dirty="0"/>
                  <a:t>Let TM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2000" dirty="0"/>
                  <a:t> decide 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nor/>
                      </m:rPr>
                      <a:rPr lang="en-US" sz="2000" baseline="-25000" dirty="0">
                        <a:latin typeface="Cambria Math" panose="02040503050406030204" pitchFamily="18" charset="0"/>
                      </a:rPr>
                      <m:t>TM</m:t>
                    </m:r>
                  </m:oMath>
                </a14:m>
                <a:r>
                  <a:rPr lang="en-US" sz="2000" dirty="0"/>
                  <a:t>.</a:t>
                </a:r>
              </a:p>
              <a:p>
                <a:pPr>
                  <a:spcAft>
                    <a:spcPts val="600"/>
                  </a:spcAft>
                </a:pPr>
                <a:r>
                  <a:rPr lang="en-US" sz="2000" dirty="0"/>
                  <a:t>Construct TM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sz="2000" dirty="0"/>
                  <a:t> deciding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nor/>
                      </m:rPr>
                      <a:rPr lang="en-US" sz="2000" baseline="-25000" dirty="0">
                        <a:latin typeface="Cambria Math" panose="02040503050406030204" pitchFamily="18" charset="0"/>
                      </a:rPr>
                      <m:t>TM</m:t>
                    </m:r>
                  </m:oMath>
                </a14:m>
                <a:r>
                  <a:rPr lang="en-US" sz="2000" dirty="0"/>
                  <a:t>.</a:t>
                </a:r>
              </a:p>
              <a:p>
                <a:r>
                  <a:rPr lang="en-US" sz="2000" b="1" dirty="0"/>
                  <a:t>New Idea</a:t>
                </a:r>
                <a:r>
                  <a:rPr lang="en-US" sz="2000" dirty="0"/>
                  <a:t>: Instead of running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2000" dirty="0"/>
                  <a:t> on </a:t>
                </a:r>
                <a14:m>
                  <m:oMath xmlns:m="http://schemas.openxmlformats.org/officeDocument/2006/math">
                    <m:d>
                      <m:dPr>
                        <m:begChr m:val="〈"/>
                        <m:endChr m:val="〉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</m:d>
                  </m:oMath>
                </a14:m>
                <a:r>
                  <a:rPr lang="en-US" sz="2000" dirty="0"/>
                  <a:t>, run it on a modification of </a:t>
                </a:r>
                <a14:m>
                  <m:oMath xmlns:m="http://schemas.openxmlformats.org/officeDocument/2006/math">
                    <m:d>
                      <m:dPr>
                        <m:begChr m:val="〈"/>
                        <m:endChr m:val="〉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</m:d>
                  </m:oMath>
                </a14:m>
                <a:r>
                  <a:rPr lang="en-US" sz="2000" dirty="0"/>
                  <a:t> that rejects all strings except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endParaRPr lang="en-US" sz="2000" dirty="0"/>
              </a:p>
              <a:p>
                <a:endParaRPr lang="en-US" sz="2000" dirty="0"/>
              </a:p>
              <a:p>
                <a:pPr>
                  <a:spcBef>
                    <a:spcPts val="600"/>
                  </a:spcBef>
                </a:pP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000" dirty="0"/>
                  <a:t> “On input </a:t>
                </a:r>
                <a14:m>
                  <m:oMath xmlns:m="http://schemas.openxmlformats.org/officeDocument/2006/math">
                    <m:d>
                      <m:dPr>
                        <m:begChr m:val="〈"/>
                        <m:endChr m:val="〉"/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</m:oMath>
                </a14:m>
                <a:endParaRPr lang="en-US" sz="2000" dirty="0"/>
              </a:p>
              <a:p>
                <a:r>
                  <a:rPr lang="en-US" sz="2000" dirty="0"/>
                  <a:t>           1.  Transform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000" dirty="0"/>
                  <a:t> to new TM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000" dirty="0"/>
                  <a:t> “On input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000" dirty="0"/>
                  <a:t> </a:t>
                </a:r>
              </a:p>
              <a:p>
                <a:r>
                  <a:rPr lang="en-US" sz="2000" dirty="0"/>
                  <a:t>                                                                            1.  If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≠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sz="2000" dirty="0"/>
                  <a:t>, </a:t>
                </a:r>
                <a:r>
                  <a:rPr lang="en-US" sz="2000" i="1" dirty="0"/>
                  <a:t>reject</a:t>
                </a:r>
                <a:r>
                  <a:rPr lang="en-US" sz="2000" dirty="0"/>
                  <a:t>.</a:t>
                </a:r>
              </a:p>
              <a:p>
                <a:r>
                  <a:rPr lang="en-US" sz="2000" dirty="0"/>
                  <a:t>                                                                            2.  else run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000" dirty="0"/>
                  <a:t> on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endParaRPr lang="en-US" sz="2000" dirty="0"/>
              </a:p>
              <a:p>
                <a:r>
                  <a:rPr lang="en-US" sz="2000" dirty="0"/>
                  <a:t>                                                                            3.  </a:t>
                </a:r>
                <a:r>
                  <a:rPr lang="en-US" sz="2000" i="1" dirty="0"/>
                  <a:t>Accept</a:t>
                </a:r>
                <a:r>
                  <a:rPr lang="en-US" sz="2000" dirty="0"/>
                  <a:t> if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000" dirty="0"/>
                  <a:t> accepts.”</a:t>
                </a:r>
              </a:p>
              <a:p>
                <a:r>
                  <a:rPr lang="en-US" sz="2000" dirty="0"/>
                  <a:t>           2.  Use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2000" dirty="0"/>
                  <a:t> to test whether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000" i="1" dirty="0" err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 err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sz="2000" i="1" dirty="0" err="1" smtClean="0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) =∅</m:t>
                    </m:r>
                  </m:oMath>
                </a14:m>
                <a:endParaRPr lang="en-US" sz="2000" dirty="0"/>
              </a:p>
              <a:p>
                <a:r>
                  <a:rPr lang="en-US" sz="2000" dirty="0"/>
                  <a:t>           3.  If YES [so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000" dirty="0"/>
                  <a:t> rejects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sz="2000" dirty="0"/>
                  <a:t>] then </a:t>
                </a:r>
                <a:r>
                  <a:rPr lang="en-US" sz="2000" i="1" dirty="0"/>
                  <a:t>reject</a:t>
                </a:r>
                <a:r>
                  <a:rPr lang="en-US" sz="2000" dirty="0"/>
                  <a:t>.</a:t>
                </a:r>
                <a:br>
                  <a:rPr lang="en-US" sz="2000" dirty="0"/>
                </a:br>
                <a:r>
                  <a:rPr lang="en-US" sz="2000" dirty="0"/>
                  <a:t>                 If NO [so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000" dirty="0"/>
                  <a:t> accepts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sz="2000" dirty="0"/>
                  <a:t>] then </a:t>
                </a:r>
                <a:r>
                  <a:rPr lang="en-US" sz="2000" i="1" dirty="0"/>
                  <a:t>accept</a:t>
                </a:r>
                <a:r>
                  <a:rPr lang="en-US" sz="2000" dirty="0"/>
                  <a:t>.  </a:t>
                </a: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549" y="817103"/>
                <a:ext cx="8797044" cy="5755422"/>
              </a:xfrm>
              <a:prstGeom prst="rect">
                <a:avLst/>
              </a:prstGeom>
              <a:blipFill>
                <a:blip r:embed="rId4"/>
                <a:stretch>
                  <a:fillRect l="-1154" t="-661" r="-433" b="-220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7787928" y="3990228"/>
                <a:ext cx="4220375" cy="14713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</m:oMath>
                </a14:m>
                <a:r>
                  <a:rPr lang="en-US" sz="2000" dirty="0"/>
                  <a:t> works like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000" dirty="0"/>
                  <a:t> except that it </a:t>
                </a:r>
                <a:br>
                  <a:rPr lang="en-US" sz="2000" dirty="0"/>
                </a:br>
                <a:r>
                  <a:rPr lang="en-US" sz="2000" dirty="0"/>
                  <a:t>always rejects strings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000" dirty="0"/>
                  <a:t> where 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≠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sz="2000" dirty="0"/>
                  <a:t>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000" dirty="0"/>
                  <a:t>So </a:t>
                </a:r>
                <a14:m>
                  <m:oMath xmlns:m="http://schemas.openxmlformats.org/officeDocument/2006/math">
                    <m:r>
                      <a:rPr lang="en-US" sz="2000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 dirty="0" err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dirty="0" err="1"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  <m:sub>
                            <m:r>
                              <a:rPr lang="en-US" sz="2000" i="1" dirty="0" err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sub>
                        </m:sSub>
                      </m:e>
                    </m:d>
                    <m:r>
                      <a:rPr lang="en-US" sz="2000" i="1" dirty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d>
                              <m:dPr>
                                <m:begChr m:val="{"/>
                                <m:endChr m:val="}"/>
                                <m:ctrlPr>
                                  <a:rPr lang="en-US" sz="2000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b="0" i="1" dirty="0" smtClean="0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</m:d>
                            <m:r>
                              <m:rPr>
                                <m:nor/>
                              </m:rPr>
                              <a:rPr lang="en-US" sz="2000" b="0" i="0" dirty="0" smtClean="0">
                                <a:latin typeface="Cambria Math" panose="02040503050406030204" pitchFamily="18" charset="0"/>
                              </a:rPr>
                              <m:t>   </m:t>
                            </m:r>
                            <m:r>
                              <m:rPr>
                                <m:nor/>
                              </m:rPr>
                              <a:rPr lang="en-US" sz="2000" dirty="0"/>
                              <m:t>if</m:t>
                            </m:r>
                            <m:r>
                              <m:rPr>
                                <m:nor/>
                              </m:rPr>
                              <a:rPr lang="en-US" sz="2000" b="0" i="0" dirty="0" smtClean="0"/>
                              <m:t> </m:t>
                            </m:r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𝑀</m:t>
                            </m:r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sz="2000" b="0" i="0" dirty="0" smtClean="0">
                                <a:latin typeface="Cambria Math" panose="02040503050406030204" pitchFamily="18" charset="0"/>
                              </a:rPr>
                              <m:t>accepts</m:t>
                            </m:r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e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 ∅      </m:t>
                            </m:r>
                            <m:r>
                              <m:rPr>
                                <m:nor/>
                              </m:rPr>
                              <a:rPr lang="en-US" sz="2000" dirty="0"/>
                              <m:t>if</m:t>
                            </m:r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𝑀</m:t>
                            </m:r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sz="2000" b="0" i="0" dirty="0" smtClean="0">
                                <a:latin typeface="Cambria Math" panose="02040503050406030204" pitchFamily="18" charset="0"/>
                              </a:rPr>
                              <m:t>rejects</m:t>
                            </m:r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</m:eqArr>
                      </m:e>
                    </m:d>
                  </m:oMath>
                </a14:m>
                <a:endParaRPr lang="en-US" sz="2000" b="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87928" y="3990228"/>
                <a:ext cx="4220375" cy="1471365"/>
              </a:xfrm>
              <a:prstGeom prst="rect">
                <a:avLst/>
              </a:prstGeom>
              <a:blipFill>
                <a:blip r:embed="rId5"/>
                <a:stretch>
                  <a:fillRect l="-1502" t="-57265" b="-148718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982CF769-AA94-2E41-83A7-9479A34F1E89}"/>
              </a:ext>
            </a:extLst>
          </p:cNvPr>
          <p:cNvSpPr txBox="1"/>
          <p:nvPr/>
        </p:nvSpPr>
        <p:spPr>
          <a:xfrm>
            <a:off x="5763491" y="648392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7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11AAD37-89A5-951D-0A9E-1311E63BB805}"/>
                  </a:ext>
                </a:extLst>
              </p:cNvPr>
              <p:cNvSpPr txBox="1"/>
              <p:nvPr/>
            </p:nvSpPr>
            <p:spPr>
              <a:xfrm>
                <a:off x="7273451" y="5745263"/>
                <a:ext cx="4572000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CN" dirty="0"/>
                  <a:t>If R was a decider for </a:t>
                </a:r>
                <a14:m>
                  <m:oMath xmlns:m="http://schemas.openxmlformats.org/officeDocument/2006/math">
                    <m:r>
                      <a:rPr lang="en-US" sz="1800" b="0" i="1" dirty="0" smtClean="0"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nor/>
                      </m:rPr>
                      <a:rPr lang="en-US" sz="1800" baseline="-25000" dirty="0">
                        <a:latin typeface="Cambria Math" panose="02040503050406030204" pitchFamily="18" charset="0"/>
                      </a:rPr>
                      <m:t>TM</m:t>
                    </m:r>
                  </m:oMath>
                </a14:m>
                <a:r>
                  <a:rPr lang="en-CN" dirty="0"/>
                  <a:t> then S would be a decider for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nor/>
                      </m:rPr>
                      <a:rPr lang="en-US" baseline="-25000" dirty="0">
                        <a:latin typeface="Cambria Math" panose="02040503050406030204" pitchFamily="18" charset="0"/>
                      </a:rPr>
                      <m:t>TM</m:t>
                    </m:r>
                  </m:oMath>
                </a14:m>
                <a:r>
                  <a:rPr lang="en-CN" dirty="0"/>
                  <a:t>: </a:t>
                </a:r>
                <a:r>
                  <a:rPr lang="en-CN" b="1" dirty="0"/>
                  <a:t>Contradiction!</a:t>
                </a:r>
                <a:r>
                  <a:rPr lang="en-CN" dirty="0"/>
                  <a:t> So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nor/>
                      </m:rPr>
                      <a:rPr lang="en-US" baseline="-25000" dirty="0">
                        <a:latin typeface="Cambria Math" panose="02040503050406030204" pitchFamily="18" charset="0"/>
                      </a:rPr>
                      <m:t>TM</m:t>
                    </m:r>
                  </m:oMath>
                </a14:m>
                <a:r>
                  <a:rPr lang="en-CN" dirty="0"/>
                  <a:t> must be undecidable!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11AAD37-89A5-951D-0A9E-1311E63BB8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3451" y="5745263"/>
                <a:ext cx="4572000" cy="923330"/>
              </a:xfrm>
              <a:prstGeom prst="rect">
                <a:avLst/>
              </a:prstGeom>
              <a:blipFill>
                <a:blip r:embed="rId6"/>
                <a:stretch>
                  <a:fillRect l="-1108" t="-2703" b="-9459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545316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2" y="0"/>
                <a:ext cx="8446926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sz="4000" b="0" i="1" dirty="0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GB" sz="4000" b="0" i="1" dirty="0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nor/>
                      </m:rPr>
                      <a:rPr lang="en-US" sz="4000" baseline="-2500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TM</m:t>
                    </m:r>
                  </m:oMath>
                </a14:m>
                <a:r>
                  <a:rPr lang="en-US" sz="40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 is undecidable</a:t>
                </a: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" y="0"/>
                <a:ext cx="8446926" cy="707886"/>
              </a:xfrm>
              <a:prstGeom prst="rect">
                <a:avLst/>
              </a:prstGeom>
              <a:blipFill>
                <a:blip r:embed="rId3"/>
                <a:stretch>
                  <a:fillRect t="-14286" b="-37500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336158" y="707886"/>
                <a:ext cx="8797044" cy="48320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600"/>
                  </a:spcBef>
                </a:pPr>
                <a:r>
                  <a:rPr lang="en-US" sz="24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Let 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GB" sz="2400" b="0" i="1" dirty="0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nor/>
                      </m:rPr>
                      <a:rPr lang="en-US" sz="2400" b="0" i="0" baseline="-25000" dirty="0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TM</m:t>
                    </m:r>
                    <m:r>
                      <m:rPr>
                        <m:nor/>
                      </m:rPr>
                      <a:rPr lang="en-US" sz="2400" baseline="-2500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|"/>
                        <m:ctrlPr>
                          <a:rPr lang="en-US" sz="2400" i="1" dirty="0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〈"/>
                            <m:endChr m:val="〉"/>
                            <m:ctrlPr>
                              <a:rPr lang="en-US" sz="2400" i="1">
                                <a:solidFill>
                                  <a:schemeClr val="accent1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400" i="1" smtClean="0">
                                    <a:solidFill>
                                      <a:schemeClr val="accent1">
                                        <a:lumMod val="60000"/>
                                        <a:lumOff val="4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2400" b="0" i="1" smtClean="0">
                                    <a:solidFill>
                                      <a:schemeClr val="accent1">
                                        <a:lumMod val="60000"/>
                                        <a:lumOff val="4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</m:e>
                              <m:sub>
                                <m:r>
                                  <a:rPr lang="en-GB" sz="2400" b="0" i="1" smtClean="0">
                                    <a:solidFill>
                                      <a:schemeClr val="accent1">
                                        <a:lumMod val="60000"/>
                                        <a:lumOff val="4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GB" sz="2400" b="0" i="1" smtClean="0">
                                <a:solidFill>
                                  <a:schemeClr val="accent1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GB" sz="2400" b="0" i="1" smtClean="0">
                                    <a:solidFill>
                                      <a:schemeClr val="accent1">
                                        <a:lumMod val="60000"/>
                                        <a:lumOff val="4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2400" b="0" i="1" smtClean="0">
                                    <a:solidFill>
                                      <a:schemeClr val="accent1">
                                        <a:lumMod val="60000"/>
                                        <a:lumOff val="4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</m:e>
                              <m:sub>
                                <m:r>
                                  <a:rPr lang="en-GB" sz="2400" b="0" i="1" smtClean="0">
                                    <a:solidFill>
                                      <a:schemeClr val="accent1">
                                        <a:lumMod val="60000"/>
                                        <a:lumOff val="4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</m:e>
                    </m:d>
                    <m:sSub>
                      <m:sSubPr>
                        <m:ctrlPr>
                          <a:rPr lang="en-US" sz="2400" i="1" smtClean="0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b="0" i="1" smtClean="0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GB" sz="2400" b="0" i="1" smtClean="0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sz="2400" b="0" i="1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GB" sz="2400" b="0" i="1" smtClean="0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b="0" i="1" smtClean="0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GB" sz="2400" b="0" i="1" smtClean="0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 are TMs and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sz="2400" i="1" dirty="0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 dirty="0" smtClean="0">
                                <a:solidFill>
                                  <a:schemeClr val="accent1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400" b="0" i="1" dirty="0" smtClean="0">
                                <a:solidFill>
                                  <a:schemeClr val="accent1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  <m:sub>
                            <m:r>
                              <a:rPr lang="en-GB" sz="2400" b="0" i="1" dirty="0" smtClean="0">
                                <a:solidFill>
                                  <a:schemeClr val="accent1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sz="2400" i="1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2400" b="0" i="1" dirty="0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GB" sz="2400" b="0" i="1" dirty="0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GB" sz="2400" b="0" i="1" dirty="0" smtClean="0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b="0" i="1" dirty="0" smtClean="0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GB" sz="2400" b="0" i="1" dirty="0" smtClean="0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sz="2400" b="0" i="1" dirty="0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sz="2400" i="1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 }</m:t>
                    </m:r>
                  </m:oMath>
                </a14:m>
                <a:endParaRPr lang="en-US" sz="2400" dirty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  <a:p>
                <a:pPr>
                  <a:spcBef>
                    <a:spcPts val="600"/>
                  </a:spcBef>
                </a:pPr>
                <a:r>
                  <a:rPr lang="en-US" sz="2400" b="1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Theorem: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GB" sz="2400" b="0" i="1" dirty="0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nor/>
                      </m:rPr>
                      <a:rPr lang="en-US" sz="2400" baseline="-2500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TM</m:t>
                    </m:r>
                    <m:r>
                      <m:rPr>
                        <m:nor/>
                      </m:rPr>
                      <a:rPr lang="en-US" sz="2400" baseline="-2500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 is undecidable</a:t>
                </a:r>
              </a:p>
              <a:p>
                <a:r>
                  <a:rPr lang="en-US" sz="2000" dirty="0"/>
                  <a:t>Proof by contradiction.  Show that </a:t>
                </a:r>
                <a14:m>
                  <m:oMath xmlns:m="http://schemas.openxmlformats.org/officeDocument/2006/math">
                    <m:r>
                      <a:rPr lang="en-GB" sz="2000" b="0" i="1" dirty="0" smtClean="0"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nor/>
                      </m:rPr>
                      <a:rPr lang="en-US" sz="2000" baseline="-25000" dirty="0">
                        <a:latin typeface="Cambria Math" panose="02040503050406030204" pitchFamily="18" charset="0"/>
                      </a:rPr>
                      <m:t>TM</m:t>
                    </m:r>
                  </m:oMath>
                </a14:m>
                <a:r>
                  <a:rPr lang="en-US" sz="2000" dirty="0"/>
                  <a:t> is reducible to 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GB" sz="2000" b="0" i="1" dirty="0" smtClean="0"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nor/>
                      </m:rPr>
                      <a:rPr lang="en-US" sz="2000" baseline="-25000" dirty="0">
                        <a:latin typeface="Cambria Math" panose="02040503050406030204" pitchFamily="18" charset="0"/>
                      </a:rPr>
                      <m:t>TM</m:t>
                    </m:r>
                  </m:oMath>
                </a14:m>
                <a:r>
                  <a:rPr lang="en-US" sz="2000" dirty="0"/>
                  <a:t>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000" dirty="0"/>
                  <a:t>Assume that 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GB" sz="2000" b="0" i="1" dirty="0" smtClean="0"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nor/>
                      </m:rPr>
                      <a:rPr lang="en-US" sz="2000" baseline="-25000" dirty="0">
                        <a:latin typeface="Cambria Math" panose="02040503050406030204" pitchFamily="18" charset="0"/>
                      </a:rPr>
                      <m:t>TM</m:t>
                    </m:r>
                  </m:oMath>
                </a14:m>
                <a:r>
                  <a:rPr lang="en-US" sz="2000" dirty="0"/>
                  <a:t> is decidable and show that </a:t>
                </a:r>
                <a14:m>
                  <m:oMath xmlns:m="http://schemas.openxmlformats.org/officeDocument/2006/math">
                    <m:r>
                      <a:rPr lang="en-GB" sz="2000" b="0" i="1" dirty="0" smtClean="0"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nor/>
                      </m:rPr>
                      <a:rPr lang="en-US" sz="2000" baseline="-25000" dirty="0">
                        <a:latin typeface="Cambria Math" panose="02040503050406030204" pitchFamily="18" charset="0"/>
                      </a:rPr>
                      <m:t>TM</m:t>
                    </m:r>
                  </m:oMath>
                </a14:m>
                <a:r>
                  <a:rPr lang="en-US" sz="2000" dirty="0"/>
                  <a:t> is decidable (false!).</a:t>
                </a:r>
              </a:p>
              <a:p>
                <a:r>
                  <a:rPr lang="en-US" sz="2000" dirty="0"/>
                  <a:t>Let TM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2000" dirty="0"/>
                  <a:t> decide 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nor/>
                      </m:rPr>
                      <a:rPr lang="en-GB" sz="2000" b="0" i="0" dirty="0" smtClean="0">
                        <a:latin typeface="Cambria Math" panose="02040503050406030204" pitchFamily="18" charset="0"/>
                      </a:rPr>
                      <m:t>Q</m:t>
                    </m:r>
                    <m:r>
                      <m:rPr>
                        <m:nor/>
                      </m:rPr>
                      <a:rPr lang="en-US" sz="2000" baseline="-25000" dirty="0">
                        <a:latin typeface="Cambria Math" panose="02040503050406030204" pitchFamily="18" charset="0"/>
                      </a:rPr>
                      <m:t>TM</m:t>
                    </m:r>
                  </m:oMath>
                </a14:m>
                <a:r>
                  <a:rPr lang="en-US" sz="2000" dirty="0"/>
                  <a:t>.</a:t>
                </a:r>
              </a:p>
              <a:p>
                <a:pPr>
                  <a:spcAft>
                    <a:spcPts val="600"/>
                  </a:spcAft>
                </a:pPr>
                <a:r>
                  <a:rPr lang="en-US" sz="2000" dirty="0"/>
                  <a:t>Construct TM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sz="2000" dirty="0"/>
                  <a:t> deciding </a:t>
                </a:r>
                <a14:m>
                  <m:oMath xmlns:m="http://schemas.openxmlformats.org/officeDocument/2006/math">
                    <m:r>
                      <a:rPr lang="en-GB" sz="2000" b="0" i="1" dirty="0" smtClean="0"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nor/>
                      </m:rPr>
                      <a:rPr lang="en-US" sz="2000" baseline="-25000" dirty="0">
                        <a:latin typeface="Cambria Math" panose="02040503050406030204" pitchFamily="18" charset="0"/>
                      </a:rPr>
                      <m:t>TM</m:t>
                    </m:r>
                  </m:oMath>
                </a14:m>
                <a:r>
                  <a:rPr lang="en-US" sz="2000" dirty="0"/>
                  <a:t>.</a:t>
                </a:r>
              </a:p>
              <a:p>
                <a:r>
                  <a:rPr lang="en-US" sz="2000" b="1" dirty="0"/>
                  <a:t>Idea</a:t>
                </a:r>
                <a:r>
                  <a:rPr lang="en-US" sz="2000" dirty="0"/>
                  <a:t>: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 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, happen to be empty, then the problem becomes that of determining whether the language recognized by the other machine is also empty (The </a:t>
                </a:r>
                <a14:m>
                  <m:oMath xmlns:m="http://schemas.openxmlformats.org/officeDocument/2006/math">
                    <m:r>
                      <a:rPr lang="en-GB" sz="2000" i="1" dirty="0"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nor/>
                      </m:rPr>
                      <a:rPr lang="en-US" sz="2000" baseline="-25000" dirty="0">
                        <a:latin typeface="Cambria Math" panose="02040503050406030204" pitchFamily="18" charset="0"/>
                      </a:rPr>
                      <m:t>TM</m:t>
                    </m:r>
                  </m:oMath>
                </a14:m>
                <a:r>
                  <a:rPr lang="en-US" sz="2000" dirty="0"/>
                  <a:t> problem!) -&gt; </a:t>
                </a:r>
                <a14:m>
                  <m:oMath xmlns:m="http://schemas.openxmlformats.org/officeDocument/2006/math">
                    <m:r>
                      <a:rPr lang="en-GB" sz="2000" i="1" dirty="0"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nor/>
                      </m:rPr>
                      <a:rPr lang="en-US" sz="2000" baseline="-25000" dirty="0">
                        <a:latin typeface="Cambria Math" panose="02040503050406030204" pitchFamily="18" charset="0"/>
                      </a:rPr>
                      <m:t>TM</m:t>
                    </m:r>
                  </m:oMath>
                </a14:m>
                <a:r>
                  <a:rPr lang="en-US" sz="2000" dirty="0"/>
                  <a:t> is a special case of </a:t>
                </a:r>
                <a14:m>
                  <m:oMath xmlns:m="http://schemas.openxmlformats.org/officeDocument/2006/math">
                    <m:r>
                      <a:rPr lang="en-GB" sz="2000" i="1" dirty="0"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nor/>
                      </m:rPr>
                      <a:rPr lang="en-GB" sz="2000" b="0" i="0" dirty="0" smtClean="0">
                        <a:latin typeface="Cambria Math" panose="02040503050406030204" pitchFamily="18" charset="0"/>
                      </a:rPr>
                      <m:t>Q</m:t>
                    </m:r>
                    <m:r>
                      <m:rPr>
                        <m:nor/>
                      </m:rPr>
                      <a:rPr lang="en-US" sz="2000" baseline="-25000" dirty="0">
                        <a:latin typeface="Cambria Math" panose="02040503050406030204" pitchFamily="18" charset="0"/>
                      </a:rPr>
                      <m:t>TM</m:t>
                    </m:r>
                  </m:oMath>
                </a14:m>
                <a:r>
                  <a:rPr lang="en-US" sz="2000" dirty="0"/>
                  <a:t>!</a:t>
                </a:r>
              </a:p>
              <a:p>
                <a:endParaRPr lang="en-US" sz="2000" dirty="0"/>
              </a:p>
              <a:p>
                <a:pPr>
                  <a:spcBef>
                    <a:spcPts val="600"/>
                  </a:spcBef>
                </a:pP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000" dirty="0"/>
                  <a:t> “On input </a:t>
                </a:r>
                <a14:m>
                  <m:oMath xmlns:m="http://schemas.openxmlformats.org/officeDocument/2006/math">
                    <m:d>
                      <m:dPr>
                        <m:begChr m:val="〈"/>
                        <m:endChr m:val="〉"/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</m:d>
                  </m:oMath>
                </a14:m>
                <a:endParaRPr lang="en-US" sz="2000" dirty="0"/>
              </a:p>
              <a:p>
                <a:r>
                  <a:rPr lang="en-US" sz="2000" dirty="0"/>
                  <a:t>           1.  Run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2000" dirty="0"/>
                  <a:t> on </a:t>
                </a:r>
                <a14:m>
                  <m:oMath xmlns:m="http://schemas.openxmlformats.org/officeDocument/2006/math">
                    <m:d>
                      <m:dPr>
                        <m:begChr m:val="〈"/>
                        <m:endChr m:val="〉"/>
                        <m:ctrlPr>
                          <a:rPr lang="en-US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GB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GB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  <m:sub>
                            <m:r>
                              <a:rPr lang="en-GB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000" dirty="0"/>
                  <a:t>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000" dirty="0"/>
                  <a:t> is a TM that rejects all inputs</a:t>
                </a:r>
              </a:p>
              <a:p>
                <a:r>
                  <a:rPr lang="en-US" sz="2000" dirty="0"/>
                  <a:t>           3.  If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2000" dirty="0"/>
                  <a:t> accepts, then </a:t>
                </a:r>
                <a:r>
                  <a:rPr lang="en-US" sz="2000" i="1" dirty="0"/>
                  <a:t>accept</a:t>
                </a:r>
                <a:r>
                  <a:rPr lang="en-US" sz="2000" dirty="0"/>
                  <a:t>.</a:t>
                </a:r>
                <a:br>
                  <a:rPr lang="en-US" sz="2000" dirty="0"/>
                </a:br>
                <a:r>
                  <a:rPr lang="en-US" sz="2000" dirty="0"/>
                  <a:t>                 If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2000" dirty="0"/>
                  <a:t> rejects, then </a:t>
                </a:r>
                <a:r>
                  <a:rPr lang="en-US" sz="2000" i="1" dirty="0"/>
                  <a:t>reject</a:t>
                </a:r>
                <a:r>
                  <a:rPr lang="en-US" sz="2000" dirty="0"/>
                  <a:t>.  </a:t>
                </a: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6158" y="707886"/>
                <a:ext cx="8797044" cy="4832092"/>
              </a:xfrm>
              <a:prstGeom prst="rect">
                <a:avLst/>
              </a:prstGeom>
              <a:blipFill>
                <a:blip r:embed="rId4"/>
                <a:stretch>
                  <a:fillRect l="-1153" t="-785" b="-104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982CF769-AA94-2E41-83A7-9479A34F1E89}"/>
              </a:ext>
            </a:extLst>
          </p:cNvPr>
          <p:cNvSpPr txBox="1"/>
          <p:nvPr/>
        </p:nvSpPr>
        <p:spPr>
          <a:xfrm>
            <a:off x="5763491" y="648392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8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11AAD37-89A5-951D-0A9E-1311E63BB805}"/>
                  </a:ext>
                </a:extLst>
              </p:cNvPr>
              <p:cNvSpPr txBox="1"/>
              <p:nvPr/>
            </p:nvSpPr>
            <p:spPr>
              <a:xfrm>
                <a:off x="519360" y="5837596"/>
                <a:ext cx="8797043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CN" dirty="0"/>
                  <a:t>If R was a decider for </a:t>
                </a:r>
                <a14:m>
                  <m:oMath xmlns:m="http://schemas.openxmlformats.org/officeDocument/2006/math">
                    <m:r>
                      <a:rPr lang="en-US" sz="1800" b="0" i="1" dirty="0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GB" sz="1800" b="0" i="1" dirty="0" smtClean="0"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nor/>
                      </m:rPr>
                      <a:rPr lang="en-US" sz="1800" baseline="-25000" dirty="0">
                        <a:latin typeface="Cambria Math" panose="02040503050406030204" pitchFamily="18" charset="0"/>
                      </a:rPr>
                      <m:t>TM</m:t>
                    </m:r>
                  </m:oMath>
                </a14:m>
                <a:r>
                  <a:rPr lang="en-CN" dirty="0"/>
                  <a:t> then S would be a decider for </a:t>
                </a:r>
                <a14:m>
                  <m:oMath xmlns:m="http://schemas.openxmlformats.org/officeDocument/2006/math"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nor/>
                      </m:rPr>
                      <a:rPr lang="en-US" baseline="-25000" dirty="0">
                        <a:latin typeface="Cambria Math" panose="02040503050406030204" pitchFamily="18" charset="0"/>
                      </a:rPr>
                      <m:t>TM</m:t>
                    </m:r>
                  </m:oMath>
                </a14:m>
                <a:r>
                  <a:rPr lang="en-CN" dirty="0"/>
                  <a:t>: </a:t>
                </a:r>
                <a:r>
                  <a:rPr lang="en-CN" b="1" dirty="0"/>
                  <a:t>Contradiction!</a:t>
                </a:r>
                <a:r>
                  <a:rPr lang="en-CN" dirty="0"/>
                  <a:t> So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nor/>
                      </m:rPr>
                      <a:rPr lang="en-US" baseline="-25000" dirty="0">
                        <a:latin typeface="Cambria Math" panose="02040503050406030204" pitchFamily="18" charset="0"/>
                      </a:rPr>
                      <m:t>TM</m:t>
                    </m:r>
                  </m:oMath>
                </a14:m>
                <a:r>
                  <a:rPr lang="en-CN" dirty="0"/>
                  <a:t> must be undecidable!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11AAD37-89A5-951D-0A9E-1311E63BB8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360" y="5837596"/>
                <a:ext cx="8797043" cy="646331"/>
              </a:xfrm>
              <a:prstGeom prst="rect">
                <a:avLst/>
              </a:prstGeom>
              <a:blipFill>
                <a:blip r:embed="rId5"/>
                <a:stretch>
                  <a:fillRect l="-576" t="-3846" r="-288" b="-13462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029536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11AAD37-89A5-951D-0A9E-1311E63BB805}"/>
                  </a:ext>
                </a:extLst>
              </p:cNvPr>
              <p:cNvSpPr txBox="1"/>
              <p:nvPr/>
            </p:nvSpPr>
            <p:spPr>
              <a:xfrm>
                <a:off x="477797" y="6150114"/>
                <a:ext cx="8797043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CN" dirty="0"/>
                  <a:t>If R was a decider for </a:t>
                </a:r>
                <a14:m>
                  <m:oMath xmlns:m="http://schemas.openxmlformats.org/officeDocument/2006/math">
                    <m:r>
                      <a:rPr lang="en-GB" sz="1800" b="0" i="1" dirty="0" smtClean="0">
                        <a:latin typeface="Cambria Math" panose="02040503050406030204" pitchFamily="18" charset="0"/>
                      </a:rPr>
                      <m:t>𝑅𝐸𝐺𝑈𝐿𝐴𝑅</m:t>
                    </m:r>
                    <m:r>
                      <m:rPr>
                        <m:nor/>
                      </m:rPr>
                      <a:rPr lang="en-US" sz="1800" baseline="-25000" dirty="0">
                        <a:latin typeface="Cambria Math" panose="02040503050406030204" pitchFamily="18" charset="0"/>
                      </a:rPr>
                      <m:t>TM</m:t>
                    </m:r>
                  </m:oMath>
                </a14:m>
                <a:r>
                  <a:rPr lang="en-CN" dirty="0"/>
                  <a:t> then </a:t>
                </a:r>
                <a14:m>
                  <m:oMath xmlns:m="http://schemas.openxmlformats.org/officeDocument/2006/math">
                    <m:r>
                      <a:rPr lang="en-CN" i="1" dirty="0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CN" dirty="0"/>
                  <a:t> would be a decider for A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aseline="-25000" dirty="0">
                        <a:latin typeface="Cambria Math" panose="02040503050406030204" pitchFamily="18" charset="0"/>
                      </a:rPr>
                      <m:t>TM</m:t>
                    </m:r>
                  </m:oMath>
                </a14:m>
                <a:r>
                  <a:rPr lang="en-CN" dirty="0"/>
                  <a:t>: </a:t>
                </a:r>
                <a:r>
                  <a:rPr lang="en-CN" b="1" dirty="0"/>
                  <a:t>Contradiction!</a:t>
                </a:r>
                <a:r>
                  <a:rPr lang="en-CN" dirty="0"/>
                  <a:t> So </a:t>
                </a:r>
                <a14:m>
                  <m:oMath xmlns:m="http://schemas.openxmlformats.org/officeDocument/2006/math">
                    <m:r>
                      <a:rPr lang="en-GB" i="1" dirty="0">
                        <a:latin typeface="Cambria Math" panose="02040503050406030204" pitchFamily="18" charset="0"/>
                      </a:rPr>
                      <m:t>𝑅𝐸𝐺𝑈𝐿𝐴𝑅</m:t>
                    </m:r>
                    <m:r>
                      <m:rPr>
                        <m:nor/>
                      </m:rPr>
                      <a:rPr lang="en-US" baseline="-25000" dirty="0">
                        <a:latin typeface="Cambria Math" panose="02040503050406030204" pitchFamily="18" charset="0"/>
                      </a:rPr>
                      <m:t>TM</m:t>
                    </m:r>
                    <m:r>
                      <a:rPr lang="en-US" i="1" baseline="-25000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CN" dirty="0"/>
                  <a:t> must be undecidable!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11AAD37-89A5-951D-0A9E-1311E63BB8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7797" y="6150114"/>
                <a:ext cx="8797043" cy="646331"/>
              </a:xfrm>
              <a:prstGeom prst="rect">
                <a:avLst/>
              </a:prstGeom>
              <a:blipFill>
                <a:blip r:embed="rId3"/>
                <a:stretch>
                  <a:fillRect l="-576" t="-5769" b="-13462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2" y="0"/>
                <a:ext cx="8446926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4000" b="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Is </a:t>
                </a:r>
                <a14:m>
                  <m:oMath xmlns:m="http://schemas.openxmlformats.org/officeDocument/2006/math">
                    <m:r>
                      <a:rPr lang="en-GB" sz="4000" b="0" i="1" dirty="0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4000" b="0" i="1" dirty="0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GB" sz="4000" b="0" i="1" dirty="0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𝐺𝑈𝐿𝐴𝑅</m:t>
                    </m:r>
                    <m:r>
                      <m:rPr>
                        <m:nor/>
                      </m:rPr>
                      <a:rPr lang="en-US" sz="4000" baseline="-2500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TM</m:t>
                    </m:r>
                  </m:oMath>
                </a14:m>
                <a:r>
                  <a:rPr lang="en-US" sz="40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 decidable?</a:t>
                </a: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" y="0"/>
                <a:ext cx="8446926" cy="707886"/>
              </a:xfrm>
              <a:prstGeom prst="rect">
                <a:avLst/>
              </a:prstGeom>
              <a:blipFill>
                <a:blip r:embed="rId4"/>
                <a:stretch>
                  <a:fillRect t="-14286" b="-37500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336158" y="707886"/>
                <a:ext cx="9254652" cy="54322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600"/>
                  </a:spcBef>
                </a:pPr>
                <a:r>
                  <a:rPr lang="en-US" sz="2400" dirty="0"/>
                  <a:t>The problem of determining whether a TM </a:t>
                </a:r>
                <a:r>
                  <a:rPr lang="en-US" sz="2400" dirty="0" err="1"/>
                  <a:t>recognises</a:t>
                </a:r>
                <a:r>
                  <a:rPr lang="en-US" sz="2400" dirty="0"/>
                  <a:t> a regular language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4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Let  </a:t>
                </a:r>
                <a14:m>
                  <m:oMath xmlns:m="http://schemas.openxmlformats.org/officeDocument/2006/math">
                    <m:r>
                      <a:rPr lang="en-GB" sz="2400" b="0" i="1" dirty="0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𝑅𝐸𝐺𝑈𝐿𝐴𝑅</m:t>
                    </m:r>
                    <m:r>
                      <m:rPr>
                        <m:nor/>
                      </m:rPr>
                      <a:rPr lang="en-US" sz="2400" b="0" i="0" baseline="-25000" dirty="0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TM</m:t>
                    </m:r>
                    <m:r>
                      <m:rPr>
                        <m:nor/>
                      </m:rPr>
                      <a:rPr lang="en-US" sz="2400" baseline="-2500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|"/>
                        <m:ctrlPr>
                          <a:rPr lang="en-US" sz="2400" i="1" dirty="0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〈"/>
                            <m:endChr m:val="〉"/>
                            <m:ctrlPr>
                              <a:rPr lang="en-US" sz="2400" i="1">
                                <a:solidFill>
                                  <a:schemeClr val="accent1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2400" i="1" smtClean="0">
                                <a:solidFill>
                                  <a:schemeClr val="accent1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𝑀</m:t>
                            </m:r>
                            <m:r>
                              <a:rPr lang="en-GB" sz="2400" b="0" i="1" smtClean="0">
                                <a:solidFill>
                                  <a:schemeClr val="accent1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d>
                      </m:e>
                    </m:d>
                    <m:r>
                      <a:rPr lang="en-GB" sz="2400" i="1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4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 is a TM and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sz="2400" i="1" dirty="0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400" i="1" dirty="0" smtClean="0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</m:d>
                  </m:oMath>
                </a14:m>
                <a:r>
                  <a:rPr lang="en-US" sz="24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 is regular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sz="2400" dirty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  <a:p>
                <a:pPr>
                  <a:spcBef>
                    <a:spcPts val="600"/>
                  </a:spcBef>
                </a:pPr>
                <a:r>
                  <a:rPr lang="en-US" sz="2400" b="1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Theorem: </a:t>
                </a:r>
                <a14:m>
                  <m:oMath xmlns:m="http://schemas.openxmlformats.org/officeDocument/2006/math">
                    <m:r>
                      <a:rPr lang="en-GB" sz="2400" b="0" i="1" dirty="0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𝑅𝐸𝐺𝑈𝐿𝐴𝑅</m:t>
                    </m:r>
                    <m:r>
                      <m:rPr>
                        <m:nor/>
                      </m:rPr>
                      <a:rPr lang="en-US" sz="2400" baseline="-2500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TM</m:t>
                    </m:r>
                    <m:r>
                      <m:rPr>
                        <m:nor/>
                      </m:rPr>
                      <a:rPr lang="en-US" sz="2400" baseline="-2500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 is undecidable</a:t>
                </a:r>
              </a:p>
              <a:p>
                <a:r>
                  <a:rPr lang="en-US" sz="2000" b="1" dirty="0"/>
                  <a:t>Proof</a:t>
                </a:r>
                <a:r>
                  <a:rPr lang="en-US" sz="2000" dirty="0"/>
                  <a:t> by contradiction.  Show that </a:t>
                </a:r>
                <a14:m>
                  <m:oMath xmlns:m="http://schemas.openxmlformats.org/officeDocument/2006/math">
                    <m:r>
                      <a:rPr lang="en-GB" sz="2000" b="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nor/>
                      </m:rPr>
                      <a:rPr lang="en-US" sz="2000" baseline="-25000" dirty="0">
                        <a:latin typeface="Cambria Math" panose="02040503050406030204" pitchFamily="18" charset="0"/>
                      </a:rPr>
                      <m:t>TM</m:t>
                    </m:r>
                  </m:oMath>
                </a14:m>
                <a:r>
                  <a:rPr lang="en-US" sz="2000" dirty="0"/>
                  <a:t> is reducible to </a:t>
                </a:r>
                <a14:m>
                  <m:oMath xmlns:m="http://schemas.openxmlformats.org/officeDocument/2006/math">
                    <m:r>
                      <a:rPr lang="en-GB" sz="2000" b="0" i="1" dirty="0" smtClean="0">
                        <a:latin typeface="Cambria Math" panose="02040503050406030204" pitchFamily="18" charset="0"/>
                      </a:rPr>
                      <m:t>𝑅𝐸𝐺𝑈𝐿𝐴𝑅</m:t>
                    </m:r>
                    <m:r>
                      <m:rPr>
                        <m:nor/>
                      </m:rPr>
                      <a:rPr lang="en-US" sz="2000" baseline="-25000" dirty="0">
                        <a:latin typeface="Cambria Math" panose="02040503050406030204" pitchFamily="18" charset="0"/>
                      </a:rPr>
                      <m:t>TM</m:t>
                    </m:r>
                  </m:oMath>
                </a14:m>
                <a:r>
                  <a:rPr lang="en-US" sz="2000" dirty="0"/>
                  <a:t>.</a:t>
                </a:r>
              </a:p>
              <a:p>
                <a:pPr>
                  <a:spcAft>
                    <a:spcPts val="600"/>
                  </a:spcAft>
                </a:pPr>
                <a:r>
                  <a:rPr lang="en-US" sz="2000" dirty="0"/>
                  <a:t>Assume that </a:t>
                </a:r>
                <a14:m>
                  <m:oMath xmlns:m="http://schemas.openxmlformats.org/officeDocument/2006/math">
                    <m:r>
                      <a:rPr lang="en-GB" sz="2000" b="0" i="1" dirty="0" smtClean="0">
                        <a:latin typeface="Cambria Math" panose="02040503050406030204" pitchFamily="18" charset="0"/>
                      </a:rPr>
                      <m:t>𝑅𝐸𝐺𝑈𝐿𝐴𝑅</m:t>
                    </m:r>
                    <m:r>
                      <m:rPr>
                        <m:nor/>
                      </m:rPr>
                      <a:rPr lang="en-US" sz="2000" baseline="-25000" dirty="0">
                        <a:latin typeface="Cambria Math" panose="02040503050406030204" pitchFamily="18" charset="0"/>
                      </a:rPr>
                      <m:t>TM</m:t>
                    </m:r>
                  </m:oMath>
                </a14:m>
                <a:r>
                  <a:rPr lang="en-US" sz="2000" dirty="0"/>
                  <a:t> is decidable and show that </a:t>
                </a:r>
                <a14:m>
                  <m:oMath xmlns:m="http://schemas.openxmlformats.org/officeDocument/2006/math">
                    <m:r>
                      <a:rPr lang="en-GB" sz="2000" b="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nor/>
                      </m:rPr>
                      <a:rPr lang="en-US" sz="2000" baseline="-25000" dirty="0">
                        <a:latin typeface="Cambria Math" panose="02040503050406030204" pitchFamily="18" charset="0"/>
                      </a:rPr>
                      <m:t>TM</m:t>
                    </m:r>
                  </m:oMath>
                </a14:m>
                <a:r>
                  <a:rPr lang="en-US" sz="2000" dirty="0"/>
                  <a:t> is decidable (false!).</a:t>
                </a:r>
              </a:p>
              <a:p>
                <a:r>
                  <a:rPr lang="en-US" sz="2000" b="1" dirty="0"/>
                  <a:t>Idea: </a:t>
                </a:r>
                <a:r>
                  <a:rPr lang="en-US" sz="2000" dirty="0"/>
                  <a:t>Modify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000" dirty="0"/>
                  <a:t> so that it recognizes a regular language </a:t>
                </a:r>
                <a:r>
                  <a:rPr lang="en-US" sz="2000" u="sng" dirty="0"/>
                  <a:t>if and only if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000" dirty="0"/>
                  <a:t> accepts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endParaRPr lang="en-US" sz="2000" dirty="0"/>
              </a:p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US" sz="2000" dirty="0"/>
                  <a:t>Let TM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2000" dirty="0"/>
                  <a:t> decide </a:t>
                </a:r>
                <a14:m>
                  <m:oMath xmlns:m="http://schemas.openxmlformats.org/officeDocument/2006/math">
                    <m:r>
                      <a:rPr lang="en-GB" sz="2000" i="1" dirty="0">
                        <a:latin typeface="Cambria Math" panose="02040503050406030204" pitchFamily="18" charset="0"/>
                      </a:rPr>
                      <m:t>𝑅𝐸𝐺𝑈𝐿𝐴𝑅</m:t>
                    </m:r>
                    <m:r>
                      <m:rPr>
                        <m:nor/>
                      </m:rPr>
                      <a:rPr lang="en-US" sz="2000" baseline="-25000" dirty="0">
                        <a:latin typeface="Cambria Math" panose="02040503050406030204" pitchFamily="18" charset="0"/>
                      </a:rPr>
                      <m:t>TM</m:t>
                    </m:r>
                  </m:oMath>
                </a14:m>
                <a:r>
                  <a:rPr lang="en-US" sz="2000" dirty="0"/>
                  <a:t>.</a:t>
                </a:r>
              </a:p>
              <a:p>
                <a:pPr>
                  <a:spcAft>
                    <a:spcPts val="600"/>
                  </a:spcAft>
                </a:pPr>
                <a:r>
                  <a:rPr lang="en-US" sz="2000" dirty="0"/>
                  <a:t>Construct TM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sz="2000" dirty="0"/>
                  <a:t> deciding </a:t>
                </a:r>
                <a14:m>
                  <m:oMath xmlns:m="http://schemas.openxmlformats.org/officeDocument/2006/math">
                    <m:r>
                      <a:rPr lang="en-GB" sz="2000" b="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nor/>
                      </m:rPr>
                      <a:rPr lang="en-US" sz="2000" baseline="-25000" dirty="0">
                        <a:latin typeface="Cambria Math" panose="02040503050406030204" pitchFamily="18" charset="0"/>
                      </a:rPr>
                      <m:t>TM</m:t>
                    </m:r>
                  </m:oMath>
                </a14:m>
                <a:r>
                  <a:rPr lang="en-US" sz="2000" dirty="0"/>
                  <a:t>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000" dirty="0"/>
                  <a:t> “On input </a:t>
                </a:r>
                <a14:m>
                  <m:oMath xmlns:m="http://schemas.openxmlformats.org/officeDocument/2006/math">
                    <m:d>
                      <m:dPr>
                        <m:begChr m:val="〈"/>
                        <m:endChr m:val="〉"/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GB" sz="2000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GB" sz="2000" b="0" i="1" dirty="0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</m:oMath>
                </a14:m>
                <a:endParaRPr lang="en-US" sz="2000" dirty="0"/>
              </a:p>
              <a:p>
                <a:r>
                  <a:rPr lang="en-US" sz="2000" dirty="0"/>
                  <a:t>           1.  </a:t>
                </a:r>
                <a:r>
                  <a:rPr lang="en-GB" sz="2000" dirty="0"/>
                  <a:t>Construct the following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GB" sz="2000" dirty="0"/>
              </a:p>
              <a:p>
                <a:r>
                  <a:rPr lang="en-US" sz="2000" dirty="0"/>
                  <a:t>	</a:t>
                </a:r>
                <a:r>
                  <a:rPr lang="en-GB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000" dirty="0"/>
                  <a:t> on input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000" dirty="0"/>
                  <a:t>:</a:t>
                </a:r>
              </a:p>
              <a:p>
                <a:pPr marL="2343150" lvl="4" indent="-514350">
                  <a:buFont typeface="+mj-lt"/>
                  <a:buAutoNum type="romanUcPeriod"/>
                </a:pPr>
                <a:r>
                  <a:rPr lang="en-US" sz="2000" dirty="0"/>
                  <a:t>If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/>
                  <a:t>has the form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p>
                      <m:sSup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sz="2000" dirty="0"/>
                  <a:t>, accept</a:t>
                </a:r>
              </a:p>
              <a:p>
                <a:pPr marL="2343150" lvl="4" indent="-514350">
                  <a:buFont typeface="+mj-lt"/>
                  <a:buAutoNum type="romanUcPeriod"/>
                </a:pPr>
                <a:r>
                  <a:rPr lang="en-US" sz="2000" dirty="0"/>
                  <a:t>Otherwise run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/>
                  <a:t>on </a:t>
                </a:r>
                <a14:m>
                  <m:oMath xmlns:m="http://schemas.openxmlformats.org/officeDocument/2006/math">
                    <m:r>
                      <a:rPr lang="en-GB" sz="2000" i="1" dirty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GB" sz="20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/>
                  <a:t>and </a:t>
                </a:r>
                <a:r>
                  <a:rPr lang="en-US" sz="2000" i="1" dirty="0"/>
                  <a:t>accept</a:t>
                </a:r>
                <a:r>
                  <a:rPr lang="en-US" sz="2000" dirty="0"/>
                  <a:t> if M accepts </a:t>
                </a:r>
                <a14:m>
                  <m:oMath xmlns:m="http://schemas.openxmlformats.org/officeDocument/2006/math">
                    <m:r>
                      <a:rPr lang="en-GB" sz="2000" i="1" dirty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endParaRPr lang="en-US" sz="2000" dirty="0"/>
              </a:p>
              <a:p>
                <a:pPr lvl="1"/>
                <a:r>
                  <a:rPr lang="en-US" sz="2000" dirty="0"/>
                  <a:t>   2. Run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/>
                  <a:t>on input </a:t>
                </a:r>
                <a14:m>
                  <m:oMath xmlns:m="http://schemas.openxmlformats.org/officeDocument/2006/math">
                    <m:d>
                      <m:dPr>
                        <m:begChr m:val="〈"/>
                        <m:endChr m:val="〉"/>
                        <m:ctrlPr>
                          <a:rPr lang="en-US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  <m:sub>
                            <m:r>
                              <a:rPr lang="en-GB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GB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GB" sz="2000" i="1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/>
                  <a:t>		</a:t>
                </a:r>
              </a:p>
              <a:p>
                <a:pPr lvl="1"/>
                <a:r>
                  <a:rPr lang="en-US" sz="2000" dirty="0"/>
                  <a:t>   3.   If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2000" dirty="0"/>
                  <a:t> accepts, then </a:t>
                </a:r>
                <a:r>
                  <a:rPr lang="en-US" sz="2000" i="1" dirty="0"/>
                  <a:t>accept; </a:t>
                </a:r>
                <a:r>
                  <a:rPr lang="en-US" sz="2000" dirty="0"/>
                  <a:t>If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2000" dirty="0"/>
                  <a:t> rejects, then </a:t>
                </a:r>
                <a:r>
                  <a:rPr lang="en-US" sz="2000" i="1" dirty="0"/>
                  <a:t>reject</a:t>
                </a:r>
                <a:r>
                  <a:rPr lang="en-US" sz="2000" dirty="0"/>
                  <a:t>.  </a:t>
                </a: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6158" y="707886"/>
                <a:ext cx="9254652" cy="5432256"/>
              </a:xfrm>
              <a:prstGeom prst="rect">
                <a:avLst/>
              </a:prstGeom>
              <a:blipFill>
                <a:blip r:embed="rId5"/>
                <a:stretch>
                  <a:fillRect l="-1096" t="-932" r="-411" b="-932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982CF769-AA94-2E41-83A7-9479A34F1E89}"/>
              </a:ext>
            </a:extLst>
          </p:cNvPr>
          <p:cNvSpPr txBox="1"/>
          <p:nvPr/>
        </p:nvSpPr>
        <p:spPr>
          <a:xfrm>
            <a:off x="5763491" y="648392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9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2988333-499B-B027-4811-226A2E9FC674}"/>
                  </a:ext>
                </a:extLst>
              </p:cNvPr>
              <p:cNvSpPr txBox="1"/>
              <p:nvPr/>
            </p:nvSpPr>
            <p:spPr>
              <a:xfrm>
                <a:off x="8198428" y="4239491"/>
                <a:ext cx="3813464" cy="17543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CN" dirty="0">
                    <a:solidFill>
                      <a:schemeClr val="tx1"/>
                    </a:solidFill>
                  </a:rPr>
                  <a:t>accepts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CN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l-GR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en-GB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CN" dirty="0">
                    <a:solidFill>
                      <a:schemeClr val="tx1"/>
                    </a:solidFill>
                  </a:rPr>
                  <a:t> if M accepts </a:t>
                </a:r>
                <a14:m>
                  <m:oMath xmlns:m="http://schemas.openxmlformats.org/officeDocument/2006/math">
                    <m:r>
                      <a:rPr lang="en-CN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CN" dirty="0">
                    <a:solidFill>
                      <a:schemeClr val="tx1"/>
                    </a:solidFill>
                  </a:rPr>
                  <a:t>.</a:t>
                </a:r>
              </a:p>
              <a:p>
                <a:r>
                  <a:rPr lang="en-CN" dirty="0"/>
                  <a:t>Otherwise it accepts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|"/>
                        <m:ctrlPr>
                          <a:rPr lang="en-GB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18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18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sup>
                            <m:r>
                              <a:rPr lang="en-GB" sz="18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sSup>
                          <m:sSupPr>
                            <m:ctrlPr>
                              <a:rPr lang="en-US" sz="18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18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sup>
                            <m:r>
                              <a:rPr lang="en-GB" sz="18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a:rPr lang="en-GB" sz="18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GB" sz="18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sz="18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sz="1800" b="0" i="1" smtClean="0">
                        <a:latin typeface="Cambria Math" panose="02040503050406030204" pitchFamily="18" charset="0"/>
                      </a:rPr>
                      <m:t> ≥0}</m:t>
                    </m:r>
                  </m:oMath>
                </a14:m>
                <a:endParaRPr lang="en-CN" dirty="0">
                  <a:solidFill>
                    <a:schemeClr val="tx1"/>
                  </a:solidFill>
                </a:endParaRPr>
              </a:p>
              <a:p>
                <a:r>
                  <a:rPr lang="en-CN" dirty="0"/>
                  <a:t>So if R accepts it means that M accepts </a:t>
                </a:r>
                <a14:m>
                  <m:oMath xmlns:m="http://schemas.openxmlformats.org/officeDocument/2006/math">
                    <m:r>
                      <a:rPr lang="en-CN" i="1" dirty="0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CN" dirty="0"/>
                  <a:t> because otherwise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GB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CN" dirty="0">
                    <a:solidFill>
                      <a:schemeClr val="tx1"/>
                    </a:solidFill>
                  </a:rPr>
                  <a:t> would reject 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CN" dirty="0">
                    <a:solidFill>
                      <a:schemeClr val="tx1"/>
                    </a:solidFill>
                  </a:rPr>
                  <a:t> </a:t>
                </a:r>
                <a:r>
                  <a:rPr lang="en-CN" dirty="0"/>
                  <a:t>would accept</a:t>
                </a:r>
                <a:r>
                  <a:rPr lang="en-CN" dirty="0">
                    <a:solidFill>
                      <a:schemeClr val="tx1"/>
                    </a:solidFill>
                  </a:rPr>
                  <a:t> a non-regular language!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2988333-499B-B027-4811-226A2E9FC6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98428" y="4239491"/>
                <a:ext cx="3813464" cy="1754326"/>
              </a:xfrm>
              <a:prstGeom prst="rect">
                <a:avLst/>
              </a:prstGeom>
              <a:blipFill>
                <a:blip r:embed="rId6"/>
                <a:stretch>
                  <a:fillRect l="-1329" t="-1439" r="-2326" b="-5036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610379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3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" y="-105798"/>
            <a:ext cx="844692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Rice’s Theorem</a:t>
            </a:r>
            <a:endParaRPr lang="en-US" sz="40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/>
              <p:cNvSpPr txBox="1"/>
              <p:nvPr/>
            </p:nvSpPr>
            <p:spPr>
              <a:xfrm>
                <a:off x="336157" y="544887"/>
                <a:ext cx="11287432" cy="64786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600"/>
                  </a:spcBef>
                </a:pPr>
                <a:r>
                  <a:rPr lang="en-US" sz="2000" dirty="0"/>
                  <a:t>The fact that </a:t>
                </a:r>
                <a14:m>
                  <m:oMath xmlns:m="http://schemas.openxmlformats.org/officeDocument/2006/math">
                    <m:r>
                      <a:rPr lang="en-GB" sz="2000" b="0" i="1" dirty="0" smtClean="0">
                        <a:latin typeface="Cambria Math" panose="02040503050406030204" pitchFamily="18" charset="0"/>
                      </a:rPr>
                      <m:t>𝑅𝐸𝐺𝑈𝐿𝐴𝑅</m:t>
                    </m:r>
                    <m:r>
                      <m:rPr>
                        <m:nor/>
                      </m:rPr>
                      <a:rPr lang="en-US" sz="2000" baseline="-25000" dirty="0">
                        <a:latin typeface="Cambria Math" panose="02040503050406030204" pitchFamily="18" charset="0"/>
                      </a:rPr>
                      <m:t>TM</m:t>
                    </m:r>
                  </m:oMath>
                </a14:m>
                <a:r>
                  <a:rPr lang="en-US" sz="2000" dirty="0"/>
                  <a:t> is undecidable is actually a special case of a more general theorem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000" dirty="0"/>
                  <a:t>A </a:t>
                </a:r>
                <a:r>
                  <a:rPr lang="en-US" sz="2000" b="1" dirty="0">
                    <a:solidFill>
                      <a:schemeClr val="accent1"/>
                    </a:solidFill>
                  </a:rPr>
                  <a:t>property</a:t>
                </a:r>
                <a:r>
                  <a:rPr lang="en-US" sz="2000" dirty="0"/>
                  <a:t> of recognizable languages is any set of recognizable languages (a predicate that a language satisfies)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000" b="1" dirty="0"/>
                  <a:t>Def.</a:t>
                </a:r>
                <a:r>
                  <a:rPr lang="en-US" sz="2000" dirty="0"/>
                  <a:t>  A property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sz="2000" dirty="0"/>
                  <a:t> of a language is </a:t>
                </a:r>
                <a:r>
                  <a:rPr lang="en-US" sz="2000" b="1" dirty="0">
                    <a:solidFill>
                      <a:schemeClr val="accent1"/>
                    </a:solidFill>
                  </a:rPr>
                  <a:t>trivial</a:t>
                </a:r>
                <a:r>
                  <a:rPr lang="en-US" sz="2000" dirty="0"/>
                  <a:t> if:</a:t>
                </a:r>
              </a:p>
              <a:p>
                <a:pPr marL="914400" lvl="1" indent="-457200">
                  <a:spcBef>
                    <a:spcPts val="600"/>
                  </a:spcBef>
                  <a:buFont typeface="+mj-lt"/>
                  <a:buAutoNum type="arabicPeriod"/>
                </a:pPr>
                <a:r>
                  <a:rPr lang="en-US" sz="2000" dirty="0"/>
                  <a:t>All languages have the property</a:t>
                </a:r>
              </a:p>
              <a:p>
                <a:pPr marL="914400" lvl="1" indent="-457200">
                  <a:spcBef>
                    <a:spcPts val="600"/>
                  </a:spcBef>
                  <a:buFont typeface="+mj-lt"/>
                  <a:buAutoNum type="arabicPeriod"/>
                </a:pPr>
                <a:r>
                  <a:rPr lang="en-US" sz="2000" dirty="0"/>
                  <a:t>No languages have the property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000" dirty="0"/>
                  <a:t>All other properties are nontrivial.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000" b="1" dirty="0"/>
                  <a:t>Def.</a:t>
                </a:r>
                <a:r>
                  <a:rPr lang="en-US" sz="2000" dirty="0"/>
                  <a:t> A property P  is </a:t>
                </a:r>
                <a:r>
                  <a:rPr lang="en-US" sz="2000" b="1" dirty="0">
                    <a:solidFill>
                      <a:schemeClr val="accent1"/>
                    </a:solidFill>
                  </a:rPr>
                  <a:t>nontrivial</a:t>
                </a:r>
                <a:r>
                  <a:rPr lang="en-US" sz="2000" dirty="0"/>
                  <a:t> if some languages have the property and others don’t. It contains:</a:t>
                </a:r>
              </a:p>
              <a:p>
                <a:pPr marL="914400" lvl="1" indent="-457200">
                  <a:spcBef>
                    <a:spcPts val="600"/>
                  </a:spcBef>
                  <a:buFont typeface="+mj-lt"/>
                  <a:buAutoNum type="arabicPeriod"/>
                </a:pPr>
                <a:r>
                  <a:rPr lang="en-US" sz="2000" dirty="0"/>
                  <a:t>Some, but not all TM descriptions</a:t>
                </a:r>
              </a:p>
              <a:p>
                <a:pPr marL="914400" lvl="1" indent="-457200">
                  <a:spcBef>
                    <a:spcPts val="600"/>
                  </a:spcBef>
                  <a:buFont typeface="+mj-lt"/>
                  <a:buAutoNum type="arabicPeriod"/>
                </a:pPr>
                <a:r>
                  <a:rPr lang="en-US" sz="2000" dirty="0"/>
                  <a:t>Whenever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  <m:sub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, then  </a:t>
                </a:r>
                <a14:m>
                  <m:oMath xmlns:m="http://schemas.openxmlformats.org/officeDocument/2006/math">
                    <m:d>
                      <m:dPr>
                        <m:begChr m:val="〈"/>
                        <m:endChr m:val="〉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000" i="1"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  <m:sub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GB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sz="2000" dirty="0"/>
                  <a:t> iff </a:t>
                </a:r>
                <a14:m>
                  <m:oMath xmlns:m="http://schemas.openxmlformats.org/officeDocument/2006/math">
                    <m:d>
                      <m:dPr>
                        <m:begChr m:val="〈"/>
                        <m:endChr m:val="〉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000" i="1"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  <m:sub>
                            <m:r>
                              <a:rPr lang="en-GB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GB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</m:oMath>
                </a14:m>
                <a:endParaRPr lang="en-US" sz="2000" dirty="0"/>
              </a:p>
              <a:p>
                <a:pPr>
                  <a:spcBef>
                    <a:spcPts val="1200"/>
                  </a:spcBef>
                </a:pPr>
                <a:r>
                  <a:rPr lang="en-US" sz="2000" b="1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Rice’s Theorem: </a:t>
                </a:r>
                <a:r>
                  <a:rPr lang="en-US" sz="20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Every nontrivial property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sz="20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 is undecidable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000" dirty="0"/>
                  <a:t>This implies that the problems of determining whether the language of a TM is 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context free, 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a decidable language,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a finite language </a:t>
                </a:r>
              </a:p>
              <a:p>
                <a:pPr>
                  <a:spcBef>
                    <a:spcPts val="1200"/>
                  </a:spcBef>
                </a:pPr>
                <a:r>
                  <a:rPr lang="en-US" sz="2000" dirty="0"/>
                  <a:t>Are all undecidable!</a:t>
                </a:r>
                <a:br>
                  <a:rPr lang="en-US" sz="2000" dirty="0"/>
                </a:br>
                <a:r>
                  <a:rPr lang="en-US" sz="2000" dirty="0"/>
                  <a:t>Because determining </a:t>
                </a:r>
                <a:r>
                  <a:rPr lang="en-US" sz="2000" b="1" i="1" dirty="0">
                    <a:solidFill>
                      <a:schemeClr val="accent1"/>
                    </a:solidFill>
                  </a:rPr>
                  <a:t>any property </a:t>
                </a:r>
                <a:r>
                  <a:rPr lang="en-US" sz="2000" dirty="0"/>
                  <a:t>of the languages recognized by Turing machines is undecidable</a:t>
                </a:r>
              </a:p>
            </p:txBody>
          </p:sp>
        </mc:Choice>
        <mc:Fallback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6157" y="544887"/>
                <a:ext cx="11287432" cy="6478697"/>
              </a:xfrm>
              <a:prstGeom prst="rect">
                <a:avLst/>
              </a:prstGeom>
              <a:blipFill>
                <a:blip r:embed="rId3"/>
                <a:stretch>
                  <a:fillRect l="-562" t="-391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982CF769-AA94-2E41-83A7-9479A34F1E89}"/>
              </a:ext>
            </a:extLst>
          </p:cNvPr>
          <p:cNvSpPr txBox="1"/>
          <p:nvPr/>
        </p:nvSpPr>
        <p:spPr>
          <a:xfrm>
            <a:off x="11232594" y="64886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5251705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11AAD37-89A5-951D-0A9E-1311E63BB805}"/>
                  </a:ext>
                </a:extLst>
              </p:cNvPr>
              <p:cNvSpPr txBox="1"/>
              <p:nvPr/>
            </p:nvSpPr>
            <p:spPr>
              <a:xfrm>
                <a:off x="508970" y="5865339"/>
                <a:ext cx="8797043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CN" dirty="0"/>
                  <a:t>If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  <a:r>
                  <a:rPr lang="en-CN" dirty="0"/>
                  <a:t>was a decider for </a:t>
                </a:r>
                <a14:m>
                  <m:oMath xmlns:m="http://schemas.openxmlformats.org/officeDocument/2006/math">
                    <m:r>
                      <a:rPr lang="en-GB" sz="1800" b="0" i="1" dirty="0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CN" dirty="0"/>
                  <a:t> then </a:t>
                </a:r>
                <a14:m>
                  <m:oMath xmlns:m="http://schemas.openxmlformats.org/officeDocument/2006/math">
                    <m:r>
                      <a:rPr lang="en-CN" i="1" dirty="0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CN" dirty="0"/>
                  <a:t> would be a decider for A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aseline="-25000" dirty="0">
                        <a:latin typeface="Cambria Math" panose="02040503050406030204" pitchFamily="18" charset="0"/>
                      </a:rPr>
                      <m:t>TM</m:t>
                    </m:r>
                  </m:oMath>
                </a14:m>
                <a:r>
                  <a:rPr lang="en-CN" dirty="0"/>
                  <a:t>: </a:t>
                </a:r>
                <a:r>
                  <a:rPr lang="en-CN" b="1" dirty="0"/>
                  <a:t>Contradiction!</a:t>
                </a:r>
                <a:r>
                  <a:rPr lang="en-CN" dirty="0"/>
                  <a:t> So </a:t>
                </a:r>
                <a14:m>
                  <m:oMath xmlns:m="http://schemas.openxmlformats.org/officeDocument/2006/math"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i="1" baseline="-25000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CN" dirty="0"/>
                  <a:t> must be undecidable!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11AAD37-89A5-951D-0A9E-1311E63BB8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970" y="5865339"/>
                <a:ext cx="8797043" cy="646331"/>
              </a:xfrm>
              <a:prstGeom prst="rect">
                <a:avLst/>
              </a:prstGeom>
              <a:blipFill>
                <a:blip r:embed="rId3"/>
                <a:stretch>
                  <a:fillRect l="-432" t="-3846" b="-13462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336156" y="707886"/>
                <a:ext cx="10366479" cy="471327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b="1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Rice’s Theorem: </a:t>
                </a:r>
                <a:r>
                  <a:rPr lang="en-US" sz="20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Every nontrivial property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sz="20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 is undecidable</a:t>
                </a:r>
                <a:endParaRPr lang="en-US" sz="2000" b="1" dirty="0"/>
              </a:p>
              <a:p>
                <a:r>
                  <a:rPr lang="en-US" sz="2000" b="1" dirty="0"/>
                  <a:t>Proof</a:t>
                </a:r>
                <a:r>
                  <a:rPr lang="en-US" sz="2000" dirty="0"/>
                  <a:t> by contradiction. Show that </a:t>
                </a:r>
                <a14:m>
                  <m:oMath xmlns:m="http://schemas.openxmlformats.org/officeDocument/2006/math">
                    <m:r>
                      <a:rPr lang="en-GB" sz="2000" b="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nor/>
                      </m:rPr>
                      <a:rPr lang="en-US" sz="2000" baseline="-25000" dirty="0">
                        <a:latin typeface="Cambria Math" panose="02040503050406030204" pitchFamily="18" charset="0"/>
                      </a:rPr>
                      <m:t>TM</m:t>
                    </m:r>
                  </m:oMath>
                </a14:m>
                <a:r>
                  <a:rPr lang="en-US" sz="2000" dirty="0"/>
                  <a:t> is reducible to </a:t>
                </a:r>
                <a14:m>
                  <m:oMath xmlns:m="http://schemas.openxmlformats.org/officeDocument/2006/math">
                    <m:r>
                      <a:rPr lang="en-GB" sz="2000" b="0" i="1" dirty="0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sz="2000" dirty="0"/>
                  <a:t>.</a:t>
                </a:r>
              </a:p>
              <a:p>
                <a:r>
                  <a:rPr lang="en-US" sz="2000" dirty="0"/>
                  <a:t>Assume that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sz="2000" dirty="0"/>
                  <a:t> is a decidable language. Construct TM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sz="2000" dirty="0"/>
                  <a:t> deciding </a:t>
                </a:r>
                <a14:m>
                  <m:oMath xmlns:m="http://schemas.openxmlformats.org/officeDocument/2006/math">
                    <m:r>
                      <a:rPr lang="en-GB" sz="2000" i="1" dirty="0"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nor/>
                      </m:rPr>
                      <a:rPr lang="en-US" sz="2000" baseline="-25000" dirty="0">
                        <a:latin typeface="Cambria Math" panose="02040503050406030204" pitchFamily="18" charset="0"/>
                      </a:rPr>
                      <m:t>TM</m:t>
                    </m:r>
                  </m:oMath>
                </a14:m>
                <a:r>
                  <a:rPr lang="en-US" sz="2000" dirty="0"/>
                  <a:t>.</a:t>
                </a:r>
              </a:p>
              <a:p>
                <a:endParaRPr lang="en-US" sz="2000" dirty="0"/>
              </a:p>
              <a:p>
                <a:r>
                  <a:rPr lang="en-US" sz="2000" b="1" dirty="0"/>
                  <a:t>Idea: </a:t>
                </a:r>
                <a:r>
                  <a:rPr lang="en-US" sz="2000" dirty="0"/>
                  <a:t>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∅</m:t>
                        </m:r>
                      </m:sub>
                    </m:sSub>
                  </m:oMath>
                </a14:m>
                <a:r>
                  <a:rPr lang="en-US" sz="2000" dirty="0"/>
                  <a:t>  be a TM that always rejects, and assume </a:t>
                </a:r>
                <a14:m>
                  <m:oMath xmlns:m="http://schemas.openxmlformats.org/officeDocument/2006/math">
                    <m:d>
                      <m:dPr>
                        <m:begChr m:val="〈"/>
                        <m:endChr m:val="〉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GB" sz="20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∅</m:t>
                            </m:r>
                          </m:sub>
                        </m:sSub>
                      </m:e>
                    </m:d>
                    <m:r>
                      <a:rPr lang="en-GB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∉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sz="2000" dirty="0"/>
                  <a:t> (otherwise use the complement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</m:acc>
                  </m:oMath>
                </a14:m>
                <a:r>
                  <a:rPr lang="en-US" sz="2000" dirty="0"/>
                  <a:t>), </a:t>
                </a:r>
              </a:p>
              <a:p>
                <a:r>
                  <a:rPr lang="en-US" sz="2000" dirty="0"/>
                  <a:t>Let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sz="2000" dirty="0"/>
                  <a:t> be a TM such that </a:t>
                </a:r>
                <a14:m>
                  <m:oMath xmlns:m="http://schemas.openxmlformats.org/officeDocument/2006/math">
                    <m:d>
                      <m:dPr>
                        <m:begChr m:val="〈"/>
                        <m:endChr m:val="〉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d>
                    <m:r>
                      <a:rPr lang="en-GB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sz="2000" dirty="0"/>
                  <a:t> (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sz="2000" dirty="0"/>
                  <a:t> exists or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sz="2000" dirty="0"/>
                  <a:t> would be trivial)</a:t>
                </a:r>
              </a:p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US" sz="2000" dirty="0"/>
                  <a:t>Let TM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</m:oMath>
                </a14:m>
                <a:r>
                  <a:rPr lang="en-US" sz="2000" dirty="0"/>
                  <a:t> be the TM that decides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sz="2000" dirty="0"/>
                  <a:t>.</a:t>
                </a:r>
              </a:p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000" dirty="0"/>
                  <a:t> “On input </a:t>
                </a:r>
                <a14:m>
                  <m:oMath xmlns:m="http://schemas.openxmlformats.org/officeDocument/2006/math">
                    <m:d>
                      <m:dPr>
                        <m:begChr m:val="〈"/>
                        <m:endChr m:val="〉"/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GB" sz="2000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GB" sz="2000" b="0" i="1" dirty="0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</m:oMath>
                </a14:m>
                <a:endParaRPr lang="en-US" sz="2000" dirty="0"/>
              </a:p>
              <a:p>
                <a:r>
                  <a:rPr lang="en-US" sz="2000" dirty="0"/>
                  <a:t>           1.  </a:t>
                </a:r>
                <a:r>
                  <a:rPr lang="en-GB" sz="2000" dirty="0"/>
                  <a:t>Use M and w to construct the following TM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</m:oMath>
                </a14:m>
                <a:endParaRPr lang="en-GB" sz="2000" dirty="0"/>
              </a:p>
              <a:p>
                <a:r>
                  <a:rPr lang="en-US" sz="2000" dirty="0"/>
                  <a:t>	</a:t>
                </a:r>
                <a:r>
                  <a:rPr lang="en-GB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</m:oMath>
                </a14:m>
                <a:r>
                  <a:rPr lang="en-US" sz="2000" dirty="0"/>
                  <a:t> on input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000" dirty="0"/>
                  <a:t>:</a:t>
                </a:r>
              </a:p>
              <a:p>
                <a:pPr marL="2343150" lvl="4" indent="-514350">
                  <a:buFont typeface="+mj-lt"/>
                  <a:buAutoNum type="romanUcPeriod"/>
                </a:pPr>
                <a:r>
                  <a:rPr lang="en-GB" sz="2000" dirty="0"/>
                  <a:t>Simulate </a:t>
                </a:r>
                <a14:m>
                  <m:oMath xmlns:m="http://schemas.openxmlformats.org/officeDocument/2006/math">
                    <m:r>
                      <a:rPr lang="en-CN" sz="2000" i="1" dirty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GB" sz="2000" dirty="0"/>
                  <a:t> on </a:t>
                </a:r>
                <a14:m>
                  <m:oMath xmlns:m="http://schemas.openxmlformats.org/officeDocument/2006/math">
                    <m:r>
                      <a:rPr lang="en-GB" sz="2000" i="1" dirty="0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GB" sz="2000" dirty="0"/>
                  <a:t>. If it halts and rejects, reject</a:t>
                </a:r>
                <a:endParaRPr lang="en-US" sz="2000" dirty="0"/>
              </a:p>
              <a:p>
                <a:pPr marL="2343150" lvl="4" indent="-514350">
                  <a:buFont typeface="+mj-lt"/>
                  <a:buAutoNum type="romanUcPeriod"/>
                </a:pPr>
                <a:r>
                  <a:rPr lang="en-GB" sz="2000" dirty="0"/>
                  <a:t>If it accepts </a:t>
                </a:r>
                <a14:m>
                  <m:oMath xmlns:m="http://schemas.openxmlformats.org/officeDocument/2006/math">
                    <m:r>
                      <a:rPr lang="en-GB" sz="2000" i="1" dirty="0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GB" sz="2000" dirty="0"/>
                  <a:t>, simulate T on x. If it accepts, accept. </a:t>
                </a:r>
                <a:endParaRPr lang="en-US" sz="2000" dirty="0"/>
              </a:p>
              <a:p>
                <a:pPr lvl="1"/>
                <a:r>
                  <a:rPr lang="en-US" sz="2000" dirty="0"/>
                  <a:t>   2. Use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b="0" i="1" dirty="0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GB" sz="2000" b="0" i="1" dirty="0" smtClean="0"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</m:oMath>
                </a14:m>
                <a:r>
                  <a:rPr lang="en-US" sz="2000" dirty="0"/>
                  <a:t> to determine whether </a:t>
                </a:r>
                <a14:m>
                  <m:oMath xmlns:m="http://schemas.openxmlformats.org/officeDocument/2006/math">
                    <m:d>
                      <m:dPr>
                        <m:begChr m:val="〈"/>
                        <m:endChr m:val="〉"/>
                        <m:ctrlPr>
                          <a:rPr lang="en-US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  <m:sub>
                            <m:r>
                              <a:rPr lang="en-GB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sub>
                        </m:sSub>
                      </m:e>
                    </m:d>
                    <m:r>
                      <a:rPr lang="en-GB" sz="2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GB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r>
                      <a:rPr lang="en-GB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GB" sz="2000" i="1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/>
                  <a:t>		</a:t>
                </a:r>
              </a:p>
              <a:p>
                <a:pPr lvl="1"/>
                <a:r>
                  <a:rPr lang="en-US" sz="2000" dirty="0"/>
                  <a:t>   3.   If</a:t>
                </a:r>
                <a14:m>
                  <m:oMath xmlns:m="http://schemas.openxmlformats.org/officeDocument/2006/math">
                    <m:r>
                      <a:rPr lang="en-GB" sz="2000" b="0" i="0" dirty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i="1" dirty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GB" sz="2000" i="1" dirty="0"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</m:oMath>
                </a14:m>
                <a:r>
                  <a:rPr lang="en-US" sz="2000" dirty="0"/>
                  <a:t> accepts, then </a:t>
                </a:r>
                <a:r>
                  <a:rPr lang="en-US" sz="2000" i="1" dirty="0"/>
                  <a:t>accept; </a:t>
                </a:r>
                <a:r>
                  <a:rPr lang="en-US" sz="2000" dirty="0"/>
                  <a:t>If</a:t>
                </a:r>
                <a14:m>
                  <m:oMath xmlns:m="http://schemas.openxmlformats.org/officeDocument/2006/math">
                    <m:r>
                      <a:rPr lang="en-GB" sz="2000" b="0" i="0" dirty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i="1" dirty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GB" sz="2000" i="1" dirty="0"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</m:oMath>
                </a14:m>
                <a:r>
                  <a:rPr lang="en-US" sz="2000" dirty="0"/>
                  <a:t> rejects, then </a:t>
                </a:r>
                <a:r>
                  <a:rPr lang="en-US" sz="2000" i="1" dirty="0"/>
                  <a:t>reject</a:t>
                </a:r>
                <a:r>
                  <a:rPr lang="en-US" sz="2000" dirty="0"/>
                  <a:t>.  </a:t>
                </a: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6156" y="707886"/>
                <a:ext cx="10366479" cy="4713278"/>
              </a:xfrm>
              <a:prstGeom prst="rect">
                <a:avLst/>
              </a:prstGeom>
              <a:blipFill>
                <a:blip r:embed="rId4"/>
                <a:stretch>
                  <a:fillRect l="-612" t="-538" r="-1102" b="-1344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982CF769-AA94-2E41-83A7-9479A34F1E89}"/>
              </a:ext>
            </a:extLst>
          </p:cNvPr>
          <p:cNvSpPr txBox="1"/>
          <p:nvPr/>
        </p:nvSpPr>
        <p:spPr>
          <a:xfrm>
            <a:off x="5763491" y="6483927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2988333-499B-B027-4811-226A2E9FC674}"/>
                  </a:ext>
                </a:extLst>
              </p:cNvPr>
              <p:cNvSpPr txBox="1"/>
              <p:nvPr/>
            </p:nvSpPr>
            <p:spPr>
              <a:xfrm>
                <a:off x="8198428" y="4239491"/>
                <a:ext cx="3813464" cy="12239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CN" dirty="0">
                    <a:solidFill>
                      <a:schemeClr val="tx1"/>
                    </a:solidFill>
                  </a:rPr>
                  <a:t>simulates </a:t>
                </a:r>
                <a14:m>
                  <m:oMath xmlns:m="http://schemas.openxmlformats.org/officeDocument/2006/math">
                    <m:r>
                      <a:rPr lang="en-GB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CN" dirty="0">
                    <a:solidFill>
                      <a:schemeClr val="tx1"/>
                    </a:solidFill>
                  </a:rPr>
                  <a:t> if </a:t>
                </a:r>
                <a14:m>
                  <m:oMath xmlns:m="http://schemas.openxmlformats.org/officeDocument/2006/math">
                    <m:r>
                      <a:rPr lang="en-CN" i="1" dirty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CN" dirty="0">
                    <a:solidFill>
                      <a:schemeClr val="tx1"/>
                    </a:solidFill>
                  </a:rPr>
                  <a:t> accepts </a:t>
                </a:r>
                <a14:m>
                  <m:oMath xmlns:m="http://schemas.openxmlformats.org/officeDocument/2006/math">
                    <m:r>
                      <a:rPr lang="en-GB" i="1" dirty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CN" dirty="0">
                    <a:solidFill>
                      <a:schemeClr val="tx1"/>
                    </a:solidFill>
                  </a:rPr>
                  <a:t>.</a:t>
                </a:r>
              </a:p>
              <a:p>
                <a:r>
                  <a:rPr lang="en-GB" dirty="0"/>
                  <a:t>Hence,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sub>
                        </m:sSub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CN" dirty="0">
                    <a:solidFill>
                      <a:schemeClr val="tx1"/>
                    </a:solidFill>
                  </a:rPr>
                  <a:t>  if M accepts </a:t>
                </a:r>
                <a14:m>
                  <m:oMath xmlns:m="http://schemas.openxmlformats.org/officeDocument/2006/math">
                    <m:r>
                      <a:rPr lang="en-GB" i="1" dirty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CN" dirty="0">
                    <a:solidFill>
                      <a:schemeClr val="tx1"/>
                    </a:solidFill>
                  </a:rPr>
                  <a:t> and </a:t>
                </a:r>
                <a14:m>
                  <m:oMath xmlns:m="http://schemas.openxmlformats.org/officeDocument/2006/math">
                    <m:r>
                      <a:rPr lang="en-GB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GB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  <m:sub>
                            <m:r>
                              <a:rPr lang="en-GB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𝑤</m:t>
                            </m:r>
                          </m:sub>
                        </m:sSub>
                      </m:e>
                    </m:d>
                    <m:r>
                      <a:rPr lang="en-GB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∅</m:t>
                    </m:r>
                  </m:oMath>
                </a14:m>
                <a:r>
                  <a:rPr lang="en-CN" dirty="0">
                    <a:solidFill>
                      <a:schemeClr val="tx1"/>
                    </a:solidFill>
                  </a:rPr>
                  <a:t> otherwise. Therefore </a:t>
                </a:r>
                <a14:m>
                  <m:oMath xmlns:m="http://schemas.openxmlformats.org/officeDocument/2006/math">
                    <m:d>
                      <m:dPr>
                        <m:begChr m:val="〈"/>
                        <m:endChr m:val="〉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sub>
                        </m:sSub>
                      </m:e>
                    </m:d>
                    <m:r>
                      <a:rPr 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CN" dirty="0">
                    <a:solidFill>
                      <a:schemeClr val="tx1"/>
                    </a:solidFill>
                  </a:rPr>
                  <a:t> iff </a:t>
                </a:r>
                <a14:m>
                  <m:oMath xmlns:m="http://schemas.openxmlformats.org/officeDocument/2006/math">
                    <m:r>
                      <a:rPr lang="en-CN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CN" dirty="0">
                    <a:solidFill>
                      <a:schemeClr val="tx1"/>
                    </a:solidFill>
                  </a:rPr>
                  <a:t> accepts </a:t>
                </a:r>
                <a14:m>
                  <m:oMath xmlns:m="http://schemas.openxmlformats.org/officeDocument/2006/math">
                    <m:r>
                      <a:rPr lang="en-GB" i="1" dirty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CN" dirty="0">
                    <a:solidFill>
                      <a:schemeClr val="tx1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2988333-499B-B027-4811-226A2E9FC6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98428" y="4239491"/>
                <a:ext cx="3813464" cy="1223989"/>
              </a:xfrm>
              <a:prstGeom prst="rect">
                <a:avLst/>
              </a:prstGeom>
              <a:blipFill>
                <a:blip r:embed="rId5"/>
                <a:stretch>
                  <a:fillRect l="-1329" t="-2041" b="-5102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2E5B686B-EF5A-C915-F45C-39F573488152}"/>
              </a:ext>
            </a:extLst>
          </p:cNvPr>
          <p:cNvSpPr txBox="1"/>
          <p:nvPr/>
        </p:nvSpPr>
        <p:spPr>
          <a:xfrm>
            <a:off x="2" y="0"/>
            <a:ext cx="844692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Rice’s Theorem: Proof</a:t>
            </a:r>
            <a:endParaRPr lang="en-US" sz="40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96795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3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8EB3551-F897-FE4A-B346-E310DEF2A8BD}"/>
              </a:ext>
            </a:extLst>
          </p:cNvPr>
          <p:cNvSpPr txBox="1"/>
          <p:nvPr/>
        </p:nvSpPr>
        <p:spPr>
          <a:xfrm>
            <a:off x="448886" y="1250467"/>
            <a:ext cx="11538067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MIT </a:t>
            </a:r>
            <a:r>
              <a:rPr lang="en-US" sz="2400" dirty="0" err="1"/>
              <a:t>OpenCourseWare</a:t>
            </a:r>
            <a:endParaRPr lang="en-US" sz="2400" dirty="0"/>
          </a:p>
          <a:p>
            <a:r>
              <a:rPr lang="en-US" sz="2400" dirty="0">
                <a:hlinkClick r:id="rId2"/>
              </a:rPr>
              <a:t>https://ocw.mit.edu</a:t>
            </a:r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800" dirty="0"/>
              <a:t>18.404J Theory of Computation</a:t>
            </a:r>
          </a:p>
          <a:p>
            <a:r>
              <a:rPr lang="en-US" sz="2400" dirty="0"/>
              <a:t>Fall 2020</a:t>
            </a:r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200" dirty="0"/>
              <a:t>For information about citing these materials or our Terms of Use, visit: </a:t>
            </a:r>
            <a:r>
              <a:rPr lang="en-US" sz="2200" dirty="0">
                <a:hlinkClick r:id="rId3"/>
              </a:rPr>
              <a:t>https://ocw.mit.edu/terms</a:t>
            </a:r>
            <a:r>
              <a:rPr lang="en-US" sz="2200" dirty="0"/>
              <a:t>.</a:t>
            </a:r>
          </a:p>
          <a:p>
            <a:pPr>
              <a:spcBef>
                <a:spcPts val="1200"/>
              </a:spcBef>
            </a:pPr>
            <a:endParaRPr lang="en-US" sz="2400" b="1" spc="2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855145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theme/theme1.xml><?xml version="1.0" encoding="utf-8"?>
<a:theme xmlns:a="http://schemas.openxmlformats.org/drawingml/2006/main" name="Office Theme">
  <a:themeElements>
    <a:clrScheme name="Custom 9">
      <a:dk1>
        <a:srgbClr val="000000"/>
      </a:dk1>
      <a:lt1>
        <a:srgbClr val="FFFFFF"/>
      </a:lt1>
      <a:dk2>
        <a:srgbClr val="5E5E5E"/>
      </a:dk2>
      <a:lt2>
        <a:srgbClr val="DDDDDD"/>
      </a:lt2>
      <a:accent1>
        <a:srgbClr val="418AB3"/>
      </a:accent1>
      <a:accent2>
        <a:srgbClr val="A6B727"/>
      </a:accent2>
      <a:accent3>
        <a:srgbClr val="F69200"/>
      </a:accent3>
      <a:accent4>
        <a:srgbClr val="838383"/>
      </a:accent4>
      <a:accent5>
        <a:srgbClr val="FEC306"/>
      </a:accent5>
      <a:accent6>
        <a:srgbClr val="DF5327"/>
      </a:accent6>
      <a:hlink>
        <a:srgbClr val="0096FF"/>
      </a:hlink>
      <a:folHlink>
        <a:srgbClr val="D783FF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solidFill>
            <a:schemeClr val="tx1"/>
          </a:solidFill>
        </a:ln>
      </a:spPr>
      <a:bodyPr rtlCol="0" anchor="ctr"/>
      <a:lstStyle>
        <a:defPPr algn="ctr">
          <a:defRPr/>
        </a:defPPr>
      </a:lstStyle>
    </a:spDef>
    <a:lnDef>
      <a:spPr>
        <a:ln w="9525">
          <a:solidFill>
            <a:schemeClr val="tx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F4D1872214E7E4AA66A0644C9DCCEFF" ma:contentTypeVersion="13" ma:contentTypeDescription="Create a new document." ma:contentTypeScope="" ma:versionID="a7594662c8e5fc21752806ac3520e701">
  <xsd:schema xmlns:xsd="http://www.w3.org/2001/XMLSchema" xmlns:xs="http://www.w3.org/2001/XMLSchema" xmlns:p="http://schemas.microsoft.com/office/2006/metadata/properties" xmlns:ns2="ce0de229-b968-460b-bfa6-c309bf067a33" xmlns:ns3="b2272a47-6a34-441e-975c-341e732a1f8b" targetNamespace="http://schemas.microsoft.com/office/2006/metadata/properties" ma:root="true" ma:fieldsID="90f7ced8e6f78dd6fdf52a8c3b233a3b" ns2:_="" ns3:_="">
    <xsd:import namespace="ce0de229-b968-460b-bfa6-c309bf067a33"/>
    <xsd:import namespace="b2272a47-6a34-441e-975c-341e732a1f8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DateCreate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e0de229-b968-460b-bfa6-c309bf067a3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4" nillable="true" ma:displayName="Location" ma:internalName="MediaServiceLocation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DateCreated" ma:index="20" nillable="true" ma:displayName="Date Created" ma:format="DateOnly" ma:internalName="DateCreated">
      <xsd:simpleType>
        <xsd:restriction base="dms:DateTim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2272a47-6a34-441e-975c-341e732a1f8b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ateCreated xmlns="ce0de229-b968-460b-bfa6-c309bf067a33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96875AB-7F85-4A2F-BE66-608DE7D5EF8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e0de229-b968-460b-bfa6-c309bf067a33"/>
    <ds:schemaRef ds:uri="b2272a47-6a34-441e-975c-341e732a1f8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EE1C6AD-694D-46FD-B57F-2E8339575314}">
  <ds:schemaRefs>
    <ds:schemaRef ds:uri="http://schemas.microsoft.com/office/2006/metadata/properties"/>
    <ds:schemaRef ds:uri="http://schemas.microsoft.com/office/infopath/2007/PartnerControls"/>
    <ds:schemaRef ds:uri="ce0de229-b968-460b-bfa6-c309bf067a33"/>
  </ds:schemaRefs>
</ds:datastoreItem>
</file>

<file path=customXml/itemProps3.xml><?xml version="1.0" encoding="utf-8"?>
<ds:datastoreItem xmlns:ds="http://schemas.openxmlformats.org/officeDocument/2006/customXml" ds:itemID="{80CE520E-FF70-4AE5-8829-44C74078248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26278</TotalTime>
  <Words>3896</Words>
  <Application>Microsoft Macintosh PowerPoint</Application>
  <PresentationFormat>Widescreen</PresentationFormat>
  <Paragraphs>582</Paragraphs>
  <Slides>27</Slides>
  <Notes>13</Notes>
  <HiddenSlides>1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5" baseType="lpstr">
      <vt:lpstr>Arial</vt:lpstr>
      <vt:lpstr>Calibri</vt:lpstr>
      <vt:lpstr>Calibri Light</vt:lpstr>
      <vt:lpstr>Cambria Math</vt:lpstr>
      <vt:lpstr>Courier</vt:lpstr>
      <vt:lpstr>Courier New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>Massachusetts Institute of Technology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18.404J F2020 Lecture 8: Undecidability </dc:title>
  <dc:subject/>
  <dc:creator>Michael Sipser</dc:creator>
  <cp:keywords/>
  <dc:description/>
  <cp:lastModifiedBy>Pietro Simone Oliveto</cp:lastModifiedBy>
  <cp:revision>555</cp:revision>
  <dcterms:created xsi:type="dcterms:W3CDTF">2020-08-09T18:24:17Z</dcterms:created>
  <dcterms:modified xsi:type="dcterms:W3CDTF">2026-04-28T06:29:27Z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0x0101001F4D1872214E7E4AA66A0644C9DCCEFF</vt:lpwstr>
  </property>
</Properties>
</file>